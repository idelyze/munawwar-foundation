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7556500" cy="10693400"/>
  <p:notesSz cx="6858000" cy="9144000"/>
  <p:embeddedFontLst>
    <p:embeddedFont>
      <p:font typeface="Poppins Bold" charset="1" panose="00000800000000000000"/>
      <p:regular r:id="rId22"/>
    </p:embeddedFont>
    <p:embeddedFont>
      <p:font typeface="Inter Ultra-Bold" charset="1" panose="02000503000000020004"/>
      <p:regular r:id="rId23"/>
    </p:embeddedFont>
    <p:embeddedFont>
      <p:font typeface="Poppins" charset="1" panose="00000500000000000000"/>
      <p:regular r:id="rId24"/>
    </p:embeddedFont>
    <p:embeddedFont>
      <p:font typeface="Futura" charset="1" panose="020B0502020204020303"/>
      <p:regular r:id="rId25"/>
    </p:embeddedFont>
    <p:embeddedFont>
      <p:font typeface="Futura Ultra-Bold" charset="1" panose="020B0802020204020204"/>
      <p:regular r:id="rId26"/>
    </p:embeddedFont>
    <p:embeddedFont>
      <p:font typeface="Futura Bold" charset="1" panose="020B07020202040202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media/image17.jpeg" Type="http://schemas.openxmlformats.org/officeDocument/2006/relationships/image"/><Relationship Id="rId7"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media/image12.png" Type="http://schemas.openxmlformats.org/officeDocument/2006/relationships/image"/><Relationship Id="rId7" Target="../media/image2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media/image25.jpeg" Type="http://schemas.openxmlformats.org/officeDocument/2006/relationships/image"/><Relationship Id="rId5" Target="../media/image26.jpeg" Type="http://schemas.openxmlformats.org/officeDocument/2006/relationships/image"/><Relationship Id="rId6" Target="../media/image12.png" Type="http://schemas.openxmlformats.org/officeDocument/2006/relationships/image"/><Relationship Id="rId7"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8.jpeg" Type="http://schemas.openxmlformats.org/officeDocument/2006/relationships/image"/><Relationship Id="rId4" Target="../media/image27.png" Type="http://schemas.openxmlformats.org/officeDocument/2006/relationships/image"/><Relationship Id="rId5" Target="../media/image29.jpeg" Type="http://schemas.openxmlformats.org/officeDocument/2006/relationships/image"/><Relationship Id="rId6" Target="../media/image30.jpeg" Type="http://schemas.openxmlformats.org/officeDocument/2006/relationships/image"/><Relationship Id="rId7" Target="../media/image3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 Id="rId3" Target="../media/image33.jpeg" Type="http://schemas.openxmlformats.org/officeDocument/2006/relationships/image"/><Relationship Id="rId4" Target="../media/image34.jpeg" Type="http://schemas.openxmlformats.org/officeDocument/2006/relationships/image"/><Relationship Id="rId5" Target="../media/image12.png" Type="http://schemas.openxmlformats.org/officeDocument/2006/relationships/image"/><Relationship Id="rId6" Target="../media/image3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 Id="rId5" Target="../media/image12.png" Type="http://schemas.openxmlformats.org/officeDocument/2006/relationships/image"/><Relationship Id="rId6" Target="../media/image3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40.jpeg" Type="http://schemas.openxmlformats.org/officeDocument/2006/relationships/image"/><Relationship Id="rId4" Target="../media/image27.png" Type="http://schemas.openxmlformats.org/officeDocument/2006/relationships/image"/><Relationship Id="rId5" Target="../media/image41.jpeg" Type="http://schemas.openxmlformats.org/officeDocument/2006/relationships/image"/><Relationship Id="rId6" Target="../media/image42.jpeg" Type="http://schemas.openxmlformats.org/officeDocument/2006/relationships/image"/><Relationship Id="rId7" Target="../media/image2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eg" Type="http://schemas.openxmlformats.org/officeDocument/2006/relationships/image"/><Relationship Id="rId3" Target="../media/image12.png" Type="http://schemas.openxmlformats.org/officeDocument/2006/relationships/image"/><Relationship Id="rId4" Target="../media/image44.jpeg" Type="http://schemas.openxmlformats.org/officeDocument/2006/relationships/image"/><Relationship Id="rId5" Target="../media/image45.jpeg" Type="http://schemas.openxmlformats.org/officeDocument/2006/relationships/image"/><Relationship Id="rId6" Target="../media/image46.jpeg" Type="http://schemas.openxmlformats.org/officeDocument/2006/relationships/image"/><Relationship Id="rId7" Target="../media/image47.jpeg" Type="http://schemas.openxmlformats.org/officeDocument/2006/relationships/image"/><Relationship Id="rId8" Target="../media/image4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 Id="rId3" Target="../media/image12.png" Type="http://schemas.openxmlformats.org/officeDocument/2006/relationships/image"/><Relationship Id="rId4" Target="../media/image5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12.png" Type="http://schemas.openxmlformats.org/officeDocument/2006/relationships/image"/><Relationship Id="rId4" Target="../media/image52.jpeg" Type="http://schemas.openxmlformats.org/officeDocument/2006/relationships/image"/><Relationship Id="rId5" Target="../media/image53.jpeg" Type="http://schemas.openxmlformats.org/officeDocument/2006/relationships/image"/><Relationship Id="rId6" Target="../media/image54.jpeg" Type="http://schemas.openxmlformats.org/officeDocument/2006/relationships/image"/><Relationship Id="rId7" Target="../media/image5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56.jpeg" Type="http://schemas.openxmlformats.org/officeDocument/2006/relationships/image"/><Relationship Id="rId4" Target="../media/image57.jpeg" Type="http://schemas.openxmlformats.org/officeDocument/2006/relationships/image"/><Relationship Id="rId5" Target="../media/image58.jpeg" Type="http://schemas.openxmlformats.org/officeDocument/2006/relationships/image"/><Relationship Id="rId6" Target="../media/image5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60.jpeg" Type="http://schemas.openxmlformats.org/officeDocument/2006/relationships/image"/><Relationship Id="rId4" Target="../media/image61.jpeg" Type="http://schemas.openxmlformats.org/officeDocument/2006/relationships/image"/><Relationship Id="rId5" Target="../media/image62.jpeg" Type="http://schemas.openxmlformats.org/officeDocument/2006/relationships/image"/><Relationship Id="rId6" Target="../media/image63.jpeg" Type="http://schemas.openxmlformats.org/officeDocument/2006/relationships/image"/><Relationship Id="rId7" Target="../media/image64.jpeg" Type="http://schemas.openxmlformats.org/officeDocument/2006/relationships/image"/><Relationship Id="rId8" Target="../media/image65.jpeg" Type="http://schemas.openxmlformats.org/officeDocument/2006/relationships/image"/><Relationship Id="rId9" Target="../media/image6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png" Type="http://schemas.openxmlformats.org/officeDocument/2006/relationships/image"/><Relationship Id="rId12" Target="../media/image12.png" Type="http://schemas.openxmlformats.org/officeDocument/2006/relationships/image"/><Relationship Id="rId13" Target="../media/image77.jpeg" Type="http://schemas.openxmlformats.org/officeDocument/2006/relationships/image"/><Relationship Id="rId2" Target="../media/image67.pn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 Id="rId5" Target="../media/image70.jpe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 Id="rId8" Target="../media/image73.png" Type="http://schemas.openxmlformats.org/officeDocument/2006/relationships/image"/><Relationship Id="rId9" Target="../media/image7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https://www.facebook.com/profile.php?id=61577216670878"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848" y="2816038"/>
            <a:ext cx="4370795" cy="8145106"/>
            <a:chOff x="0" y="0"/>
            <a:chExt cx="5589219" cy="10415676"/>
          </a:xfrm>
        </p:grpSpPr>
        <p:sp>
          <p:nvSpPr>
            <p:cNvPr name="Freeform 3" id="3"/>
            <p:cNvSpPr/>
            <p:nvPr/>
          </p:nvSpPr>
          <p:spPr>
            <a:xfrm flipH="false" flipV="false" rot="0">
              <a:off x="0" y="0"/>
              <a:ext cx="5589270" cy="10415651"/>
            </a:xfrm>
            <a:custGeom>
              <a:avLst/>
              <a:gdLst/>
              <a:ahLst/>
              <a:cxnLst/>
              <a:rect r="r" b="b" t="t" l="l"/>
              <a:pathLst>
                <a:path h="10415651" w="5589270">
                  <a:moveTo>
                    <a:pt x="0" y="0"/>
                  </a:moveTo>
                  <a:lnTo>
                    <a:pt x="0" y="10415651"/>
                  </a:lnTo>
                  <a:lnTo>
                    <a:pt x="5589270" y="10415651"/>
                  </a:lnTo>
                  <a:lnTo>
                    <a:pt x="5589270" y="3039618"/>
                  </a:lnTo>
                  <a:cubicBezTo>
                    <a:pt x="5589270" y="2613533"/>
                    <a:pt x="5333365" y="2229231"/>
                    <a:pt x="4940300" y="2064893"/>
                  </a:cubicBezTo>
                  <a:lnTo>
                    <a:pt x="0" y="0"/>
                  </a:lnTo>
                  <a:close/>
                </a:path>
              </a:pathLst>
            </a:custGeom>
            <a:blipFill>
              <a:blip r:embed="rId2"/>
              <a:stretch>
                <a:fillRect l="-45687" t="0" r="-45687" b="0"/>
              </a:stretch>
            </a:blipFill>
          </p:spPr>
        </p:sp>
      </p:grpSp>
      <p:grpSp>
        <p:nvGrpSpPr>
          <p:cNvPr name="Group 4" id="4"/>
          <p:cNvGrpSpPr>
            <a:grpSpLocks noChangeAspect="true"/>
          </p:cNvGrpSpPr>
          <p:nvPr/>
        </p:nvGrpSpPr>
        <p:grpSpPr>
          <a:xfrm rot="0">
            <a:off x="506899" y="-158407"/>
            <a:ext cx="2654104" cy="5251198"/>
            <a:chOff x="0" y="0"/>
            <a:chExt cx="2577719" cy="5100079"/>
          </a:xfrm>
        </p:grpSpPr>
        <p:sp>
          <p:nvSpPr>
            <p:cNvPr name="Freeform 5" id="5"/>
            <p:cNvSpPr/>
            <p:nvPr/>
          </p:nvSpPr>
          <p:spPr>
            <a:xfrm flipH="false" flipV="false" rot="0">
              <a:off x="0" y="0"/>
              <a:ext cx="2577719" cy="5100066"/>
            </a:xfrm>
            <a:custGeom>
              <a:avLst/>
              <a:gdLst/>
              <a:ahLst/>
              <a:cxnLst/>
              <a:rect r="r" b="b" t="t" l="l"/>
              <a:pathLst>
                <a:path h="5100066" w="2577719">
                  <a:moveTo>
                    <a:pt x="0" y="0"/>
                  </a:moveTo>
                  <a:lnTo>
                    <a:pt x="0" y="4022598"/>
                  </a:lnTo>
                  <a:lnTo>
                    <a:pt x="2577719" y="5100066"/>
                  </a:lnTo>
                  <a:lnTo>
                    <a:pt x="2577719" y="0"/>
                  </a:lnTo>
                  <a:close/>
                </a:path>
              </a:pathLst>
            </a:custGeom>
            <a:solidFill>
              <a:srgbClr val="CD4022"/>
            </a:solidFill>
          </p:spPr>
        </p:sp>
      </p:grpSp>
      <p:grpSp>
        <p:nvGrpSpPr>
          <p:cNvPr name="Group 6" id="6"/>
          <p:cNvGrpSpPr>
            <a:grpSpLocks noChangeAspect="true"/>
          </p:cNvGrpSpPr>
          <p:nvPr/>
        </p:nvGrpSpPr>
        <p:grpSpPr>
          <a:xfrm rot="0">
            <a:off x="-282848" y="2107766"/>
            <a:ext cx="5024255" cy="8853378"/>
            <a:chOff x="0" y="0"/>
            <a:chExt cx="317500" cy="559473"/>
          </a:xfrm>
        </p:grpSpPr>
        <p:sp>
          <p:nvSpPr>
            <p:cNvPr name="Freeform 7" id="7"/>
            <p:cNvSpPr/>
            <p:nvPr/>
          </p:nvSpPr>
          <p:spPr>
            <a:xfrm flipH="false" flipV="false" rot="0">
              <a:off x="0" y="0"/>
              <a:ext cx="317500" cy="559435"/>
            </a:xfrm>
            <a:custGeom>
              <a:avLst/>
              <a:gdLst/>
              <a:ahLst/>
              <a:cxnLst/>
              <a:rect r="r" b="b" t="t" l="l"/>
              <a:pathLst>
                <a:path h="559435" w="317500">
                  <a:moveTo>
                    <a:pt x="317500" y="194945"/>
                  </a:moveTo>
                  <a:lnTo>
                    <a:pt x="317500" y="559435"/>
                  </a:lnTo>
                  <a:lnTo>
                    <a:pt x="296545" y="559435"/>
                  </a:lnTo>
                  <a:lnTo>
                    <a:pt x="296545" y="194945"/>
                  </a:lnTo>
                  <a:cubicBezTo>
                    <a:pt x="296545" y="165608"/>
                    <a:pt x="279019" y="139319"/>
                    <a:pt x="251968" y="128016"/>
                  </a:cubicBezTo>
                  <a:lnTo>
                    <a:pt x="0" y="22606"/>
                  </a:lnTo>
                  <a:lnTo>
                    <a:pt x="0" y="0"/>
                  </a:lnTo>
                  <a:lnTo>
                    <a:pt x="260096" y="108712"/>
                  </a:lnTo>
                  <a:cubicBezTo>
                    <a:pt x="295021" y="123317"/>
                    <a:pt x="317500" y="157099"/>
                    <a:pt x="317500" y="194945"/>
                  </a:cubicBezTo>
                </a:path>
              </a:pathLst>
            </a:custGeom>
            <a:solidFill>
              <a:srgbClr val="313842"/>
            </a:solidFill>
          </p:spPr>
        </p:sp>
      </p:grpSp>
      <p:grpSp>
        <p:nvGrpSpPr>
          <p:cNvPr name="Group 8" id="8"/>
          <p:cNvGrpSpPr>
            <a:grpSpLocks noChangeAspect="true"/>
          </p:cNvGrpSpPr>
          <p:nvPr/>
        </p:nvGrpSpPr>
        <p:grpSpPr>
          <a:xfrm rot="0">
            <a:off x="1833951" y="9771705"/>
            <a:ext cx="6437777" cy="1189520"/>
            <a:chOff x="0" y="0"/>
            <a:chExt cx="4770704" cy="881494"/>
          </a:xfrm>
        </p:grpSpPr>
        <p:sp>
          <p:nvSpPr>
            <p:cNvPr name="Freeform 9" id="9"/>
            <p:cNvSpPr/>
            <p:nvPr/>
          </p:nvSpPr>
          <p:spPr>
            <a:xfrm flipH="false" flipV="false" rot="0">
              <a:off x="0" y="0"/>
              <a:ext cx="4770755" cy="881507"/>
            </a:xfrm>
            <a:custGeom>
              <a:avLst/>
              <a:gdLst/>
              <a:ahLst/>
              <a:cxnLst/>
              <a:rect r="r" b="b" t="t" l="l"/>
              <a:pathLst>
                <a:path h="881507" w="4770755">
                  <a:moveTo>
                    <a:pt x="382143" y="0"/>
                  </a:moveTo>
                  <a:lnTo>
                    <a:pt x="0" y="881507"/>
                  </a:lnTo>
                  <a:lnTo>
                    <a:pt x="4770755" y="881507"/>
                  </a:lnTo>
                  <a:lnTo>
                    <a:pt x="4770755" y="0"/>
                  </a:lnTo>
                  <a:close/>
                </a:path>
              </a:pathLst>
            </a:custGeom>
            <a:solidFill>
              <a:srgbClr val="CD4022"/>
            </a:solidFill>
          </p:spPr>
        </p:sp>
      </p:grpSp>
      <p:sp>
        <p:nvSpPr>
          <p:cNvPr name="Freeform 10" id="10"/>
          <p:cNvSpPr/>
          <p:nvPr/>
        </p:nvSpPr>
        <p:spPr>
          <a:xfrm flipH="false" flipV="false" rot="0">
            <a:off x="2636570" y="10108144"/>
            <a:ext cx="238914" cy="238914"/>
          </a:xfrm>
          <a:custGeom>
            <a:avLst/>
            <a:gdLst/>
            <a:ahLst/>
            <a:cxnLst/>
            <a:rect r="r" b="b" t="t" l="l"/>
            <a:pathLst>
              <a:path h="238914" w="238914">
                <a:moveTo>
                  <a:pt x="0" y="0"/>
                </a:moveTo>
                <a:lnTo>
                  <a:pt x="238914" y="0"/>
                </a:lnTo>
                <a:lnTo>
                  <a:pt x="238914" y="238914"/>
                </a:lnTo>
                <a:lnTo>
                  <a:pt x="0" y="238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306227" y="10127947"/>
            <a:ext cx="297171" cy="191270"/>
          </a:xfrm>
          <a:custGeom>
            <a:avLst/>
            <a:gdLst/>
            <a:ahLst/>
            <a:cxnLst/>
            <a:rect r="r" b="b" t="t" l="l"/>
            <a:pathLst>
              <a:path h="191270" w="297171">
                <a:moveTo>
                  <a:pt x="0" y="0"/>
                </a:moveTo>
                <a:lnTo>
                  <a:pt x="297171" y="0"/>
                </a:lnTo>
                <a:lnTo>
                  <a:pt x="297171" y="191270"/>
                </a:lnTo>
                <a:lnTo>
                  <a:pt x="0" y="1912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506899" y="321527"/>
            <a:ext cx="2654104" cy="2145665"/>
          </a:xfrm>
          <a:custGeom>
            <a:avLst/>
            <a:gdLst/>
            <a:ahLst/>
            <a:cxnLst/>
            <a:rect r="r" b="b" t="t" l="l"/>
            <a:pathLst>
              <a:path h="2145665" w="2654104">
                <a:moveTo>
                  <a:pt x="0" y="0"/>
                </a:moveTo>
                <a:lnTo>
                  <a:pt x="2654104" y="0"/>
                </a:lnTo>
                <a:lnTo>
                  <a:pt x="2654104" y="2145665"/>
                </a:lnTo>
                <a:lnTo>
                  <a:pt x="0" y="2145665"/>
                </a:lnTo>
                <a:lnTo>
                  <a:pt x="0" y="0"/>
                </a:lnTo>
                <a:close/>
              </a:path>
            </a:pathLst>
          </a:custGeom>
          <a:blipFill>
            <a:blip r:embed="rId7"/>
            <a:stretch>
              <a:fillRect l="-8325" t="-9237" r="-8325" b="-35055"/>
            </a:stretch>
          </a:blipFill>
        </p:spPr>
      </p:sp>
      <p:sp>
        <p:nvSpPr>
          <p:cNvPr name="TextBox 13" id="13"/>
          <p:cNvSpPr txBox="true"/>
          <p:nvPr/>
        </p:nvSpPr>
        <p:spPr>
          <a:xfrm rot="0">
            <a:off x="3679272" y="1642774"/>
            <a:ext cx="3597994" cy="1694741"/>
          </a:xfrm>
          <a:prstGeom prst="rect">
            <a:avLst/>
          </a:prstGeom>
        </p:spPr>
        <p:txBody>
          <a:bodyPr anchor="t" rtlCol="false" tIns="0" lIns="0" bIns="0" rIns="0">
            <a:spAutoFit/>
          </a:bodyPr>
          <a:lstStyle/>
          <a:p>
            <a:pPr algn="l">
              <a:lnSpc>
                <a:spcPts val="6512"/>
              </a:lnSpc>
            </a:pPr>
            <a:r>
              <a:rPr lang="en-US" sz="5663" b="true">
                <a:solidFill>
                  <a:srgbClr val="D84424"/>
                </a:solidFill>
                <a:latin typeface="Poppins Bold"/>
                <a:ea typeface="Poppins Bold"/>
                <a:cs typeface="Poppins Bold"/>
                <a:sym typeface="Poppins Bold"/>
              </a:rPr>
              <a:t>ANNUAL</a:t>
            </a:r>
          </a:p>
          <a:p>
            <a:pPr algn="l">
              <a:lnSpc>
                <a:spcPts val="6512"/>
              </a:lnSpc>
            </a:pPr>
            <a:r>
              <a:rPr lang="en-US" sz="5663" b="true">
                <a:solidFill>
                  <a:srgbClr val="D84424"/>
                </a:solidFill>
                <a:latin typeface="Poppins Bold"/>
                <a:ea typeface="Poppins Bold"/>
                <a:cs typeface="Poppins Bold"/>
                <a:sym typeface="Poppins Bold"/>
              </a:rPr>
              <a:t>REPORT</a:t>
            </a:r>
          </a:p>
        </p:txBody>
      </p:sp>
      <p:sp>
        <p:nvSpPr>
          <p:cNvPr name="TextBox 14" id="14"/>
          <p:cNvSpPr txBox="true"/>
          <p:nvPr/>
        </p:nvSpPr>
        <p:spPr>
          <a:xfrm rot="0">
            <a:off x="3679272" y="825227"/>
            <a:ext cx="3597994" cy="786547"/>
          </a:xfrm>
          <a:prstGeom prst="rect">
            <a:avLst/>
          </a:prstGeom>
        </p:spPr>
        <p:txBody>
          <a:bodyPr anchor="t" rtlCol="false" tIns="0" lIns="0" bIns="0" rIns="0">
            <a:spAutoFit/>
          </a:bodyPr>
          <a:lstStyle/>
          <a:p>
            <a:pPr algn="l">
              <a:lnSpc>
                <a:spcPts val="6111"/>
              </a:lnSpc>
            </a:pPr>
            <a:r>
              <a:rPr lang="en-US" sz="5314" b="true">
                <a:solidFill>
                  <a:srgbClr val="394557"/>
                </a:solidFill>
                <a:latin typeface="Inter Ultra-Bold"/>
                <a:ea typeface="Inter Ultra-Bold"/>
                <a:cs typeface="Inter Ultra-Bold"/>
                <a:sym typeface="Inter Ultra-Bold"/>
              </a:rPr>
              <a:t>2025-26</a:t>
            </a:r>
          </a:p>
        </p:txBody>
      </p:sp>
      <p:sp>
        <p:nvSpPr>
          <p:cNvPr name="TextBox 15" id="15"/>
          <p:cNvSpPr txBox="true"/>
          <p:nvPr/>
        </p:nvSpPr>
        <p:spPr>
          <a:xfrm rot="0">
            <a:off x="4908391" y="3663019"/>
            <a:ext cx="2290902" cy="2407908"/>
          </a:xfrm>
          <a:prstGeom prst="rect">
            <a:avLst/>
          </a:prstGeom>
        </p:spPr>
        <p:txBody>
          <a:bodyPr anchor="t" rtlCol="false" tIns="0" lIns="0" bIns="0" rIns="0">
            <a:spAutoFit/>
          </a:bodyPr>
          <a:lstStyle/>
          <a:p>
            <a:pPr algn="l">
              <a:lnSpc>
                <a:spcPts val="1377"/>
              </a:lnSpc>
            </a:pPr>
            <a:r>
              <a:rPr lang="en-US" sz="1198">
                <a:solidFill>
                  <a:srgbClr val="566070"/>
                </a:solidFill>
                <a:latin typeface="Poppins"/>
                <a:ea typeface="Poppins"/>
                <a:cs typeface="Poppins"/>
                <a:sym typeface="Poppins"/>
              </a:rPr>
              <a:t>Munawwar Foundation is a non-profit organization dedicated to empowering communities through education, skill development, and social welfare initiatives. Established with a vision to create an inclusive and self-reliant society, the Foundation works tirelessly to uplift underprivileged sections by providing access to knowledge, training, and livelihood opportunities.</a:t>
            </a:r>
          </a:p>
        </p:txBody>
      </p:sp>
      <p:sp>
        <p:nvSpPr>
          <p:cNvPr name="TextBox 16" id="16"/>
          <p:cNvSpPr txBox="true"/>
          <p:nvPr/>
        </p:nvSpPr>
        <p:spPr>
          <a:xfrm rot="0">
            <a:off x="2950462" y="10091134"/>
            <a:ext cx="1540351" cy="233694"/>
          </a:xfrm>
          <a:prstGeom prst="rect">
            <a:avLst/>
          </a:prstGeom>
        </p:spPr>
        <p:txBody>
          <a:bodyPr anchor="t" rtlCol="false" tIns="0" lIns="0" bIns="0" rIns="0">
            <a:spAutoFit/>
          </a:bodyPr>
          <a:lstStyle/>
          <a:p>
            <a:pPr algn="l">
              <a:lnSpc>
                <a:spcPts val="1819"/>
              </a:lnSpc>
            </a:pPr>
            <a:r>
              <a:rPr lang="en-US" sz="1299">
                <a:solidFill>
                  <a:srgbClr val="FFFFFF"/>
                </a:solidFill>
                <a:latin typeface="Poppins"/>
                <a:ea typeface="Poppins"/>
                <a:cs typeface="Poppins"/>
                <a:sym typeface="Poppins"/>
              </a:rPr>
              <a:t>7999269697</a:t>
            </a:r>
          </a:p>
        </p:txBody>
      </p:sp>
      <p:sp>
        <p:nvSpPr>
          <p:cNvPr name="TextBox 17" id="17"/>
          <p:cNvSpPr txBox="true"/>
          <p:nvPr/>
        </p:nvSpPr>
        <p:spPr>
          <a:xfrm rot="0">
            <a:off x="4687972" y="10040909"/>
            <a:ext cx="2710312" cy="363858"/>
          </a:xfrm>
          <a:prstGeom prst="rect">
            <a:avLst/>
          </a:prstGeom>
        </p:spPr>
        <p:txBody>
          <a:bodyPr anchor="t" rtlCol="false" tIns="0" lIns="0" bIns="0" rIns="0">
            <a:spAutoFit/>
          </a:bodyPr>
          <a:lstStyle/>
          <a:p>
            <a:pPr algn="l">
              <a:lnSpc>
                <a:spcPts val="1499"/>
              </a:lnSpc>
            </a:pPr>
            <a:r>
              <a:rPr lang="en-US" sz="1199">
                <a:solidFill>
                  <a:srgbClr val="FFFFFF"/>
                </a:solidFill>
                <a:latin typeface="Poppins"/>
                <a:ea typeface="Poppins"/>
                <a:cs typeface="Poppins"/>
                <a:sym typeface="Poppins"/>
              </a:rPr>
              <a:t>munawwarfoundation.org</a:t>
            </a:r>
          </a:p>
          <a:p>
            <a:pPr algn="l">
              <a:lnSpc>
                <a:spcPts val="1499"/>
              </a:lnSpc>
            </a:pPr>
            <a:r>
              <a:rPr lang="en-US" sz="1199">
                <a:solidFill>
                  <a:srgbClr val="FFFFFF"/>
                </a:solidFill>
                <a:latin typeface="Poppins"/>
                <a:ea typeface="Poppins"/>
                <a:cs typeface="Poppins"/>
                <a:sym typeface="Poppins"/>
              </a:rPr>
              <a:t>munawwarfoundation@gmail.com</a:t>
            </a:r>
          </a:p>
        </p:txBody>
      </p:sp>
      <p:sp>
        <p:nvSpPr>
          <p:cNvPr name="TextBox 18" id="18"/>
          <p:cNvSpPr txBox="true"/>
          <p:nvPr/>
        </p:nvSpPr>
        <p:spPr>
          <a:xfrm rot="0">
            <a:off x="4908391" y="6128077"/>
            <a:ext cx="2290902" cy="2065008"/>
          </a:xfrm>
          <a:prstGeom prst="rect">
            <a:avLst/>
          </a:prstGeom>
        </p:spPr>
        <p:txBody>
          <a:bodyPr anchor="t" rtlCol="false" tIns="0" lIns="0" bIns="0" rIns="0">
            <a:spAutoFit/>
          </a:bodyPr>
          <a:lstStyle/>
          <a:p>
            <a:pPr algn="l">
              <a:lnSpc>
                <a:spcPts val="1377"/>
              </a:lnSpc>
            </a:pPr>
            <a:r>
              <a:rPr lang="en-US" sz="1198">
                <a:solidFill>
                  <a:srgbClr val="566070"/>
                </a:solidFill>
                <a:latin typeface="Poppins"/>
                <a:ea typeface="Poppins"/>
                <a:cs typeface="Poppins"/>
                <a:sym typeface="Poppins"/>
              </a:rPr>
              <a:t>Munawwar Foundation has initiated a range of impactful programs focusing on digital literacy, women empowerment, vocational training, health awareness, and community development. Each project reflects the Foundation’s core belief — that sustainable change begins with education and skill-building.</a:t>
            </a:r>
          </a:p>
        </p:txBody>
      </p:sp>
      <p:sp>
        <p:nvSpPr>
          <p:cNvPr name="TextBox 19" id="19"/>
          <p:cNvSpPr txBox="true"/>
          <p:nvPr/>
        </p:nvSpPr>
        <p:spPr>
          <a:xfrm rot="0">
            <a:off x="4908391" y="8250236"/>
            <a:ext cx="2290902" cy="1379208"/>
          </a:xfrm>
          <a:prstGeom prst="rect">
            <a:avLst/>
          </a:prstGeom>
        </p:spPr>
        <p:txBody>
          <a:bodyPr anchor="t" rtlCol="false" tIns="0" lIns="0" bIns="0" rIns="0">
            <a:spAutoFit/>
          </a:bodyPr>
          <a:lstStyle/>
          <a:p>
            <a:pPr algn="l">
              <a:lnSpc>
                <a:spcPts val="1377"/>
              </a:lnSpc>
            </a:pPr>
            <a:r>
              <a:rPr lang="en-US" sz="1198">
                <a:solidFill>
                  <a:srgbClr val="566070"/>
                </a:solidFill>
                <a:latin typeface="Poppins"/>
                <a:ea typeface="Poppins"/>
                <a:cs typeface="Poppins"/>
                <a:sym typeface="Poppins"/>
              </a:rPr>
              <a:t>As we present this annual report, we reaffirm our commitment to fostering growth, equality, and empowerment — building a future where every individual can thrive with dignity and purpose.</a:t>
            </a:r>
          </a:p>
        </p:txBody>
      </p:sp>
      <p:sp>
        <p:nvSpPr>
          <p:cNvPr name="TextBox 20" id="20"/>
          <p:cNvSpPr txBox="true"/>
          <p:nvPr/>
        </p:nvSpPr>
        <p:spPr>
          <a:xfrm rot="0">
            <a:off x="3780000" y="319755"/>
            <a:ext cx="2796183" cy="43624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a:t>
            </a:r>
          </a:p>
          <a:p>
            <a:pPr algn="ctr">
              <a:lnSpc>
                <a:spcPts val="1679"/>
              </a:lnSpc>
              <a:spcBef>
                <a:spcPct val="0"/>
              </a:spcBef>
            </a:pPr>
            <a:r>
              <a:rPr lang="en-US" sz="1200">
                <a:solidFill>
                  <a:srgbClr val="000000"/>
                </a:solidFill>
                <a:latin typeface="Futura"/>
                <a:ea typeface="Futura"/>
                <a:cs typeface="Futura"/>
                <a:sym typeface="Futura"/>
              </a:rPr>
              <a:t>"Illuminating Hearts, Transforming Futures"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2514765"/>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4869903"/>
            <a:ext cx="2972591" cy="2073880"/>
          </a:xfrm>
          <a:custGeom>
            <a:avLst/>
            <a:gdLst/>
            <a:ahLst/>
            <a:cxnLst/>
            <a:rect r="r" b="b" t="t" l="l"/>
            <a:pathLst>
              <a:path h="2073880" w="2972591">
                <a:moveTo>
                  <a:pt x="0" y="0"/>
                </a:moveTo>
                <a:lnTo>
                  <a:pt x="2972591" y="0"/>
                </a:lnTo>
                <a:lnTo>
                  <a:pt x="2972591" y="2073881"/>
                </a:lnTo>
                <a:lnTo>
                  <a:pt x="0" y="2073881"/>
                </a:lnTo>
                <a:lnTo>
                  <a:pt x="0" y="0"/>
                </a:lnTo>
                <a:close/>
              </a:path>
            </a:pathLst>
          </a:custGeom>
          <a:blipFill>
            <a:blip r:embed="rId2"/>
            <a:stretch>
              <a:fillRect l="-24090" t="0" r="0" b="0"/>
            </a:stretch>
          </a:blipFill>
        </p:spPr>
      </p:sp>
      <p:sp>
        <p:nvSpPr>
          <p:cNvPr name="Freeform 4" id="4"/>
          <p:cNvSpPr/>
          <p:nvPr/>
        </p:nvSpPr>
        <p:spPr>
          <a:xfrm flipH="false" flipV="false" rot="0">
            <a:off x="756000" y="2267314"/>
            <a:ext cx="2325596" cy="2514765"/>
          </a:xfrm>
          <a:custGeom>
            <a:avLst/>
            <a:gdLst/>
            <a:ahLst/>
            <a:cxnLst/>
            <a:rect r="r" b="b" t="t" l="l"/>
            <a:pathLst>
              <a:path h="2514765" w="2325596">
                <a:moveTo>
                  <a:pt x="0" y="0"/>
                </a:moveTo>
                <a:lnTo>
                  <a:pt x="2325596" y="0"/>
                </a:lnTo>
                <a:lnTo>
                  <a:pt x="2325596" y="2514764"/>
                </a:lnTo>
                <a:lnTo>
                  <a:pt x="0" y="2514764"/>
                </a:lnTo>
                <a:lnTo>
                  <a:pt x="0" y="0"/>
                </a:lnTo>
                <a:close/>
              </a:path>
            </a:pathLst>
          </a:custGeom>
          <a:blipFill>
            <a:blip r:embed="rId3"/>
            <a:stretch>
              <a:fillRect l="-34599" t="0" r="0" b="0"/>
            </a:stretch>
          </a:blipFill>
        </p:spPr>
      </p:sp>
      <p:sp>
        <p:nvSpPr>
          <p:cNvPr name="Freeform 5" id="5"/>
          <p:cNvSpPr/>
          <p:nvPr/>
        </p:nvSpPr>
        <p:spPr>
          <a:xfrm flipH="false" flipV="false" rot="0">
            <a:off x="3820319" y="7658488"/>
            <a:ext cx="2983681" cy="1932851"/>
          </a:xfrm>
          <a:custGeom>
            <a:avLst/>
            <a:gdLst/>
            <a:ahLst/>
            <a:cxnLst/>
            <a:rect r="r" b="b" t="t" l="l"/>
            <a:pathLst>
              <a:path h="1932851" w="2983681">
                <a:moveTo>
                  <a:pt x="0" y="0"/>
                </a:moveTo>
                <a:lnTo>
                  <a:pt x="2983681" y="0"/>
                </a:lnTo>
                <a:lnTo>
                  <a:pt x="2983681" y="1932851"/>
                </a:lnTo>
                <a:lnTo>
                  <a:pt x="0" y="1932851"/>
                </a:lnTo>
                <a:lnTo>
                  <a:pt x="0" y="0"/>
                </a:lnTo>
                <a:close/>
              </a:path>
            </a:pathLst>
          </a:custGeom>
          <a:blipFill>
            <a:blip r:embed="rId4"/>
            <a:stretch>
              <a:fillRect l="-23815" t="-7510" r="0" b="0"/>
            </a:stretch>
          </a:blipFill>
        </p:spPr>
      </p:sp>
      <p:sp>
        <p:nvSpPr>
          <p:cNvPr name="Freeform 6" id="6"/>
          <p:cNvSpPr/>
          <p:nvPr/>
        </p:nvSpPr>
        <p:spPr>
          <a:xfrm flipH="false" flipV="false" rot="0">
            <a:off x="3820319" y="4869903"/>
            <a:ext cx="2983681" cy="2686384"/>
          </a:xfrm>
          <a:custGeom>
            <a:avLst/>
            <a:gdLst/>
            <a:ahLst/>
            <a:cxnLst/>
            <a:rect r="r" b="b" t="t" l="l"/>
            <a:pathLst>
              <a:path h="2686384" w="2983681">
                <a:moveTo>
                  <a:pt x="0" y="0"/>
                </a:moveTo>
                <a:lnTo>
                  <a:pt x="2983681" y="0"/>
                </a:lnTo>
                <a:lnTo>
                  <a:pt x="2983681" y="2686384"/>
                </a:lnTo>
                <a:lnTo>
                  <a:pt x="0" y="2686384"/>
                </a:lnTo>
                <a:lnTo>
                  <a:pt x="0" y="0"/>
                </a:lnTo>
                <a:close/>
              </a:path>
            </a:pathLst>
          </a:custGeom>
          <a:blipFill>
            <a:blip r:embed="rId5"/>
            <a:stretch>
              <a:fillRect l="-45122" t="0" r="-49149" b="-21312"/>
            </a:stretch>
          </a:blipFill>
        </p:spPr>
      </p:sp>
      <p:sp>
        <p:nvSpPr>
          <p:cNvPr name="Freeform 7" id="7"/>
          <p:cNvSpPr/>
          <p:nvPr/>
        </p:nvSpPr>
        <p:spPr>
          <a:xfrm flipH="false" flipV="false" rot="0">
            <a:off x="756000" y="7029509"/>
            <a:ext cx="2963533" cy="2561830"/>
          </a:xfrm>
          <a:custGeom>
            <a:avLst/>
            <a:gdLst/>
            <a:ahLst/>
            <a:cxnLst/>
            <a:rect r="r" b="b" t="t" l="l"/>
            <a:pathLst>
              <a:path h="2561830" w="2963533">
                <a:moveTo>
                  <a:pt x="0" y="0"/>
                </a:moveTo>
                <a:lnTo>
                  <a:pt x="2963533" y="0"/>
                </a:lnTo>
                <a:lnTo>
                  <a:pt x="2963533" y="2561830"/>
                </a:lnTo>
                <a:lnTo>
                  <a:pt x="0" y="2561830"/>
                </a:lnTo>
                <a:lnTo>
                  <a:pt x="0" y="0"/>
                </a:lnTo>
                <a:close/>
              </a:path>
            </a:pathLst>
          </a:custGeom>
          <a:blipFill>
            <a:blip r:embed="rId6"/>
            <a:stretch>
              <a:fillRect l="-37908" t="-16317" r="-40935" b="0"/>
            </a:stretch>
          </a:blipFill>
        </p:spPr>
      </p:sp>
      <p:sp>
        <p:nvSpPr>
          <p:cNvPr name="Freeform 8" id="8"/>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7"/>
            <a:stretch>
              <a:fillRect l="0" t="-23425" r="-10196" b="-50291"/>
            </a:stretch>
          </a:blipFill>
        </p:spPr>
      </p:sp>
      <p:sp>
        <p:nvSpPr>
          <p:cNvPr name="TextBox 9" id="9"/>
          <p:cNvSpPr txBox="true"/>
          <p:nvPr/>
        </p:nvSpPr>
        <p:spPr>
          <a:xfrm rot="0">
            <a:off x="3318907" y="2339786"/>
            <a:ext cx="3485093" cy="232219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 To empower youth and women with essential computer and digital skills.</a:t>
            </a:r>
          </a:p>
          <a:p>
            <a:pPr algn="just">
              <a:lnSpc>
                <a:spcPts val="1679"/>
              </a:lnSpc>
            </a:pPr>
            <a:r>
              <a:rPr lang="en-US" sz="1199">
                <a:solidFill>
                  <a:srgbClr val="000000"/>
                </a:solidFill>
                <a:latin typeface="Futura"/>
                <a:ea typeface="Futura"/>
                <a:cs typeface="Futura"/>
                <a:sym typeface="Futura"/>
              </a:rPr>
              <a:t>Target Group: School dropouts, rural youth, and homemakers.</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Basic computer operations, MS Office, and internet usage.</a:t>
            </a:r>
          </a:p>
          <a:p>
            <a:pPr algn="just" marL="259080" indent="-129540" lvl="1">
              <a:lnSpc>
                <a:spcPts val="1679"/>
              </a:lnSpc>
              <a:buFont typeface="Arial"/>
              <a:buChar char="•"/>
            </a:pPr>
            <a:r>
              <a:rPr lang="en-US" sz="1199">
                <a:solidFill>
                  <a:srgbClr val="000000"/>
                </a:solidFill>
                <a:latin typeface="Futura"/>
                <a:ea typeface="Futura"/>
                <a:cs typeface="Futura"/>
                <a:sym typeface="Futura"/>
              </a:rPr>
              <a:t>Online application and job search training.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Expected Outcome: Increased employability and confidence in using technology for education and livelihood.</a:t>
            </a:r>
          </a:p>
        </p:txBody>
      </p:sp>
      <p:sp>
        <p:nvSpPr>
          <p:cNvPr name="TextBox 10" id="10"/>
          <p:cNvSpPr txBox="true"/>
          <p:nvPr/>
        </p:nvSpPr>
        <p:spPr>
          <a:xfrm rot="0">
            <a:off x="756000" y="613125"/>
            <a:ext cx="4667275" cy="132778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Digital Literacy &amp; Computer Training</a:t>
            </a:r>
          </a:p>
        </p:txBody>
      </p:sp>
      <p:sp>
        <p:nvSpPr>
          <p:cNvPr name="TextBox 11" id="11"/>
          <p:cNvSpPr txBox="true"/>
          <p:nvPr/>
        </p:nvSpPr>
        <p:spPr>
          <a:xfrm rot="0">
            <a:off x="6050111" y="931486"/>
            <a:ext cx="753889" cy="645162"/>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sp>
        <p:nvSpPr>
          <p:cNvPr name="TextBox 12" id="12"/>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2514765"/>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4869903"/>
            <a:ext cx="2972591" cy="2073880"/>
          </a:xfrm>
          <a:custGeom>
            <a:avLst/>
            <a:gdLst/>
            <a:ahLst/>
            <a:cxnLst/>
            <a:rect r="r" b="b" t="t" l="l"/>
            <a:pathLst>
              <a:path h="2073880" w="2972591">
                <a:moveTo>
                  <a:pt x="0" y="0"/>
                </a:moveTo>
                <a:lnTo>
                  <a:pt x="2972591" y="0"/>
                </a:lnTo>
                <a:lnTo>
                  <a:pt x="2972591" y="2073881"/>
                </a:lnTo>
                <a:lnTo>
                  <a:pt x="0" y="2073881"/>
                </a:lnTo>
                <a:lnTo>
                  <a:pt x="0" y="0"/>
                </a:lnTo>
                <a:close/>
              </a:path>
            </a:pathLst>
          </a:custGeom>
          <a:blipFill>
            <a:blip r:embed="rId2"/>
            <a:stretch>
              <a:fillRect l="-6798" t="0" r="-6798" b="0"/>
            </a:stretch>
          </a:blipFill>
        </p:spPr>
      </p:sp>
      <p:sp>
        <p:nvSpPr>
          <p:cNvPr name="Freeform 4" id="4"/>
          <p:cNvSpPr/>
          <p:nvPr/>
        </p:nvSpPr>
        <p:spPr>
          <a:xfrm flipH="false" flipV="false" rot="0">
            <a:off x="756000" y="2267314"/>
            <a:ext cx="2325596" cy="2514765"/>
          </a:xfrm>
          <a:custGeom>
            <a:avLst/>
            <a:gdLst/>
            <a:ahLst/>
            <a:cxnLst/>
            <a:rect r="r" b="b" t="t" l="l"/>
            <a:pathLst>
              <a:path h="2514765" w="2325596">
                <a:moveTo>
                  <a:pt x="0" y="0"/>
                </a:moveTo>
                <a:lnTo>
                  <a:pt x="2325596" y="0"/>
                </a:lnTo>
                <a:lnTo>
                  <a:pt x="2325596" y="2514764"/>
                </a:lnTo>
                <a:lnTo>
                  <a:pt x="0" y="2514764"/>
                </a:lnTo>
                <a:lnTo>
                  <a:pt x="0" y="0"/>
                </a:lnTo>
                <a:close/>
              </a:path>
            </a:pathLst>
          </a:custGeom>
          <a:blipFill>
            <a:blip r:embed="rId3"/>
            <a:stretch>
              <a:fillRect l="0" t="-11608" r="0" b="-11608"/>
            </a:stretch>
          </a:blipFill>
        </p:spPr>
      </p:sp>
      <p:sp>
        <p:nvSpPr>
          <p:cNvPr name="Freeform 5" id="5"/>
          <p:cNvSpPr/>
          <p:nvPr/>
        </p:nvSpPr>
        <p:spPr>
          <a:xfrm flipH="false" flipV="false" rot="0">
            <a:off x="3820319" y="7658488"/>
            <a:ext cx="2983681" cy="1932851"/>
          </a:xfrm>
          <a:custGeom>
            <a:avLst/>
            <a:gdLst/>
            <a:ahLst/>
            <a:cxnLst/>
            <a:rect r="r" b="b" t="t" l="l"/>
            <a:pathLst>
              <a:path h="1932851" w="2983681">
                <a:moveTo>
                  <a:pt x="0" y="0"/>
                </a:moveTo>
                <a:lnTo>
                  <a:pt x="2983681" y="0"/>
                </a:lnTo>
                <a:lnTo>
                  <a:pt x="2983681" y="1932851"/>
                </a:lnTo>
                <a:lnTo>
                  <a:pt x="0" y="1932851"/>
                </a:lnTo>
                <a:lnTo>
                  <a:pt x="0" y="0"/>
                </a:lnTo>
                <a:close/>
              </a:path>
            </a:pathLst>
          </a:custGeom>
          <a:blipFill>
            <a:blip r:embed="rId4"/>
            <a:stretch>
              <a:fillRect l="0" t="-7887" r="0" b="-7887"/>
            </a:stretch>
          </a:blipFill>
        </p:spPr>
      </p:sp>
      <p:sp>
        <p:nvSpPr>
          <p:cNvPr name="Freeform 6" id="6"/>
          <p:cNvSpPr/>
          <p:nvPr/>
        </p:nvSpPr>
        <p:spPr>
          <a:xfrm flipH="false" flipV="false" rot="0">
            <a:off x="3820319" y="4869903"/>
            <a:ext cx="2983681" cy="2686384"/>
          </a:xfrm>
          <a:custGeom>
            <a:avLst/>
            <a:gdLst/>
            <a:ahLst/>
            <a:cxnLst/>
            <a:rect r="r" b="b" t="t" l="l"/>
            <a:pathLst>
              <a:path h="2686384" w="2983681">
                <a:moveTo>
                  <a:pt x="0" y="0"/>
                </a:moveTo>
                <a:lnTo>
                  <a:pt x="2983681" y="0"/>
                </a:lnTo>
                <a:lnTo>
                  <a:pt x="2983681" y="2686384"/>
                </a:lnTo>
                <a:lnTo>
                  <a:pt x="0" y="2686384"/>
                </a:lnTo>
                <a:lnTo>
                  <a:pt x="0" y="0"/>
                </a:lnTo>
                <a:close/>
              </a:path>
            </a:pathLst>
          </a:custGeom>
          <a:blipFill>
            <a:blip r:embed="rId5"/>
            <a:stretch>
              <a:fillRect l="-10023" t="0" r="-10023" b="0"/>
            </a:stretch>
          </a:blipFill>
        </p:spPr>
      </p:sp>
      <p:sp>
        <p:nvSpPr>
          <p:cNvPr name="Freeform 7" id="7"/>
          <p:cNvSpPr/>
          <p:nvPr/>
        </p:nvSpPr>
        <p:spPr>
          <a:xfrm flipH="false" flipV="false" rot="0">
            <a:off x="756000" y="7029509"/>
            <a:ext cx="2963533" cy="2561830"/>
          </a:xfrm>
          <a:custGeom>
            <a:avLst/>
            <a:gdLst/>
            <a:ahLst/>
            <a:cxnLst/>
            <a:rect r="r" b="b" t="t" l="l"/>
            <a:pathLst>
              <a:path h="2561830" w="2963533">
                <a:moveTo>
                  <a:pt x="0" y="0"/>
                </a:moveTo>
                <a:lnTo>
                  <a:pt x="2963533" y="0"/>
                </a:lnTo>
                <a:lnTo>
                  <a:pt x="2963533" y="2561830"/>
                </a:lnTo>
                <a:lnTo>
                  <a:pt x="0" y="2561830"/>
                </a:lnTo>
                <a:lnTo>
                  <a:pt x="0" y="0"/>
                </a:lnTo>
                <a:close/>
              </a:path>
            </a:pathLst>
          </a:custGeom>
          <a:blipFill>
            <a:blip r:embed="rId6"/>
            <a:stretch>
              <a:fillRect l="-18989" t="0" r="-18989" b="0"/>
            </a:stretch>
          </a:blipFill>
        </p:spPr>
      </p:sp>
      <p:sp>
        <p:nvSpPr>
          <p:cNvPr name="Freeform 8" id="8"/>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7"/>
            <a:stretch>
              <a:fillRect l="0" t="-23425" r="-10196" b="-50291"/>
            </a:stretch>
          </a:blipFill>
        </p:spPr>
      </p:sp>
      <p:sp>
        <p:nvSpPr>
          <p:cNvPr name="TextBox 9" id="9"/>
          <p:cNvSpPr txBox="true"/>
          <p:nvPr/>
        </p:nvSpPr>
        <p:spPr>
          <a:xfrm rot="0">
            <a:off x="3318907" y="2339786"/>
            <a:ext cx="3485093" cy="211264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 To create self-employment opportunities for women through tailoring and garment design.</a:t>
            </a:r>
          </a:p>
          <a:p>
            <a:pPr algn="just">
              <a:lnSpc>
                <a:spcPts val="1679"/>
              </a:lnSpc>
            </a:pPr>
            <a:r>
              <a:rPr lang="en-US" sz="1199">
                <a:solidFill>
                  <a:srgbClr val="000000"/>
                </a:solidFill>
                <a:latin typeface="Futura"/>
                <a:ea typeface="Futura"/>
                <a:cs typeface="Futura"/>
                <a:sym typeface="Futura"/>
              </a:rPr>
              <a:t>Target Group: Economically weaker women, men and girls.</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Hands-on stitching, cutting, and design training.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Su</a:t>
            </a:r>
            <a:r>
              <a:rPr lang="en-US" sz="1199">
                <a:solidFill>
                  <a:srgbClr val="000000"/>
                </a:solidFill>
                <a:latin typeface="Futura"/>
                <a:ea typeface="Futura"/>
                <a:cs typeface="Futura"/>
                <a:sym typeface="Futura"/>
              </a:rPr>
              <a:t>pport to start small tailoring units.</a:t>
            </a:r>
          </a:p>
          <a:p>
            <a:pPr algn="just" marL="259080" indent="-129540" lvl="1">
              <a:lnSpc>
                <a:spcPts val="1679"/>
              </a:lnSpc>
              <a:buFont typeface="Arial"/>
              <a:buChar char="•"/>
            </a:pPr>
            <a:r>
              <a:rPr lang="en-US" sz="1199">
                <a:solidFill>
                  <a:srgbClr val="000000"/>
                </a:solidFill>
                <a:latin typeface="Futura"/>
                <a:ea typeface="Futura"/>
                <a:cs typeface="Futura"/>
                <a:sym typeface="Futura"/>
              </a:rPr>
              <a:t>Expected Outcome: Financial independence and income generation for women participants.</a:t>
            </a:r>
          </a:p>
          <a:p>
            <a:pPr algn="just">
              <a:lnSpc>
                <a:spcPts val="1679"/>
              </a:lnSpc>
            </a:pPr>
          </a:p>
        </p:txBody>
      </p:sp>
      <p:sp>
        <p:nvSpPr>
          <p:cNvPr name="TextBox 10" id="10"/>
          <p:cNvSpPr txBox="true"/>
          <p:nvPr/>
        </p:nvSpPr>
        <p:spPr>
          <a:xfrm rot="0">
            <a:off x="756000" y="613125"/>
            <a:ext cx="4667275" cy="132778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Sewing &amp; Design Skill Development</a:t>
            </a:r>
          </a:p>
        </p:txBody>
      </p:sp>
      <p:sp>
        <p:nvSpPr>
          <p:cNvPr name="TextBox 11" id="11"/>
          <p:cNvSpPr txBox="true"/>
          <p:nvPr/>
        </p:nvSpPr>
        <p:spPr>
          <a:xfrm rot="0">
            <a:off x="6050111" y="931486"/>
            <a:ext cx="753889" cy="645162"/>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sp>
        <p:nvSpPr>
          <p:cNvPr name="TextBox 12" id="12"/>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6000" y="4869903"/>
            <a:ext cx="2972591" cy="2073880"/>
          </a:xfrm>
          <a:custGeom>
            <a:avLst/>
            <a:gdLst/>
            <a:ahLst/>
            <a:cxnLst/>
            <a:rect r="r" b="b" t="t" l="l"/>
            <a:pathLst>
              <a:path h="2073880" w="2972591">
                <a:moveTo>
                  <a:pt x="0" y="0"/>
                </a:moveTo>
                <a:lnTo>
                  <a:pt x="2972591" y="0"/>
                </a:lnTo>
                <a:lnTo>
                  <a:pt x="2972591" y="2073881"/>
                </a:lnTo>
                <a:lnTo>
                  <a:pt x="0" y="2073881"/>
                </a:lnTo>
                <a:lnTo>
                  <a:pt x="0" y="0"/>
                </a:lnTo>
                <a:close/>
              </a:path>
            </a:pathLst>
          </a:custGeom>
          <a:blipFill>
            <a:blip r:embed="rId2"/>
            <a:stretch>
              <a:fillRect l="0" t="-12796" r="0" b="-12796"/>
            </a:stretch>
          </a:blipFill>
        </p:spPr>
      </p:sp>
      <p:sp>
        <p:nvSpPr>
          <p:cNvPr name="Freeform 3" id="3"/>
          <p:cNvSpPr/>
          <p:nvPr/>
        </p:nvSpPr>
        <p:spPr>
          <a:xfrm flipH="false" flipV="false" rot="0">
            <a:off x="3781562" y="7658488"/>
            <a:ext cx="3022438" cy="1932851"/>
          </a:xfrm>
          <a:custGeom>
            <a:avLst/>
            <a:gdLst/>
            <a:ahLst/>
            <a:cxnLst/>
            <a:rect r="r" b="b" t="t" l="l"/>
            <a:pathLst>
              <a:path h="1932851" w="3022438">
                <a:moveTo>
                  <a:pt x="0" y="0"/>
                </a:moveTo>
                <a:lnTo>
                  <a:pt x="3022438" y="0"/>
                </a:lnTo>
                <a:lnTo>
                  <a:pt x="3022438" y="1932851"/>
                </a:lnTo>
                <a:lnTo>
                  <a:pt x="0" y="1932851"/>
                </a:lnTo>
                <a:lnTo>
                  <a:pt x="0" y="0"/>
                </a:lnTo>
                <a:close/>
              </a:path>
            </a:pathLst>
          </a:custGeom>
          <a:blipFill>
            <a:blip r:embed="rId3"/>
            <a:stretch>
              <a:fillRect l="-62203" t="-6420" r="0" b="-6420"/>
            </a:stretch>
          </a:blipFill>
        </p:spPr>
      </p:sp>
      <p:sp>
        <p:nvSpPr>
          <p:cNvPr name="Freeform 4" id="4"/>
          <p:cNvSpPr/>
          <p:nvPr/>
        </p:nvSpPr>
        <p:spPr>
          <a:xfrm flipH="false" flipV="false" rot="0">
            <a:off x="3820319" y="4869903"/>
            <a:ext cx="2983681" cy="2686384"/>
          </a:xfrm>
          <a:custGeom>
            <a:avLst/>
            <a:gdLst/>
            <a:ahLst/>
            <a:cxnLst/>
            <a:rect r="r" b="b" t="t" l="l"/>
            <a:pathLst>
              <a:path h="2686384" w="2983681">
                <a:moveTo>
                  <a:pt x="0" y="0"/>
                </a:moveTo>
                <a:lnTo>
                  <a:pt x="2983681" y="0"/>
                </a:lnTo>
                <a:lnTo>
                  <a:pt x="2983681" y="2686384"/>
                </a:lnTo>
                <a:lnTo>
                  <a:pt x="0" y="2686384"/>
                </a:lnTo>
                <a:lnTo>
                  <a:pt x="0" y="0"/>
                </a:lnTo>
                <a:close/>
              </a:path>
            </a:pathLst>
          </a:custGeom>
          <a:blipFill>
            <a:blip r:embed="rId4"/>
            <a:stretch>
              <a:fillRect l="-10023" t="0" r="-10023" b="0"/>
            </a:stretch>
          </a:blipFill>
        </p:spPr>
      </p:sp>
      <p:sp>
        <p:nvSpPr>
          <p:cNvPr name="Freeform 5" id="5"/>
          <p:cNvSpPr/>
          <p:nvPr/>
        </p:nvSpPr>
        <p:spPr>
          <a:xfrm flipH="false" flipV="false" rot="0">
            <a:off x="756000" y="7029509"/>
            <a:ext cx="2963533" cy="2561830"/>
          </a:xfrm>
          <a:custGeom>
            <a:avLst/>
            <a:gdLst/>
            <a:ahLst/>
            <a:cxnLst/>
            <a:rect r="r" b="b" t="t" l="l"/>
            <a:pathLst>
              <a:path h="2561830" w="2963533">
                <a:moveTo>
                  <a:pt x="0" y="0"/>
                </a:moveTo>
                <a:lnTo>
                  <a:pt x="2963533" y="0"/>
                </a:lnTo>
                <a:lnTo>
                  <a:pt x="2963533" y="2561830"/>
                </a:lnTo>
                <a:lnTo>
                  <a:pt x="0" y="2561830"/>
                </a:lnTo>
                <a:lnTo>
                  <a:pt x="0" y="0"/>
                </a:lnTo>
                <a:close/>
              </a:path>
            </a:pathLst>
          </a:custGeom>
          <a:blipFill>
            <a:blip r:embed="rId5"/>
            <a:stretch>
              <a:fillRect l="0" t="-19689" r="0" b="-19689"/>
            </a:stretch>
          </a:blipFill>
        </p:spPr>
      </p:sp>
      <p:sp>
        <p:nvSpPr>
          <p:cNvPr name="Freeform 6" id="6"/>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6"/>
            <a:stretch>
              <a:fillRect l="0" t="-23425" r="-10196" b="-50291"/>
            </a:stretch>
          </a:blipFill>
        </p:spPr>
      </p:sp>
      <p:sp>
        <p:nvSpPr>
          <p:cNvPr name="Freeform 7" id="7"/>
          <p:cNvSpPr/>
          <p:nvPr/>
        </p:nvSpPr>
        <p:spPr>
          <a:xfrm flipH="false" flipV="false" rot="0">
            <a:off x="759124" y="2411179"/>
            <a:ext cx="6044876" cy="1819344"/>
          </a:xfrm>
          <a:custGeom>
            <a:avLst/>
            <a:gdLst/>
            <a:ahLst/>
            <a:cxnLst/>
            <a:rect r="r" b="b" t="t" l="l"/>
            <a:pathLst>
              <a:path h="1819344" w="6044876">
                <a:moveTo>
                  <a:pt x="0" y="0"/>
                </a:moveTo>
                <a:lnTo>
                  <a:pt x="6044876" y="0"/>
                </a:lnTo>
                <a:lnTo>
                  <a:pt x="6044876" y="1819344"/>
                </a:lnTo>
                <a:lnTo>
                  <a:pt x="0" y="1819344"/>
                </a:lnTo>
                <a:lnTo>
                  <a:pt x="0" y="0"/>
                </a:lnTo>
                <a:close/>
              </a:path>
            </a:pathLst>
          </a:custGeom>
          <a:blipFill>
            <a:blip r:embed="rId7"/>
            <a:stretch>
              <a:fillRect l="0" t="-5637" r="0" b="-1515"/>
            </a:stretch>
          </a:blipFill>
        </p:spPr>
      </p:sp>
      <p:sp>
        <p:nvSpPr>
          <p:cNvPr name="TextBox 8" id="8"/>
          <p:cNvSpPr txBox="true"/>
          <p:nvPr/>
        </p:nvSpPr>
        <p:spPr>
          <a:xfrm rot="0">
            <a:off x="756000" y="613125"/>
            <a:ext cx="4667275" cy="132778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Sewing &amp; Design Skill Development</a:t>
            </a:r>
          </a:p>
        </p:txBody>
      </p:sp>
      <p:sp>
        <p:nvSpPr>
          <p:cNvPr name="TextBox 9" id="9"/>
          <p:cNvSpPr txBox="true"/>
          <p:nvPr/>
        </p:nvSpPr>
        <p:spPr>
          <a:xfrm rot="0">
            <a:off x="6050111" y="931486"/>
            <a:ext cx="753889" cy="645162"/>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sp>
        <p:nvSpPr>
          <p:cNvPr name="TextBox 10" id="10"/>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2514765"/>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4975694"/>
            <a:ext cx="2972591" cy="2073880"/>
          </a:xfrm>
          <a:custGeom>
            <a:avLst/>
            <a:gdLst/>
            <a:ahLst/>
            <a:cxnLst/>
            <a:rect r="r" b="b" t="t" l="l"/>
            <a:pathLst>
              <a:path h="2073880" w="2972591">
                <a:moveTo>
                  <a:pt x="0" y="0"/>
                </a:moveTo>
                <a:lnTo>
                  <a:pt x="2972591" y="0"/>
                </a:lnTo>
                <a:lnTo>
                  <a:pt x="2972591" y="2073880"/>
                </a:lnTo>
                <a:lnTo>
                  <a:pt x="0" y="2073880"/>
                </a:lnTo>
                <a:lnTo>
                  <a:pt x="0" y="0"/>
                </a:lnTo>
                <a:close/>
              </a:path>
            </a:pathLst>
          </a:custGeom>
          <a:blipFill>
            <a:blip r:embed="rId2"/>
            <a:stretch>
              <a:fillRect l="-18735" t="0" r="-18735" b="0"/>
            </a:stretch>
          </a:blipFill>
        </p:spPr>
      </p:sp>
      <p:sp>
        <p:nvSpPr>
          <p:cNvPr name="Freeform 4" id="4"/>
          <p:cNvSpPr/>
          <p:nvPr/>
        </p:nvSpPr>
        <p:spPr>
          <a:xfrm flipH="false" flipV="false" rot="0">
            <a:off x="756000" y="2267314"/>
            <a:ext cx="2325596" cy="2514765"/>
          </a:xfrm>
          <a:custGeom>
            <a:avLst/>
            <a:gdLst/>
            <a:ahLst/>
            <a:cxnLst/>
            <a:rect r="r" b="b" t="t" l="l"/>
            <a:pathLst>
              <a:path h="2514765" w="2325596">
                <a:moveTo>
                  <a:pt x="0" y="0"/>
                </a:moveTo>
                <a:lnTo>
                  <a:pt x="2325596" y="0"/>
                </a:lnTo>
                <a:lnTo>
                  <a:pt x="2325596" y="2514764"/>
                </a:lnTo>
                <a:lnTo>
                  <a:pt x="0" y="2514764"/>
                </a:lnTo>
                <a:lnTo>
                  <a:pt x="0" y="0"/>
                </a:lnTo>
                <a:close/>
              </a:path>
            </a:pathLst>
          </a:custGeom>
          <a:blipFill>
            <a:blip r:embed="rId3"/>
            <a:stretch>
              <a:fillRect l="0" t="-14896" r="0" b="-14896"/>
            </a:stretch>
          </a:blipFill>
        </p:spPr>
      </p:sp>
      <p:sp>
        <p:nvSpPr>
          <p:cNvPr name="Freeform 5" id="5"/>
          <p:cNvSpPr/>
          <p:nvPr/>
        </p:nvSpPr>
        <p:spPr>
          <a:xfrm flipH="false" flipV="false" rot="0">
            <a:off x="3820319" y="7764278"/>
            <a:ext cx="2983681" cy="1827061"/>
          </a:xfrm>
          <a:custGeom>
            <a:avLst/>
            <a:gdLst/>
            <a:ahLst/>
            <a:cxnLst/>
            <a:rect r="r" b="b" t="t" l="l"/>
            <a:pathLst>
              <a:path h="1827061" w="2983681">
                <a:moveTo>
                  <a:pt x="0" y="0"/>
                </a:moveTo>
                <a:lnTo>
                  <a:pt x="2983681" y="0"/>
                </a:lnTo>
                <a:lnTo>
                  <a:pt x="2983681" y="1827061"/>
                </a:lnTo>
                <a:lnTo>
                  <a:pt x="0" y="1827061"/>
                </a:lnTo>
                <a:lnTo>
                  <a:pt x="0" y="0"/>
                </a:lnTo>
                <a:close/>
              </a:path>
            </a:pathLst>
          </a:custGeom>
          <a:blipFill>
            <a:blip r:embed="rId4"/>
            <a:stretch>
              <a:fillRect l="0" t="-2016" r="0" b="-7806"/>
            </a:stretch>
          </a:blipFill>
        </p:spPr>
      </p:sp>
      <p:sp>
        <p:nvSpPr>
          <p:cNvPr name="Freeform 6" id="6"/>
          <p:cNvSpPr/>
          <p:nvPr/>
        </p:nvSpPr>
        <p:spPr>
          <a:xfrm flipH="false" flipV="false" rot="0">
            <a:off x="3820319" y="4975694"/>
            <a:ext cx="2983681" cy="2686384"/>
          </a:xfrm>
          <a:custGeom>
            <a:avLst/>
            <a:gdLst/>
            <a:ahLst/>
            <a:cxnLst/>
            <a:rect r="r" b="b" t="t" l="l"/>
            <a:pathLst>
              <a:path h="2686384" w="2983681">
                <a:moveTo>
                  <a:pt x="0" y="0"/>
                </a:moveTo>
                <a:lnTo>
                  <a:pt x="2983681" y="0"/>
                </a:lnTo>
                <a:lnTo>
                  <a:pt x="2983681" y="2686383"/>
                </a:lnTo>
                <a:lnTo>
                  <a:pt x="0" y="2686383"/>
                </a:lnTo>
                <a:lnTo>
                  <a:pt x="0" y="0"/>
                </a:lnTo>
                <a:close/>
              </a:path>
            </a:pathLst>
          </a:custGeom>
          <a:blipFill>
            <a:blip r:embed="rId5"/>
            <a:stretch>
              <a:fillRect l="-21034" t="0" r="-21034" b="0"/>
            </a:stretch>
          </a:blipFill>
        </p:spPr>
      </p:sp>
      <p:sp>
        <p:nvSpPr>
          <p:cNvPr name="Freeform 7" id="7"/>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6"/>
            <a:stretch>
              <a:fillRect l="0" t="-23425" r="-10196" b="-50291"/>
            </a:stretch>
          </a:blipFill>
        </p:spPr>
      </p:sp>
      <p:sp>
        <p:nvSpPr>
          <p:cNvPr name="Freeform 8" id="8"/>
          <p:cNvSpPr/>
          <p:nvPr/>
        </p:nvSpPr>
        <p:spPr>
          <a:xfrm flipH="false" flipV="false" rot="5400000">
            <a:off x="1019272" y="6891077"/>
            <a:ext cx="2436990" cy="2963533"/>
          </a:xfrm>
          <a:custGeom>
            <a:avLst/>
            <a:gdLst/>
            <a:ahLst/>
            <a:cxnLst/>
            <a:rect r="r" b="b" t="t" l="l"/>
            <a:pathLst>
              <a:path h="2963533" w="2436990">
                <a:moveTo>
                  <a:pt x="0" y="0"/>
                </a:moveTo>
                <a:lnTo>
                  <a:pt x="2436990" y="0"/>
                </a:lnTo>
                <a:lnTo>
                  <a:pt x="2436990" y="2963534"/>
                </a:lnTo>
                <a:lnTo>
                  <a:pt x="0" y="2963534"/>
                </a:lnTo>
                <a:lnTo>
                  <a:pt x="0" y="0"/>
                </a:lnTo>
                <a:close/>
              </a:path>
            </a:pathLst>
          </a:custGeom>
          <a:blipFill>
            <a:blip r:embed="rId7"/>
            <a:stretch>
              <a:fillRect l="-11554" t="-37313" r="-4341" b="-17900"/>
            </a:stretch>
          </a:blipFill>
        </p:spPr>
      </p:sp>
      <p:sp>
        <p:nvSpPr>
          <p:cNvPr name="TextBox 9" id="9"/>
          <p:cNvSpPr txBox="true"/>
          <p:nvPr/>
        </p:nvSpPr>
        <p:spPr>
          <a:xfrm rot="0">
            <a:off x="3318907" y="2339786"/>
            <a:ext cx="3485093" cy="253174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Project: Online Selling &amp; Entrepreneurship Training</a:t>
            </a:r>
          </a:p>
          <a:p>
            <a:pPr algn="just">
              <a:lnSpc>
                <a:spcPts val="1679"/>
              </a:lnSpc>
            </a:pPr>
            <a:r>
              <a:rPr lang="en-US" sz="1199">
                <a:solidFill>
                  <a:srgbClr val="000000"/>
                </a:solidFill>
                <a:latin typeface="Futura"/>
                <a:ea typeface="Futura"/>
                <a:cs typeface="Futura"/>
                <a:sym typeface="Futura"/>
              </a:rPr>
              <a:t>Objective: To promote digital entrepreneurship through e-commerce education.</a:t>
            </a:r>
          </a:p>
          <a:p>
            <a:pPr algn="just">
              <a:lnSpc>
                <a:spcPts val="1679"/>
              </a:lnSpc>
            </a:pPr>
            <a:r>
              <a:rPr lang="en-US" sz="1199">
                <a:solidFill>
                  <a:srgbClr val="000000"/>
                </a:solidFill>
                <a:latin typeface="Futura"/>
                <a:ea typeface="Futura"/>
                <a:cs typeface="Futura"/>
                <a:sym typeface="Futura"/>
              </a:rPr>
              <a:t>Target Group: Small business owners, artisans, and women entrepreneurs.</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Training on product listing, photography, and online marketing.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Guidance o</a:t>
            </a:r>
            <a:r>
              <a:rPr lang="en-US" sz="1199">
                <a:solidFill>
                  <a:srgbClr val="000000"/>
                </a:solidFill>
                <a:latin typeface="Futura"/>
                <a:ea typeface="Futura"/>
                <a:cs typeface="Futura"/>
                <a:sym typeface="Futura"/>
              </a:rPr>
              <a:t>n using platforms like Amazon, Meesho, and Flipkart.</a:t>
            </a:r>
          </a:p>
          <a:p>
            <a:pPr algn="just" marL="259080" indent="-129540" lvl="1">
              <a:lnSpc>
                <a:spcPts val="1679"/>
              </a:lnSpc>
              <a:buFont typeface="Arial"/>
              <a:buChar char="•"/>
            </a:pPr>
            <a:r>
              <a:rPr lang="en-US" sz="1199">
                <a:solidFill>
                  <a:srgbClr val="000000"/>
                </a:solidFill>
                <a:latin typeface="Futura"/>
                <a:ea typeface="Futura"/>
                <a:cs typeface="Futura"/>
                <a:sym typeface="Futura"/>
              </a:rPr>
              <a:t>Expected Outcome: Increased digital presence and sales opportunities for trainees.</a:t>
            </a:r>
          </a:p>
        </p:txBody>
      </p:sp>
      <p:grpSp>
        <p:nvGrpSpPr>
          <p:cNvPr name="Group 10" id="10"/>
          <p:cNvGrpSpPr/>
          <p:nvPr/>
        </p:nvGrpSpPr>
        <p:grpSpPr>
          <a:xfrm rot="0">
            <a:off x="756000" y="756000"/>
            <a:ext cx="6377459" cy="1184908"/>
            <a:chOff x="0" y="0"/>
            <a:chExt cx="8503279" cy="1579878"/>
          </a:xfrm>
        </p:grpSpPr>
        <p:sp>
          <p:nvSpPr>
            <p:cNvPr name="TextBox 11" id="11"/>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Online Selling &amp; Entrepreneurship Training</a:t>
              </a:r>
            </a:p>
          </p:txBody>
        </p:sp>
        <p:sp>
          <p:nvSpPr>
            <p:cNvPr name="TextBox 12" id="12"/>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3" id="13"/>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2"/>
            <a:stretch>
              <a:fillRect l="0" t="-23425" r="-10196" b="-50291"/>
            </a:stretch>
          </a:blipFill>
        </p:spPr>
      </p:sp>
      <p:sp>
        <p:nvSpPr>
          <p:cNvPr name="Freeform 3" id="3"/>
          <p:cNvSpPr/>
          <p:nvPr/>
        </p:nvSpPr>
        <p:spPr>
          <a:xfrm flipH="false" flipV="false" rot="0">
            <a:off x="818029" y="5692517"/>
            <a:ext cx="3819185" cy="1899857"/>
          </a:xfrm>
          <a:custGeom>
            <a:avLst/>
            <a:gdLst/>
            <a:ahLst/>
            <a:cxnLst/>
            <a:rect r="r" b="b" t="t" l="l"/>
            <a:pathLst>
              <a:path h="1899857" w="3819185">
                <a:moveTo>
                  <a:pt x="0" y="0"/>
                </a:moveTo>
                <a:lnTo>
                  <a:pt x="3819185" y="0"/>
                </a:lnTo>
                <a:lnTo>
                  <a:pt x="3819185" y="1899857"/>
                </a:lnTo>
                <a:lnTo>
                  <a:pt x="0" y="1899857"/>
                </a:lnTo>
                <a:lnTo>
                  <a:pt x="0" y="0"/>
                </a:lnTo>
                <a:close/>
              </a:path>
            </a:pathLst>
          </a:custGeom>
          <a:blipFill>
            <a:blip r:embed="rId3"/>
            <a:stretch>
              <a:fillRect l="-4269" t="0" r="-4944" b="-17183"/>
            </a:stretch>
          </a:blipFill>
        </p:spPr>
      </p:sp>
      <p:sp>
        <p:nvSpPr>
          <p:cNvPr name="Freeform 4" id="4"/>
          <p:cNvSpPr/>
          <p:nvPr/>
        </p:nvSpPr>
        <p:spPr>
          <a:xfrm flipH="false" flipV="false" rot="5400000">
            <a:off x="1377390" y="7157715"/>
            <a:ext cx="1903714" cy="2963533"/>
          </a:xfrm>
          <a:custGeom>
            <a:avLst/>
            <a:gdLst/>
            <a:ahLst/>
            <a:cxnLst/>
            <a:rect r="r" b="b" t="t" l="l"/>
            <a:pathLst>
              <a:path h="2963533" w="1903714">
                <a:moveTo>
                  <a:pt x="0" y="0"/>
                </a:moveTo>
                <a:lnTo>
                  <a:pt x="1903715" y="0"/>
                </a:lnTo>
                <a:lnTo>
                  <a:pt x="1903715" y="2963533"/>
                </a:lnTo>
                <a:lnTo>
                  <a:pt x="0" y="2963533"/>
                </a:lnTo>
                <a:lnTo>
                  <a:pt x="0" y="0"/>
                </a:lnTo>
                <a:close/>
              </a:path>
            </a:pathLst>
          </a:custGeom>
          <a:blipFill>
            <a:blip r:embed="rId4"/>
            <a:stretch>
              <a:fillRect l="0" t="-2309" r="0" b="-2309"/>
            </a:stretch>
          </a:blipFill>
        </p:spPr>
      </p:sp>
      <p:sp>
        <p:nvSpPr>
          <p:cNvPr name="Freeform 5" id="5"/>
          <p:cNvSpPr/>
          <p:nvPr/>
        </p:nvSpPr>
        <p:spPr>
          <a:xfrm flipH="false" flipV="false" rot="0">
            <a:off x="818029" y="2497680"/>
            <a:ext cx="5985971" cy="3103853"/>
          </a:xfrm>
          <a:custGeom>
            <a:avLst/>
            <a:gdLst/>
            <a:ahLst/>
            <a:cxnLst/>
            <a:rect r="r" b="b" t="t" l="l"/>
            <a:pathLst>
              <a:path h="3103853" w="5985971">
                <a:moveTo>
                  <a:pt x="0" y="0"/>
                </a:moveTo>
                <a:lnTo>
                  <a:pt x="5985971" y="0"/>
                </a:lnTo>
                <a:lnTo>
                  <a:pt x="5985971" y="3103853"/>
                </a:lnTo>
                <a:lnTo>
                  <a:pt x="0" y="3103853"/>
                </a:lnTo>
                <a:lnTo>
                  <a:pt x="0" y="0"/>
                </a:lnTo>
                <a:close/>
              </a:path>
            </a:pathLst>
          </a:custGeom>
          <a:blipFill>
            <a:blip r:embed="rId5"/>
            <a:stretch>
              <a:fillRect l="-1134" t="0" r="-1134" b="-6556"/>
            </a:stretch>
          </a:blipFill>
        </p:spPr>
      </p:sp>
      <p:sp>
        <p:nvSpPr>
          <p:cNvPr name="Freeform 6" id="6"/>
          <p:cNvSpPr/>
          <p:nvPr/>
        </p:nvSpPr>
        <p:spPr>
          <a:xfrm flipH="false" flipV="false" rot="0">
            <a:off x="3908729" y="7693514"/>
            <a:ext cx="2859271" cy="1897825"/>
          </a:xfrm>
          <a:custGeom>
            <a:avLst/>
            <a:gdLst/>
            <a:ahLst/>
            <a:cxnLst/>
            <a:rect r="r" b="b" t="t" l="l"/>
            <a:pathLst>
              <a:path h="1897825" w="2859271">
                <a:moveTo>
                  <a:pt x="0" y="0"/>
                </a:moveTo>
                <a:lnTo>
                  <a:pt x="2859271" y="0"/>
                </a:lnTo>
                <a:lnTo>
                  <a:pt x="2859271" y="1897825"/>
                </a:lnTo>
                <a:lnTo>
                  <a:pt x="0" y="1897825"/>
                </a:lnTo>
                <a:lnTo>
                  <a:pt x="0" y="0"/>
                </a:lnTo>
                <a:close/>
              </a:path>
            </a:pathLst>
          </a:custGeom>
          <a:blipFill>
            <a:blip r:embed="rId6"/>
            <a:stretch>
              <a:fillRect l="0" t="-26411" r="-11524" b="0"/>
            </a:stretch>
          </a:blipFill>
        </p:spPr>
      </p:sp>
      <p:sp>
        <p:nvSpPr>
          <p:cNvPr name="Freeform 7" id="7"/>
          <p:cNvSpPr/>
          <p:nvPr/>
        </p:nvSpPr>
        <p:spPr>
          <a:xfrm flipH="false" flipV="false" rot="0">
            <a:off x="4733636" y="5692517"/>
            <a:ext cx="2070364" cy="1899857"/>
          </a:xfrm>
          <a:custGeom>
            <a:avLst/>
            <a:gdLst/>
            <a:ahLst/>
            <a:cxnLst/>
            <a:rect r="r" b="b" t="t" l="l"/>
            <a:pathLst>
              <a:path h="1899857" w="2070364">
                <a:moveTo>
                  <a:pt x="0" y="0"/>
                </a:moveTo>
                <a:lnTo>
                  <a:pt x="2070364" y="0"/>
                </a:lnTo>
                <a:lnTo>
                  <a:pt x="2070364" y="1899857"/>
                </a:lnTo>
                <a:lnTo>
                  <a:pt x="0" y="1899857"/>
                </a:lnTo>
                <a:lnTo>
                  <a:pt x="0" y="0"/>
                </a:lnTo>
                <a:close/>
              </a:path>
            </a:pathLst>
          </a:custGeom>
          <a:blipFill>
            <a:blip r:embed="rId7"/>
            <a:stretch>
              <a:fillRect l="-11374" t="-45063" r="-65561" b="0"/>
            </a:stretch>
          </a:blipFill>
        </p:spPr>
      </p:sp>
      <p:grpSp>
        <p:nvGrpSpPr>
          <p:cNvPr name="Group 8" id="8"/>
          <p:cNvGrpSpPr/>
          <p:nvPr/>
        </p:nvGrpSpPr>
        <p:grpSpPr>
          <a:xfrm rot="0">
            <a:off x="756000" y="756000"/>
            <a:ext cx="6377459" cy="1184908"/>
            <a:chOff x="0" y="0"/>
            <a:chExt cx="8503279" cy="1579878"/>
          </a:xfrm>
        </p:grpSpPr>
        <p:sp>
          <p:nvSpPr>
            <p:cNvPr name="TextBox 9" id="9"/>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Online Selling &amp; Entrepreneurship Training</a:t>
              </a:r>
            </a:p>
          </p:txBody>
        </p:sp>
        <p:sp>
          <p:nvSpPr>
            <p:cNvPr name="TextBox 10" id="10"/>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1" id="11"/>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2514765"/>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4975694"/>
            <a:ext cx="6096945" cy="2834465"/>
          </a:xfrm>
          <a:custGeom>
            <a:avLst/>
            <a:gdLst/>
            <a:ahLst/>
            <a:cxnLst/>
            <a:rect r="r" b="b" t="t" l="l"/>
            <a:pathLst>
              <a:path h="2834465" w="6096945">
                <a:moveTo>
                  <a:pt x="0" y="0"/>
                </a:moveTo>
                <a:lnTo>
                  <a:pt x="6096945" y="0"/>
                </a:lnTo>
                <a:lnTo>
                  <a:pt x="6096945" y="2834465"/>
                </a:lnTo>
                <a:lnTo>
                  <a:pt x="0" y="2834465"/>
                </a:lnTo>
                <a:lnTo>
                  <a:pt x="0" y="0"/>
                </a:lnTo>
                <a:close/>
              </a:path>
            </a:pathLst>
          </a:custGeom>
          <a:blipFill>
            <a:blip r:embed="rId2"/>
            <a:stretch>
              <a:fillRect l="-8839" t="-4704" r="-4238" b="-84408"/>
            </a:stretch>
          </a:blipFill>
        </p:spPr>
      </p:sp>
      <p:sp>
        <p:nvSpPr>
          <p:cNvPr name="Freeform 4" id="4"/>
          <p:cNvSpPr/>
          <p:nvPr/>
        </p:nvSpPr>
        <p:spPr>
          <a:xfrm flipH="false" flipV="false" rot="0">
            <a:off x="756000" y="2267314"/>
            <a:ext cx="2325596" cy="2514765"/>
          </a:xfrm>
          <a:custGeom>
            <a:avLst/>
            <a:gdLst/>
            <a:ahLst/>
            <a:cxnLst/>
            <a:rect r="r" b="b" t="t" l="l"/>
            <a:pathLst>
              <a:path h="2514765" w="2325596">
                <a:moveTo>
                  <a:pt x="0" y="0"/>
                </a:moveTo>
                <a:lnTo>
                  <a:pt x="2325596" y="0"/>
                </a:lnTo>
                <a:lnTo>
                  <a:pt x="2325596" y="2514764"/>
                </a:lnTo>
                <a:lnTo>
                  <a:pt x="0" y="2514764"/>
                </a:lnTo>
                <a:lnTo>
                  <a:pt x="0" y="0"/>
                </a:lnTo>
                <a:close/>
              </a:path>
            </a:pathLst>
          </a:custGeom>
          <a:blipFill>
            <a:blip r:embed="rId3"/>
            <a:stretch>
              <a:fillRect l="-10339" t="0" r="-10339" b="0"/>
            </a:stretch>
          </a:blipFill>
        </p:spPr>
      </p:sp>
      <p:sp>
        <p:nvSpPr>
          <p:cNvPr name="Freeform 5" id="5"/>
          <p:cNvSpPr/>
          <p:nvPr/>
        </p:nvSpPr>
        <p:spPr>
          <a:xfrm flipH="false" flipV="false" rot="0">
            <a:off x="4050905" y="7935542"/>
            <a:ext cx="2802040" cy="1620788"/>
          </a:xfrm>
          <a:custGeom>
            <a:avLst/>
            <a:gdLst/>
            <a:ahLst/>
            <a:cxnLst/>
            <a:rect r="r" b="b" t="t" l="l"/>
            <a:pathLst>
              <a:path h="1620788" w="2802040">
                <a:moveTo>
                  <a:pt x="0" y="0"/>
                </a:moveTo>
                <a:lnTo>
                  <a:pt x="2802040" y="0"/>
                </a:lnTo>
                <a:lnTo>
                  <a:pt x="2802040" y="1620788"/>
                </a:lnTo>
                <a:lnTo>
                  <a:pt x="0" y="1620788"/>
                </a:lnTo>
                <a:lnTo>
                  <a:pt x="0" y="0"/>
                </a:lnTo>
                <a:close/>
              </a:path>
            </a:pathLst>
          </a:custGeom>
          <a:blipFill>
            <a:blip r:embed="rId4"/>
            <a:stretch>
              <a:fillRect l="0" t="-10930" r="-6482" b="-76675"/>
            </a:stretch>
          </a:blipFill>
        </p:spPr>
      </p:sp>
      <p:sp>
        <p:nvSpPr>
          <p:cNvPr name="Freeform 6" id="6"/>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5"/>
            <a:stretch>
              <a:fillRect l="0" t="-23425" r="-10196" b="-50291"/>
            </a:stretch>
          </a:blipFill>
        </p:spPr>
      </p:sp>
      <p:sp>
        <p:nvSpPr>
          <p:cNvPr name="Freeform 7" id="7"/>
          <p:cNvSpPr/>
          <p:nvPr/>
        </p:nvSpPr>
        <p:spPr>
          <a:xfrm flipH="false" flipV="false" rot="0">
            <a:off x="756000" y="7935542"/>
            <a:ext cx="3189653" cy="1854188"/>
          </a:xfrm>
          <a:custGeom>
            <a:avLst/>
            <a:gdLst/>
            <a:ahLst/>
            <a:cxnLst/>
            <a:rect r="r" b="b" t="t" l="l"/>
            <a:pathLst>
              <a:path h="1854188" w="3189653">
                <a:moveTo>
                  <a:pt x="0" y="0"/>
                </a:moveTo>
                <a:lnTo>
                  <a:pt x="3189653" y="0"/>
                </a:lnTo>
                <a:lnTo>
                  <a:pt x="3189653" y="1854188"/>
                </a:lnTo>
                <a:lnTo>
                  <a:pt x="0" y="1854188"/>
                </a:lnTo>
                <a:lnTo>
                  <a:pt x="0" y="0"/>
                </a:lnTo>
                <a:close/>
              </a:path>
            </a:pathLst>
          </a:custGeom>
          <a:blipFill>
            <a:blip r:embed="rId6"/>
            <a:stretch>
              <a:fillRect l="-9500" t="0" r="-1761" b="0"/>
            </a:stretch>
          </a:blipFill>
        </p:spPr>
      </p:sp>
      <p:sp>
        <p:nvSpPr>
          <p:cNvPr name="TextBox 8" id="8"/>
          <p:cNvSpPr txBox="true"/>
          <p:nvPr/>
        </p:nvSpPr>
        <p:spPr>
          <a:xfrm rot="0">
            <a:off x="3318907" y="2339786"/>
            <a:ext cx="3485093" cy="211264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 To improve community health and hygiene practices.</a:t>
            </a:r>
          </a:p>
          <a:p>
            <a:pPr algn="just">
              <a:lnSpc>
                <a:spcPts val="1679"/>
              </a:lnSpc>
            </a:pPr>
            <a:r>
              <a:rPr lang="en-US" sz="1199">
                <a:solidFill>
                  <a:srgbClr val="000000"/>
                </a:solidFill>
                <a:latin typeface="Futura"/>
                <a:ea typeface="Futura"/>
                <a:cs typeface="Futura"/>
                <a:sym typeface="Futura"/>
              </a:rPr>
              <a:t>Target Group: Women, children, and rural families.</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Free health check-up camps and doctor consultations.</a:t>
            </a:r>
          </a:p>
          <a:p>
            <a:pPr algn="just" marL="259080" indent="-129540" lvl="1">
              <a:lnSpc>
                <a:spcPts val="1679"/>
              </a:lnSpc>
              <a:buFont typeface="Arial"/>
              <a:buChar char="•"/>
            </a:pPr>
            <a:r>
              <a:rPr lang="en-US" sz="1199">
                <a:solidFill>
                  <a:srgbClr val="000000"/>
                </a:solidFill>
                <a:latin typeface="Futura"/>
                <a:ea typeface="Futura"/>
                <a:cs typeface="Futura"/>
                <a:sym typeface="Futura"/>
              </a:rPr>
              <a:t>Me</a:t>
            </a:r>
            <a:r>
              <a:rPr lang="en-US" sz="1199">
                <a:solidFill>
                  <a:srgbClr val="000000"/>
                </a:solidFill>
                <a:latin typeface="Futura"/>
                <a:ea typeface="Futura"/>
                <a:cs typeface="Futura"/>
                <a:sym typeface="Futura"/>
              </a:rPr>
              <a:t>nstrual hygiene awareness and sanitary pad distribution.</a:t>
            </a:r>
          </a:p>
          <a:p>
            <a:pPr algn="just" marL="259080" indent="-129540" lvl="1">
              <a:lnSpc>
                <a:spcPts val="1679"/>
              </a:lnSpc>
              <a:buFont typeface="Arial"/>
              <a:buChar char="•"/>
            </a:pPr>
            <a:r>
              <a:rPr lang="en-US" sz="1199">
                <a:solidFill>
                  <a:srgbClr val="000000"/>
                </a:solidFill>
                <a:latin typeface="Futura"/>
                <a:ea typeface="Futura"/>
                <a:cs typeface="Futura"/>
                <a:sym typeface="Futura"/>
              </a:rPr>
              <a:t>Expected Outcome: Better health awareness and hygiene habits in target communities.</a:t>
            </a:r>
          </a:p>
        </p:txBody>
      </p:sp>
      <p:grpSp>
        <p:nvGrpSpPr>
          <p:cNvPr name="Group 9" id="9"/>
          <p:cNvGrpSpPr/>
          <p:nvPr/>
        </p:nvGrpSpPr>
        <p:grpSpPr>
          <a:xfrm rot="0">
            <a:off x="756000" y="756000"/>
            <a:ext cx="6377459" cy="1184908"/>
            <a:chOff x="0" y="0"/>
            <a:chExt cx="8503279" cy="1579878"/>
          </a:xfrm>
        </p:grpSpPr>
        <p:sp>
          <p:nvSpPr>
            <p:cNvPr name="TextBox 10" id="10"/>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Health &amp; Hygiene Awareness</a:t>
              </a:r>
            </a:p>
          </p:txBody>
        </p:sp>
        <p:sp>
          <p:nvSpPr>
            <p:cNvPr name="TextBox 11" id="11"/>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2" id="12"/>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2514765"/>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4937816"/>
            <a:ext cx="6096945" cy="2402655"/>
          </a:xfrm>
          <a:custGeom>
            <a:avLst/>
            <a:gdLst/>
            <a:ahLst/>
            <a:cxnLst/>
            <a:rect r="r" b="b" t="t" l="l"/>
            <a:pathLst>
              <a:path h="2402655" w="6096945">
                <a:moveTo>
                  <a:pt x="0" y="0"/>
                </a:moveTo>
                <a:lnTo>
                  <a:pt x="6096945" y="0"/>
                </a:lnTo>
                <a:lnTo>
                  <a:pt x="6096945" y="2402654"/>
                </a:lnTo>
                <a:lnTo>
                  <a:pt x="0" y="2402654"/>
                </a:lnTo>
                <a:lnTo>
                  <a:pt x="0" y="0"/>
                </a:lnTo>
                <a:close/>
              </a:path>
            </a:pathLst>
          </a:custGeom>
          <a:blipFill>
            <a:blip r:embed="rId2"/>
            <a:stretch>
              <a:fillRect l="-2992" t="-21024" r="-2992" b="0"/>
            </a:stretch>
          </a:blipFill>
        </p:spPr>
      </p:sp>
      <p:sp>
        <p:nvSpPr>
          <p:cNvPr name="Freeform 4" id="4"/>
          <p:cNvSpPr/>
          <p:nvPr/>
        </p:nvSpPr>
        <p:spPr>
          <a:xfrm flipH="false" flipV="false" rot="0">
            <a:off x="756000" y="2267314"/>
            <a:ext cx="2325596" cy="2514765"/>
          </a:xfrm>
          <a:custGeom>
            <a:avLst/>
            <a:gdLst/>
            <a:ahLst/>
            <a:cxnLst/>
            <a:rect r="r" b="b" t="t" l="l"/>
            <a:pathLst>
              <a:path h="2514765" w="2325596">
                <a:moveTo>
                  <a:pt x="0" y="0"/>
                </a:moveTo>
                <a:lnTo>
                  <a:pt x="2325596" y="0"/>
                </a:lnTo>
                <a:lnTo>
                  <a:pt x="2325596" y="2514764"/>
                </a:lnTo>
                <a:lnTo>
                  <a:pt x="0" y="2514764"/>
                </a:lnTo>
                <a:lnTo>
                  <a:pt x="0" y="0"/>
                </a:lnTo>
                <a:close/>
              </a:path>
            </a:pathLst>
          </a:custGeom>
          <a:blipFill>
            <a:blip r:embed="rId3"/>
            <a:stretch>
              <a:fillRect l="-20923" t="0" r="-20923" b="0"/>
            </a:stretch>
          </a:blipFill>
        </p:spPr>
      </p:sp>
      <p:sp>
        <p:nvSpPr>
          <p:cNvPr name="Freeform 5" id="5"/>
          <p:cNvSpPr/>
          <p:nvPr/>
        </p:nvSpPr>
        <p:spPr>
          <a:xfrm flipH="false" flipV="false" rot="0">
            <a:off x="4001960" y="7432265"/>
            <a:ext cx="2850985" cy="1854188"/>
          </a:xfrm>
          <a:custGeom>
            <a:avLst/>
            <a:gdLst/>
            <a:ahLst/>
            <a:cxnLst/>
            <a:rect r="r" b="b" t="t" l="l"/>
            <a:pathLst>
              <a:path h="1854188" w="2850985">
                <a:moveTo>
                  <a:pt x="0" y="0"/>
                </a:moveTo>
                <a:lnTo>
                  <a:pt x="2850985" y="0"/>
                </a:lnTo>
                <a:lnTo>
                  <a:pt x="2850985" y="1854189"/>
                </a:lnTo>
                <a:lnTo>
                  <a:pt x="0" y="1854189"/>
                </a:lnTo>
                <a:lnTo>
                  <a:pt x="0" y="0"/>
                </a:lnTo>
                <a:close/>
              </a:path>
            </a:pathLst>
          </a:custGeom>
          <a:blipFill>
            <a:blip r:embed="rId4"/>
            <a:stretch>
              <a:fillRect l="-23121" t="0" r="-21404" b="0"/>
            </a:stretch>
          </a:blipFill>
        </p:spPr>
      </p:sp>
      <p:sp>
        <p:nvSpPr>
          <p:cNvPr name="Freeform 6" id="6"/>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5"/>
            <a:stretch>
              <a:fillRect l="0" t="-23425" r="-10196" b="-50291"/>
            </a:stretch>
          </a:blipFill>
        </p:spPr>
      </p:sp>
      <p:sp>
        <p:nvSpPr>
          <p:cNvPr name="Freeform 7" id="7"/>
          <p:cNvSpPr/>
          <p:nvPr/>
        </p:nvSpPr>
        <p:spPr>
          <a:xfrm flipH="false" flipV="false" rot="0">
            <a:off x="756000" y="7432265"/>
            <a:ext cx="3189653" cy="1854188"/>
          </a:xfrm>
          <a:custGeom>
            <a:avLst/>
            <a:gdLst/>
            <a:ahLst/>
            <a:cxnLst/>
            <a:rect r="r" b="b" t="t" l="l"/>
            <a:pathLst>
              <a:path h="1854188" w="3189653">
                <a:moveTo>
                  <a:pt x="0" y="0"/>
                </a:moveTo>
                <a:lnTo>
                  <a:pt x="3189653" y="0"/>
                </a:lnTo>
                <a:lnTo>
                  <a:pt x="3189653" y="1854189"/>
                </a:lnTo>
                <a:lnTo>
                  <a:pt x="0" y="1854189"/>
                </a:lnTo>
                <a:lnTo>
                  <a:pt x="0" y="0"/>
                </a:lnTo>
                <a:close/>
              </a:path>
            </a:pathLst>
          </a:custGeom>
          <a:blipFill>
            <a:blip r:embed="rId6"/>
            <a:stretch>
              <a:fillRect l="-7492" t="0" r="-7492" b="0"/>
            </a:stretch>
          </a:blipFill>
        </p:spPr>
      </p:sp>
      <p:sp>
        <p:nvSpPr>
          <p:cNvPr name="TextBox 8" id="8"/>
          <p:cNvSpPr txBox="true"/>
          <p:nvPr/>
        </p:nvSpPr>
        <p:spPr>
          <a:xfrm rot="0">
            <a:off x="3318907" y="2339786"/>
            <a:ext cx="3485093" cy="232219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a:t>
            </a:r>
          </a:p>
          <a:p>
            <a:pPr algn="just">
              <a:lnSpc>
                <a:spcPts val="1679"/>
              </a:lnSpc>
            </a:pPr>
            <a:r>
              <a:rPr lang="en-US" sz="1199">
                <a:solidFill>
                  <a:srgbClr val="000000"/>
                </a:solidFill>
                <a:latin typeface="Futura"/>
                <a:ea typeface="Futura"/>
                <a:cs typeface="Futura"/>
                <a:sym typeface="Futura"/>
              </a:rPr>
              <a:t> To promote education as a fundamental tool for empowerment and social transformation.</a:t>
            </a:r>
          </a:p>
          <a:p>
            <a:pPr algn="just">
              <a:lnSpc>
                <a:spcPts val="1679"/>
              </a:lnSpc>
            </a:pPr>
            <a:r>
              <a:rPr lang="en-US" sz="1199">
                <a:solidFill>
                  <a:srgbClr val="000000"/>
                </a:solidFill>
                <a:latin typeface="Futura"/>
                <a:ea typeface="Futura"/>
                <a:cs typeface="Futura"/>
                <a:sym typeface="Futura"/>
              </a:rPr>
              <a:t>Target Group:</a:t>
            </a:r>
          </a:p>
          <a:p>
            <a:pPr algn="just">
              <a:lnSpc>
                <a:spcPts val="1679"/>
              </a:lnSpc>
            </a:pPr>
            <a:r>
              <a:rPr lang="en-US" sz="1199">
                <a:solidFill>
                  <a:srgbClr val="000000"/>
                </a:solidFill>
                <a:latin typeface="Futura"/>
                <a:ea typeface="Futura"/>
                <a:cs typeface="Futura"/>
                <a:sym typeface="Futura"/>
              </a:rPr>
              <a:t> Underprivileged children, school dropouts, and youth from low-income communities.</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O</a:t>
            </a:r>
            <a:r>
              <a:rPr lang="en-US" sz="1199">
                <a:solidFill>
                  <a:srgbClr val="000000"/>
                </a:solidFill>
                <a:latin typeface="Futura"/>
                <a:ea typeface="Futura"/>
                <a:cs typeface="Futura"/>
                <a:sym typeface="Futura"/>
              </a:rPr>
              <a:t>rganizing awareness sessions for parents to emphasize the value of schooling.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Providing basic learning materials and digital access to enhance the quality of education.</a:t>
            </a:r>
          </a:p>
        </p:txBody>
      </p:sp>
      <p:grpSp>
        <p:nvGrpSpPr>
          <p:cNvPr name="Group 9" id="9"/>
          <p:cNvGrpSpPr/>
          <p:nvPr/>
        </p:nvGrpSpPr>
        <p:grpSpPr>
          <a:xfrm rot="0">
            <a:off x="756000" y="756000"/>
            <a:ext cx="6377459" cy="1184908"/>
            <a:chOff x="0" y="0"/>
            <a:chExt cx="8503279" cy="1579878"/>
          </a:xfrm>
        </p:grpSpPr>
        <p:sp>
          <p:nvSpPr>
            <p:cNvPr name="TextBox 10" id="10"/>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Importance of </a:t>
              </a:r>
            </a:p>
            <a:p>
              <a:pPr algn="l">
                <a:lnSpc>
                  <a:spcPts val="5040"/>
                </a:lnSpc>
              </a:pPr>
              <a:r>
                <a:rPr lang="en-US" sz="3600" b="true">
                  <a:solidFill>
                    <a:srgbClr val="D20000"/>
                  </a:solidFill>
                  <a:latin typeface="Futura Ultra-Bold"/>
                  <a:ea typeface="Futura Ultra-Bold"/>
                  <a:cs typeface="Futura Ultra-Bold"/>
                  <a:sym typeface="Futura Ultra-Bold"/>
                </a:rPr>
                <a:t>Education Program</a:t>
              </a:r>
            </a:p>
          </p:txBody>
        </p:sp>
        <p:sp>
          <p:nvSpPr>
            <p:cNvPr name="TextBox 11" id="11"/>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2" id="12"/>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2"/>
            <a:stretch>
              <a:fillRect l="0" t="-23425" r="-10196" b="-50291"/>
            </a:stretch>
          </a:blipFill>
        </p:spPr>
      </p:sp>
      <p:sp>
        <p:nvSpPr>
          <p:cNvPr name="Freeform 3" id="3"/>
          <p:cNvSpPr/>
          <p:nvPr/>
        </p:nvSpPr>
        <p:spPr>
          <a:xfrm flipH="false" flipV="false" rot="0">
            <a:off x="818029" y="5692517"/>
            <a:ext cx="3819185" cy="1899857"/>
          </a:xfrm>
          <a:custGeom>
            <a:avLst/>
            <a:gdLst/>
            <a:ahLst/>
            <a:cxnLst/>
            <a:rect r="r" b="b" t="t" l="l"/>
            <a:pathLst>
              <a:path h="1899857" w="3819185">
                <a:moveTo>
                  <a:pt x="0" y="0"/>
                </a:moveTo>
                <a:lnTo>
                  <a:pt x="3819185" y="0"/>
                </a:lnTo>
                <a:lnTo>
                  <a:pt x="3819185" y="1899857"/>
                </a:lnTo>
                <a:lnTo>
                  <a:pt x="0" y="1899857"/>
                </a:lnTo>
                <a:lnTo>
                  <a:pt x="0" y="0"/>
                </a:lnTo>
                <a:close/>
              </a:path>
            </a:pathLst>
          </a:custGeom>
          <a:blipFill>
            <a:blip r:embed="rId3"/>
            <a:stretch>
              <a:fillRect l="-7214" t="0" r="-7214" b="0"/>
            </a:stretch>
          </a:blipFill>
        </p:spPr>
      </p:sp>
      <p:sp>
        <p:nvSpPr>
          <p:cNvPr name="Freeform 4" id="4"/>
          <p:cNvSpPr/>
          <p:nvPr/>
        </p:nvSpPr>
        <p:spPr>
          <a:xfrm flipH="false" flipV="false" rot="5400000">
            <a:off x="1377390" y="7157715"/>
            <a:ext cx="1903714" cy="2963533"/>
          </a:xfrm>
          <a:custGeom>
            <a:avLst/>
            <a:gdLst/>
            <a:ahLst/>
            <a:cxnLst/>
            <a:rect r="r" b="b" t="t" l="l"/>
            <a:pathLst>
              <a:path h="2963533" w="1903714">
                <a:moveTo>
                  <a:pt x="0" y="0"/>
                </a:moveTo>
                <a:lnTo>
                  <a:pt x="1903715" y="0"/>
                </a:lnTo>
                <a:lnTo>
                  <a:pt x="1903715" y="2963533"/>
                </a:lnTo>
                <a:lnTo>
                  <a:pt x="0" y="2963533"/>
                </a:lnTo>
                <a:lnTo>
                  <a:pt x="0" y="0"/>
                </a:lnTo>
                <a:close/>
              </a:path>
            </a:pathLst>
          </a:custGeom>
          <a:blipFill>
            <a:blip r:embed="rId4"/>
            <a:stretch>
              <a:fillRect l="0" t="-2309" r="0" b="-2309"/>
            </a:stretch>
          </a:blipFill>
        </p:spPr>
      </p:sp>
      <p:sp>
        <p:nvSpPr>
          <p:cNvPr name="Freeform 5" id="5"/>
          <p:cNvSpPr/>
          <p:nvPr/>
        </p:nvSpPr>
        <p:spPr>
          <a:xfrm flipH="false" flipV="false" rot="0">
            <a:off x="818029" y="2497680"/>
            <a:ext cx="5985971" cy="3103853"/>
          </a:xfrm>
          <a:custGeom>
            <a:avLst/>
            <a:gdLst/>
            <a:ahLst/>
            <a:cxnLst/>
            <a:rect r="r" b="b" t="t" l="l"/>
            <a:pathLst>
              <a:path h="3103853" w="5985971">
                <a:moveTo>
                  <a:pt x="0" y="0"/>
                </a:moveTo>
                <a:lnTo>
                  <a:pt x="5985971" y="0"/>
                </a:lnTo>
                <a:lnTo>
                  <a:pt x="5985971" y="3103853"/>
                </a:lnTo>
                <a:lnTo>
                  <a:pt x="0" y="3103853"/>
                </a:lnTo>
                <a:lnTo>
                  <a:pt x="0" y="0"/>
                </a:lnTo>
                <a:close/>
              </a:path>
            </a:pathLst>
          </a:custGeom>
          <a:blipFill>
            <a:blip r:embed="rId5"/>
            <a:stretch>
              <a:fillRect l="-7613" t="0" r="-7613" b="0"/>
            </a:stretch>
          </a:blipFill>
        </p:spPr>
      </p:sp>
      <p:sp>
        <p:nvSpPr>
          <p:cNvPr name="Freeform 6" id="6"/>
          <p:cNvSpPr/>
          <p:nvPr/>
        </p:nvSpPr>
        <p:spPr>
          <a:xfrm flipH="false" flipV="false" rot="0">
            <a:off x="3908729" y="7693514"/>
            <a:ext cx="2895271" cy="1897825"/>
          </a:xfrm>
          <a:custGeom>
            <a:avLst/>
            <a:gdLst/>
            <a:ahLst/>
            <a:cxnLst/>
            <a:rect r="r" b="b" t="t" l="l"/>
            <a:pathLst>
              <a:path h="1897825" w="2895271">
                <a:moveTo>
                  <a:pt x="0" y="0"/>
                </a:moveTo>
                <a:lnTo>
                  <a:pt x="2895271" y="0"/>
                </a:lnTo>
                <a:lnTo>
                  <a:pt x="2895271" y="1897825"/>
                </a:lnTo>
                <a:lnTo>
                  <a:pt x="0" y="1897825"/>
                </a:lnTo>
                <a:lnTo>
                  <a:pt x="0" y="0"/>
                </a:lnTo>
                <a:close/>
              </a:path>
            </a:pathLst>
          </a:custGeom>
          <a:blipFill>
            <a:blip r:embed="rId6"/>
            <a:stretch>
              <a:fillRect l="-34659" t="0" r="-33415" b="0"/>
            </a:stretch>
          </a:blipFill>
        </p:spPr>
      </p:sp>
      <p:sp>
        <p:nvSpPr>
          <p:cNvPr name="Freeform 7" id="7"/>
          <p:cNvSpPr/>
          <p:nvPr/>
        </p:nvSpPr>
        <p:spPr>
          <a:xfrm flipH="false" flipV="false" rot="0">
            <a:off x="4733636" y="5692517"/>
            <a:ext cx="2070364" cy="1899857"/>
          </a:xfrm>
          <a:custGeom>
            <a:avLst/>
            <a:gdLst/>
            <a:ahLst/>
            <a:cxnLst/>
            <a:rect r="r" b="b" t="t" l="l"/>
            <a:pathLst>
              <a:path h="1899857" w="2070364">
                <a:moveTo>
                  <a:pt x="0" y="0"/>
                </a:moveTo>
                <a:lnTo>
                  <a:pt x="2070364" y="0"/>
                </a:lnTo>
                <a:lnTo>
                  <a:pt x="2070364" y="1899857"/>
                </a:lnTo>
                <a:lnTo>
                  <a:pt x="0" y="1899857"/>
                </a:lnTo>
                <a:lnTo>
                  <a:pt x="0" y="0"/>
                </a:lnTo>
                <a:close/>
              </a:path>
            </a:pathLst>
          </a:custGeom>
          <a:blipFill>
            <a:blip r:embed="rId7"/>
            <a:stretch>
              <a:fillRect l="-18226" t="0" r="-18226" b="0"/>
            </a:stretch>
          </a:blipFill>
        </p:spPr>
      </p:sp>
      <p:grpSp>
        <p:nvGrpSpPr>
          <p:cNvPr name="Group 8" id="8"/>
          <p:cNvGrpSpPr/>
          <p:nvPr/>
        </p:nvGrpSpPr>
        <p:grpSpPr>
          <a:xfrm rot="0">
            <a:off x="908400" y="908400"/>
            <a:ext cx="6377459" cy="1184908"/>
            <a:chOff x="0" y="0"/>
            <a:chExt cx="8503279" cy="1579878"/>
          </a:xfrm>
        </p:grpSpPr>
        <p:sp>
          <p:nvSpPr>
            <p:cNvPr name="TextBox 9" id="9"/>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Importance of </a:t>
              </a:r>
            </a:p>
            <a:p>
              <a:pPr algn="l">
                <a:lnSpc>
                  <a:spcPts val="5040"/>
                </a:lnSpc>
              </a:pPr>
              <a:r>
                <a:rPr lang="en-US" sz="3600" b="true">
                  <a:solidFill>
                    <a:srgbClr val="D20000"/>
                  </a:solidFill>
                  <a:latin typeface="Futura Ultra-Bold"/>
                  <a:ea typeface="Futura Ultra-Bold"/>
                  <a:cs typeface="Futura Ultra-Bold"/>
                  <a:sym typeface="Futura Ultra-Bold"/>
                </a:rPr>
                <a:t>Education Program</a:t>
              </a:r>
            </a:p>
          </p:txBody>
        </p:sp>
        <p:sp>
          <p:nvSpPr>
            <p:cNvPr name="TextBox 10" id="10"/>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1" id="11"/>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3200659" y="2267314"/>
            <a:ext cx="0" cy="3651967"/>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2267314"/>
            <a:ext cx="2325596" cy="2332950"/>
          </a:xfrm>
          <a:custGeom>
            <a:avLst/>
            <a:gdLst/>
            <a:ahLst/>
            <a:cxnLst/>
            <a:rect r="r" b="b" t="t" l="l"/>
            <a:pathLst>
              <a:path h="2332950" w="2325596">
                <a:moveTo>
                  <a:pt x="0" y="0"/>
                </a:moveTo>
                <a:lnTo>
                  <a:pt x="2325596" y="0"/>
                </a:lnTo>
                <a:lnTo>
                  <a:pt x="2325596" y="2332949"/>
                </a:lnTo>
                <a:lnTo>
                  <a:pt x="0" y="2332949"/>
                </a:lnTo>
                <a:lnTo>
                  <a:pt x="0" y="0"/>
                </a:lnTo>
                <a:close/>
              </a:path>
            </a:pathLst>
          </a:custGeom>
          <a:blipFill>
            <a:blip r:embed="rId2"/>
            <a:stretch>
              <a:fillRect l="-47203" t="0" r="-47203" b="-8767"/>
            </a:stretch>
          </a:blipFill>
        </p:spPr>
      </p:sp>
      <p:sp>
        <p:nvSpPr>
          <p:cNvPr name="Freeform 4" id="4"/>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3"/>
            <a:stretch>
              <a:fillRect l="0" t="-23425" r="-10196" b="-50291"/>
            </a:stretch>
          </a:blipFill>
        </p:spPr>
      </p:sp>
      <p:sp>
        <p:nvSpPr>
          <p:cNvPr name="Freeform 5" id="5"/>
          <p:cNvSpPr/>
          <p:nvPr/>
        </p:nvSpPr>
        <p:spPr>
          <a:xfrm flipH="false" flipV="false" rot="0">
            <a:off x="756000" y="4717907"/>
            <a:ext cx="2325596" cy="1201374"/>
          </a:xfrm>
          <a:custGeom>
            <a:avLst/>
            <a:gdLst/>
            <a:ahLst/>
            <a:cxnLst/>
            <a:rect r="r" b="b" t="t" l="l"/>
            <a:pathLst>
              <a:path h="1201374" w="2325596">
                <a:moveTo>
                  <a:pt x="0" y="0"/>
                </a:moveTo>
                <a:lnTo>
                  <a:pt x="2325596" y="0"/>
                </a:lnTo>
                <a:lnTo>
                  <a:pt x="2325596" y="1201374"/>
                </a:lnTo>
                <a:lnTo>
                  <a:pt x="0" y="1201374"/>
                </a:lnTo>
                <a:lnTo>
                  <a:pt x="0" y="0"/>
                </a:lnTo>
                <a:close/>
              </a:path>
            </a:pathLst>
          </a:custGeom>
          <a:blipFill>
            <a:blip r:embed="rId4"/>
            <a:stretch>
              <a:fillRect l="0" t="0" r="0" b="0"/>
            </a:stretch>
          </a:blipFill>
        </p:spPr>
      </p:sp>
      <p:sp>
        <p:nvSpPr>
          <p:cNvPr name="Freeform 6" id="6"/>
          <p:cNvSpPr/>
          <p:nvPr/>
        </p:nvSpPr>
        <p:spPr>
          <a:xfrm flipH="false" flipV="false" rot="0">
            <a:off x="3829436" y="6033581"/>
            <a:ext cx="2974564" cy="2097010"/>
          </a:xfrm>
          <a:custGeom>
            <a:avLst/>
            <a:gdLst/>
            <a:ahLst/>
            <a:cxnLst/>
            <a:rect r="r" b="b" t="t" l="l"/>
            <a:pathLst>
              <a:path h="2097010" w="2974564">
                <a:moveTo>
                  <a:pt x="0" y="0"/>
                </a:moveTo>
                <a:lnTo>
                  <a:pt x="2974564" y="0"/>
                </a:lnTo>
                <a:lnTo>
                  <a:pt x="2974564" y="2097010"/>
                </a:lnTo>
                <a:lnTo>
                  <a:pt x="0" y="2097010"/>
                </a:lnTo>
                <a:lnTo>
                  <a:pt x="0" y="0"/>
                </a:lnTo>
                <a:close/>
              </a:path>
            </a:pathLst>
          </a:custGeom>
          <a:blipFill>
            <a:blip r:embed="rId5"/>
            <a:stretch>
              <a:fillRect l="-21138" t="-8322" r="0" b="-8322"/>
            </a:stretch>
          </a:blipFill>
        </p:spPr>
      </p:sp>
      <p:sp>
        <p:nvSpPr>
          <p:cNvPr name="Freeform 7" id="7"/>
          <p:cNvSpPr/>
          <p:nvPr/>
        </p:nvSpPr>
        <p:spPr>
          <a:xfrm flipH="false" flipV="false" rot="0">
            <a:off x="3842363" y="8244891"/>
            <a:ext cx="2325596" cy="1965980"/>
          </a:xfrm>
          <a:custGeom>
            <a:avLst/>
            <a:gdLst/>
            <a:ahLst/>
            <a:cxnLst/>
            <a:rect r="r" b="b" t="t" l="l"/>
            <a:pathLst>
              <a:path h="1965980" w="2325596">
                <a:moveTo>
                  <a:pt x="0" y="0"/>
                </a:moveTo>
                <a:lnTo>
                  <a:pt x="2325597" y="0"/>
                </a:lnTo>
                <a:lnTo>
                  <a:pt x="2325597" y="1965980"/>
                </a:lnTo>
                <a:lnTo>
                  <a:pt x="0" y="1965980"/>
                </a:lnTo>
                <a:lnTo>
                  <a:pt x="0" y="0"/>
                </a:lnTo>
                <a:close/>
              </a:path>
            </a:pathLst>
          </a:custGeom>
          <a:blipFill>
            <a:blip r:embed="rId6"/>
            <a:stretch>
              <a:fillRect l="-27876" t="0" r="0" b="-13805"/>
            </a:stretch>
          </a:blipFill>
        </p:spPr>
      </p:sp>
      <p:sp>
        <p:nvSpPr>
          <p:cNvPr name="Freeform 8" id="8"/>
          <p:cNvSpPr/>
          <p:nvPr/>
        </p:nvSpPr>
        <p:spPr>
          <a:xfrm flipH="false" flipV="false" rot="0">
            <a:off x="756000" y="8051845"/>
            <a:ext cx="2982267" cy="2159026"/>
          </a:xfrm>
          <a:custGeom>
            <a:avLst/>
            <a:gdLst/>
            <a:ahLst/>
            <a:cxnLst/>
            <a:rect r="r" b="b" t="t" l="l"/>
            <a:pathLst>
              <a:path h="2159026" w="2982267">
                <a:moveTo>
                  <a:pt x="0" y="0"/>
                </a:moveTo>
                <a:lnTo>
                  <a:pt x="2982267" y="0"/>
                </a:lnTo>
                <a:lnTo>
                  <a:pt x="2982267" y="2159026"/>
                </a:lnTo>
                <a:lnTo>
                  <a:pt x="0" y="2159026"/>
                </a:lnTo>
                <a:lnTo>
                  <a:pt x="0" y="0"/>
                </a:lnTo>
                <a:close/>
              </a:path>
            </a:pathLst>
          </a:custGeom>
          <a:blipFill>
            <a:blip r:embed="rId7"/>
            <a:stretch>
              <a:fillRect l="-12214" t="-6181" r="-12214" b="0"/>
            </a:stretch>
          </a:blipFill>
        </p:spPr>
      </p:sp>
      <p:sp>
        <p:nvSpPr>
          <p:cNvPr name="Freeform 9" id="9"/>
          <p:cNvSpPr/>
          <p:nvPr/>
        </p:nvSpPr>
        <p:spPr>
          <a:xfrm flipH="false" flipV="false" rot="0">
            <a:off x="756000" y="6033581"/>
            <a:ext cx="2982267" cy="1915511"/>
          </a:xfrm>
          <a:custGeom>
            <a:avLst/>
            <a:gdLst/>
            <a:ahLst/>
            <a:cxnLst/>
            <a:rect r="r" b="b" t="t" l="l"/>
            <a:pathLst>
              <a:path h="1915511" w="2982267">
                <a:moveTo>
                  <a:pt x="0" y="0"/>
                </a:moveTo>
                <a:lnTo>
                  <a:pt x="2982267" y="0"/>
                </a:lnTo>
                <a:lnTo>
                  <a:pt x="2982267" y="1915511"/>
                </a:lnTo>
                <a:lnTo>
                  <a:pt x="0" y="1915511"/>
                </a:lnTo>
                <a:lnTo>
                  <a:pt x="0" y="0"/>
                </a:lnTo>
                <a:close/>
              </a:path>
            </a:pathLst>
          </a:custGeom>
          <a:blipFill>
            <a:blip r:embed="rId8"/>
            <a:stretch>
              <a:fillRect l="-14242" t="0" r="0" b="0"/>
            </a:stretch>
          </a:blipFill>
        </p:spPr>
      </p:sp>
      <p:sp>
        <p:nvSpPr>
          <p:cNvPr name="TextBox 10" id="10"/>
          <p:cNvSpPr txBox="true"/>
          <p:nvPr/>
        </p:nvSpPr>
        <p:spPr>
          <a:xfrm rot="0">
            <a:off x="3318907" y="2339786"/>
            <a:ext cx="3485093" cy="357949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a:t>
            </a:r>
          </a:p>
          <a:p>
            <a:pPr algn="just">
              <a:lnSpc>
                <a:spcPts val="1679"/>
              </a:lnSpc>
            </a:pPr>
            <a:r>
              <a:rPr lang="en-US" sz="1199">
                <a:solidFill>
                  <a:srgbClr val="000000"/>
                </a:solidFill>
                <a:latin typeface="Futura"/>
                <a:ea typeface="Futura"/>
                <a:cs typeface="Futura"/>
                <a:sym typeface="Futura"/>
              </a:rPr>
              <a:t> To empower women with the knowledge and skills to manage their personal and household finances effectively.</a:t>
            </a:r>
          </a:p>
          <a:p>
            <a:pPr algn="just">
              <a:lnSpc>
                <a:spcPts val="1679"/>
              </a:lnSpc>
            </a:pPr>
            <a:r>
              <a:rPr lang="en-US" sz="1199">
                <a:solidFill>
                  <a:srgbClr val="000000"/>
                </a:solidFill>
                <a:latin typeface="Futura"/>
                <a:ea typeface="Futura"/>
                <a:cs typeface="Futura"/>
                <a:sym typeface="Futura"/>
              </a:rPr>
              <a:t>Target Group:</a:t>
            </a:r>
          </a:p>
          <a:p>
            <a:pPr algn="just">
              <a:lnSpc>
                <a:spcPts val="1679"/>
              </a:lnSpc>
            </a:pPr>
            <a:r>
              <a:rPr lang="en-US" sz="1199">
                <a:solidFill>
                  <a:srgbClr val="000000"/>
                </a:solidFill>
                <a:latin typeface="Futura"/>
                <a:ea typeface="Futura"/>
                <a:cs typeface="Futura"/>
                <a:sym typeface="Futura"/>
              </a:rPr>
              <a:t> Women from rural and economically weaker sections of society.</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Conducting workshops on basic banking operations, savings, and budgeting.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Training sessions on the use of digital payment systems and financial planning.</a:t>
            </a:r>
          </a:p>
          <a:p>
            <a:pPr algn="just" marL="259080" indent="-129540" lvl="1">
              <a:lnSpc>
                <a:spcPts val="1679"/>
              </a:lnSpc>
              <a:buFont typeface="Arial"/>
              <a:buChar char="•"/>
            </a:pPr>
            <a:r>
              <a:rPr lang="en-US" sz="1199">
                <a:solidFill>
                  <a:srgbClr val="000000"/>
                </a:solidFill>
                <a:latin typeface="Futura"/>
                <a:ea typeface="Futura"/>
                <a:cs typeface="Futura"/>
                <a:sym typeface="Futura"/>
              </a:rPr>
              <a:t>Awa</a:t>
            </a:r>
            <a:r>
              <a:rPr lang="en-US" sz="1199">
                <a:solidFill>
                  <a:srgbClr val="000000"/>
                </a:solidFill>
                <a:latin typeface="Futura"/>
                <a:ea typeface="Futura"/>
                <a:cs typeface="Futura"/>
                <a:sym typeface="Futura"/>
              </a:rPr>
              <a:t>reness programs on government financial schemes and self-help group (SHG) benefits.</a:t>
            </a:r>
          </a:p>
          <a:p>
            <a:pPr algn="just" marL="259080" indent="-129540" lvl="1">
              <a:lnSpc>
                <a:spcPts val="1679"/>
              </a:lnSpc>
              <a:buFont typeface="Arial"/>
              <a:buChar char="•"/>
            </a:pPr>
            <a:r>
              <a:rPr lang="en-US" sz="1199">
                <a:solidFill>
                  <a:srgbClr val="000000"/>
                </a:solidFill>
                <a:latin typeface="Futura"/>
                <a:ea typeface="Futura"/>
                <a:cs typeface="Futura"/>
                <a:sym typeface="Futura"/>
              </a:rPr>
              <a:t>Encouraging women to develop entrepreneurial mindsets and manage small businesses efficiently.</a:t>
            </a:r>
          </a:p>
        </p:txBody>
      </p:sp>
      <p:grpSp>
        <p:nvGrpSpPr>
          <p:cNvPr name="Group 11" id="11"/>
          <p:cNvGrpSpPr/>
          <p:nvPr/>
        </p:nvGrpSpPr>
        <p:grpSpPr>
          <a:xfrm rot="0">
            <a:off x="756000" y="756000"/>
            <a:ext cx="6377459" cy="1184908"/>
            <a:chOff x="0" y="0"/>
            <a:chExt cx="8503279" cy="1579878"/>
          </a:xfrm>
        </p:grpSpPr>
        <p:sp>
          <p:nvSpPr>
            <p:cNvPr name="TextBox 12" id="12"/>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Financial Literacy for Women</a:t>
              </a:r>
            </a:p>
          </p:txBody>
        </p:sp>
        <p:sp>
          <p:nvSpPr>
            <p:cNvPr name="TextBox 13" id="13"/>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4" id="14"/>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00659" y="2267314"/>
            <a:ext cx="0" cy="5280270"/>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756000" y="2267314"/>
            <a:ext cx="2325596" cy="3676651"/>
          </a:xfrm>
          <a:custGeom>
            <a:avLst/>
            <a:gdLst/>
            <a:ahLst/>
            <a:cxnLst/>
            <a:rect r="r" b="b" t="t" l="l"/>
            <a:pathLst>
              <a:path h="3676651" w="2325596">
                <a:moveTo>
                  <a:pt x="0" y="0"/>
                </a:moveTo>
                <a:lnTo>
                  <a:pt x="2325596" y="0"/>
                </a:lnTo>
                <a:lnTo>
                  <a:pt x="2325596" y="3676651"/>
                </a:lnTo>
                <a:lnTo>
                  <a:pt x="0" y="3676651"/>
                </a:lnTo>
                <a:lnTo>
                  <a:pt x="0" y="0"/>
                </a:lnTo>
                <a:close/>
              </a:path>
            </a:pathLst>
          </a:custGeom>
          <a:blipFill>
            <a:blip r:embed="rId2"/>
            <a:stretch>
              <a:fillRect l="-11301" t="-3400" r="-11301" b="0"/>
            </a:stretch>
          </a:blipFill>
        </p:spPr>
      </p:sp>
      <p:sp>
        <p:nvSpPr>
          <p:cNvPr name="Freeform 4" id="4"/>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3"/>
            <a:stretch>
              <a:fillRect l="0" t="-23425" r="-10196" b="-50291"/>
            </a:stretch>
          </a:blipFill>
        </p:spPr>
      </p:sp>
      <p:sp>
        <p:nvSpPr>
          <p:cNvPr name="Freeform 5" id="5"/>
          <p:cNvSpPr/>
          <p:nvPr/>
        </p:nvSpPr>
        <p:spPr>
          <a:xfrm flipH="false" flipV="false" rot="0">
            <a:off x="756000" y="6025045"/>
            <a:ext cx="2325596" cy="1450538"/>
          </a:xfrm>
          <a:custGeom>
            <a:avLst/>
            <a:gdLst/>
            <a:ahLst/>
            <a:cxnLst/>
            <a:rect r="r" b="b" t="t" l="l"/>
            <a:pathLst>
              <a:path h="1450538" w="2325596">
                <a:moveTo>
                  <a:pt x="0" y="0"/>
                </a:moveTo>
                <a:lnTo>
                  <a:pt x="2325596" y="0"/>
                </a:lnTo>
                <a:lnTo>
                  <a:pt x="2325596" y="1450539"/>
                </a:lnTo>
                <a:lnTo>
                  <a:pt x="0" y="1450539"/>
                </a:lnTo>
                <a:lnTo>
                  <a:pt x="0" y="0"/>
                </a:lnTo>
                <a:close/>
              </a:path>
            </a:pathLst>
          </a:custGeom>
          <a:blipFill>
            <a:blip r:embed="rId4"/>
            <a:stretch>
              <a:fillRect l="-37092" t="-11357" r="0" b="-81989"/>
            </a:stretch>
          </a:blipFill>
        </p:spPr>
      </p:sp>
      <p:sp>
        <p:nvSpPr>
          <p:cNvPr name="TextBox 6" id="6"/>
          <p:cNvSpPr txBox="true"/>
          <p:nvPr/>
        </p:nvSpPr>
        <p:spPr>
          <a:xfrm rot="0">
            <a:off x="756000" y="7625870"/>
            <a:ext cx="6048000" cy="2310130"/>
          </a:xfrm>
          <a:prstGeom prst="rect">
            <a:avLst/>
          </a:prstGeom>
        </p:spPr>
        <p:txBody>
          <a:bodyPr anchor="t" rtlCol="false" tIns="0" lIns="0" bIns="0" rIns="0">
            <a:spAutoFit/>
          </a:bodyPr>
          <a:lstStyle/>
          <a:p>
            <a:pPr algn="just">
              <a:lnSpc>
                <a:spcPts val="1819"/>
              </a:lnSpc>
            </a:pPr>
            <a:r>
              <a:rPr lang="en-US" sz="1299" b="true">
                <a:solidFill>
                  <a:srgbClr val="000000"/>
                </a:solidFill>
                <a:latin typeface="Futura Bold"/>
                <a:ea typeface="Futura Bold"/>
                <a:cs typeface="Futura Bold"/>
                <a:sym typeface="Futura Bold"/>
              </a:rPr>
              <a:t>Dr. Fardeen Sheikh</a:t>
            </a:r>
            <a:r>
              <a:rPr lang="en-US" sz="1299">
                <a:solidFill>
                  <a:srgbClr val="000000"/>
                </a:solidFill>
                <a:latin typeface="Futura"/>
                <a:ea typeface="Futura"/>
                <a:cs typeface="Futura"/>
                <a:sym typeface="Futura"/>
              </a:rPr>
              <a:t> is a compassionate young doctor dedicated to serving humanity through his medical expertise. In collaboration with Munawwar Foundation, he provides free medical consultations and treatment to underprivileged and needy patients. His commitment reflects a true spirit of social responsibility and empathy. Dr. Sheikh believes that quality healthcare should be accessible to all, regardless of financial status. Through his selfless service, he brings hope and healing to countless lives. His voluntary efforts have made a remarkable difference in the community. </a:t>
            </a:r>
          </a:p>
          <a:p>
            <a:pPr algn="just">
              <a:lnSpc>
                <a:spcPts val="1819"/>
              </a:lnSpc>
            </a:pPr>
            <a:r>
              <a:rPr lang="en-US" sz="1299">
                <a:solidFill>
                  <a:srgbClr val="000000"/>
                </a:solidFill>
                <a:latin typeface="Futura"/>
                <a:ea typeface="Futura"/>
                <a:cs typeface="Futura"/>
                <a:sym typeface="Futura"/>
              </a:rPr>
              <a:t>The initiative not only promotes better health but also spreads awareness about preventive care. Munawwar Foundation deeply values his noble </a:t>
            </a:r>
          </a:p>
          <a:p>
            <a:pPr algn="just">
              <a:lnSpc>
                <a:spcPts val="1819"/>
              </a:lnSpc>
            </a:pPr>
            <a:r>
              <a:rPr lang="en-US" sz="1299">
                <a:solidFill>
                  <a:srgbClr val="000000"/>
                </a:solidFill>
                <a:latin typeface="Futura"/>
                <a:ea typeface="Futura"/>
                <a:cs typeface="Futura"/>
                <a:sym typeface="Futura"/>
              </a:rPr>
              <a:t>contribution and dedication to social welfare.</a:t>
            </a:r>
          </a:p>
        </p:txBody>
      </p:sp>
      <p:grpSp>
        <p:nvGrpSpPr>
          <p:cNvPr name="Group 7" id="7"/>
          <p:cNvGrpSpPr/>
          <p:nvPr/>
        </p:nvGrpSpPr>
        <p:grpSpPr>
          <a:xfrm rot="0">
            <a:off x="756000" y="756000"/>
            <a:ext cx="6377459" cy="1184908"/>
            <a:chOff x="0" y="0"/>
            <a:chExt cx="8503279" cy="1579878"/>
          </a:xfrm>
        </p:grpSpPr>
        <p:sp>
          <p:nvSpPr>
            <p:cNvPr name="TextBox 8" id="8"/>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Healthcare </a:t>
              </a:r>
            </a:p>
            <a:p>
              <a:pPr algn="l">
                <a:lnSpc>
                  <a:spcPts val="5040"/>
                </a:lnSpc>
              </a:pPr>
              <a:r>
                <a:rPr lang="en-US" sz="3600" b="true">
                  <a:solidFill>
                    <a:srgbClr val="D20000"/>
                  </a:solidFill>
                  <a:latin typeface="Futura Ultra-Bold"/>
                  <a:ea typeface="Futura Ultra-Bold"/>
                  <a:cs typeface="Futura Ultra-Bold"/>
                  <a:sym typeface="Futura Ultra-Bold"/>
                </a:rPr>
                <a:t>Support Initiative</a:t>
              </a:r>
            </a:p>
          </p:txBody>
        </p:sp>
        <p:sp>
          <p:nvSpPr>
            <p:cNvPr name="TextBox 9" id="9"/>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0" id="10"/>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
        <p:nvSpPr>
          <p:cNvPr name="TextBox 11" id="11"/>
          <p:cNvSpPr txBox="true"/>
          <p:nvPr/>
        </p:nvSpPr>
        <p:spPr>
          <a:xfrm rot="0">
            <a:off x="3318907" y="2291689"/>
            <a:ext cx="3485093" cy="525589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a:t>
            </a:r>
          </a:p>
          <a:p>
            <a:pPr algn="just">
              <a:lnSpc>
                <a:spcPts val="1679"/>
              </a:lnSpc>
            </a:pPr>
            <a:r>
              <a:rPr lang="en-US" sz="1199">
                <a:solidFill>
                  <a:srgbClr val="000000"/>
                </a:solidFill>
                <a:latin typeface="Futura"/>
                <a:ea typeface="Futura"/>
                <a:cs typeface="Futura"/>
                <a:sym typeface="Futura"/>
              </a:rPr>
              <a:t> To ensure timely medical assistance and healthcare support for underprivileged individuals through direct collaboration with doctors and clinics.</a:t>
            </a:r>
          </a:p>
          <a:p>
            <a:pPr algn="just">
              <a:lnSpc>
                <a:spcPts val="1679"/>
              </a:lnSpc>
            </a:pPr>
            <a:r>
              <a:rPr lang="en-US" sz="1199">
                <a:solidFill>
                  <a:srgbClr val="000000"/>
                </a:solidFill>
                <a:latin typeface="Futura"/>
                <a:ea typeface="Futura"/>
                <a:cs typeface="Futura"/>
                <a:sym typeface="Futura"/>
              </a:rPr>
              <a:t>Target Group:</a:t>
            </a:r>
          </a:p>
          <a:p>
            <a:pPr algn="just">
              <a:lnSpc>
                <a:spcPts val="1679"/>
              </a:lnSpc>
            </a:pPr>
            <a:r>
              <a:rPr lang="en-US" sz="1199">
                <a:solidFill>
                  <a:srgbClr val="000000"/>
                </a:solidFill>
                <a:latin typeface="Futura"/>
                <a:ea typeface="Futura"/>
                <a:cs typeface="Futura"/>
                <a:sym typeface="Futura"/>
              </a:rPr>
              <a:t> Economically disadvantaged individuals, elderly persons, and those unable to afford medical treatment.</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Identifying patients in need of medical attention and referring them to partner doctors or clinics for consultation and treatment.</a:t>
            </a:r>
          </a:p>
          <a:p>
            <a:pPr algn="just" marL="259080" indent="-129540" lvl="1">
              <a:lnSpc>
                <a:spcPts val="1679"/>
              </a:lnSpc>
              <a:buFont typeface="Arial"/>
              <a:buChar char="•"/>
            </a:pPr>
            <a:r>
              <a:rPr lang="en-US" sz="1199">
                <a:solidFill>
                  <a:srgbClr val="000000"/>
                </a:solidFill>
                <a:latin typeface="Futura"/>
                <a:ea typeface="Futura"/>
                <a:cs typeface="Futura"/>
                <a:sym typeface="Futura"/>
              </a:rPr>
              <a:t>Collaborating with medical professionals to provide subsidized or free healthcare services.</a:t>
            </a:r>
          </a:p>
          <a:p>
            <a:pPr algn="just" marL="259080" indent="-129540" lvl="1">
              <a:lnSpc>
                <a:spcPts val="1679"/>
              </a:lnSpc>
              <a:buFont typeface="Arial"/>
              <a:buChar char="•"/>
            </a:pPr>
            <a:r>
              <a:rPr lang="en-US" sz="1199">
                <a:solidFill>
                  <a:srgbClr val="000000"/>
                </a:solidFill>
                <a:latin typeface="Futura"/>
                <a:ea typeface="Futura"/>
                <a:cs typeface="Futura"/>
                <a:sym typeface="Futura"/>
              </a:rPr>
              <a:t>Supplying essential medicines and supporting follow-up care when required.</a:t>
            </a:r>
          </a:p>
          <a:p>
            <a:pPr algn="just" marL="259080" indent="-129540" lvl="1">
              <a:lnSpc>
                <a:spcPts val="1679"/>
              </a:lnSpc>
              <a:buFont typeface="Arial"/>
              <a:buChar char="•"/>
            </a:pPr>
            <a:r>
              <a:rPr lang="en-US" sz="1199">
                <a:solidFill>
                  <a:srgbClr val="000000"/>
                </a:solidFill>
                <a:latin typeface="Futura"/>
                <a:ea typeface="Futura"/>
                <a:cs typeface="Futura"/>
                <a:sym typeface="Futura"/>
              </a:rPr>
              <a:t>Raising awareness about preventive health practices and the importance of timely medical check-ups.</a:t>
            </a:r>
          </a:p>
          <a:p>
            <a:pPr algn="just">
              <a:lnSpc>
                <a:spcPts val="1679"/>
              </a:lnSpc>
            </a:pPr>
            <a:r>
              <a:rPr lang="en-US" sz="1199">
                <a:solidFill>
                  <a:srgbClr val="000000"/>
                </a:solidFill>
                <a:latin typeface="Futura"/>
                <a:ea typeface="Futura"/>
                <a:cs typeface="Futura"/>
                <a:sym typeface="Futura"/>
              </a:rPr>
              <a:t>Expected Outcome:</a:t>
            </a:r>
          </a:p>
          <a:p>
            <a:pPr algn="just">
              <a:lnSpc>
                <a:spcPts val="1679"/>
              </a:lnSpc>
            </a:pPr>
            <a:r>
              <a:rPr lang="en-US" sz="1199">
                <a:solidFill>
                  <a:srgbClr val="000000"/>
                </a:solidFill>
                <a:latin typeface="Futura"/>
                <a:ea typeface="Futura"/>
                <a:cs typeface="Futura"/>
                <a:sym typeface="Futura"/>
              </a:rPr>
              <a:t> Better access to medical treatment for the needy, improved health outcomes through early intervention, and strengthened collaboration between the Foundation and healthcare professionals for community welfare.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6000" y="2267314"/>
            <a:ext cx="2397668" cy="2514765"/>
          </a:xfrm>
          <a:custGeom>
            <a:avLst/>
            <a:gdLst/>
            <a:ahLst/>
            <a:cxnLst/>
            <a:rect r="r" b="b" t="t" l="l"/>
            <a:pathLst>
              <a:path h="2514765" w="2397668">
                <a:moveTo>
                  <a:pt x="0" y="0"/>
                </a:moveTo>
                <a:lnTo>
                  <a:pt x="2397668" y="0"/>
                </a:lnTo>
                <a:lnTo>
                  <a:pt x="2397668" y="2514764"/>
                </a:lnTo>
                <a:lnTo>
                  <a:pt x="0" y="2514764"/>
                </a:lnTo>
                <a:lnTo>
                  <a:pt x="0" y="0"/>
                </a:lnTo>
                <a:close/>
              </a:path>
            </a:pathLst>
          </a:custGeom>
          <a:blipFill>
            <a:blip r:embed="rId2"/>
            <a:stretch>
              <a:fillRect l="-1673" t="-687" r="0" b="-687"/>
            </a:stretch>
          </a:blipFill>
        </p:spPr>
      </p:sp>
      <p:sp>
        <p:nvSpPr>
          <p:cNvPr name="Freeform 3" id="3"/>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3"/>
            <a:stretch>
              <a:fillRect l="0" t="-23425" r="-10196" b="-50291"/>
            </a:stretch>
          </a:blipFill>
        </p:spPr>
      </p:sp>
      <p:sp>
        <p:nvSpPr>
          <p:cNvPr name="Freeform 4" id="4"/>
          <p:cNvSpPr/>
          <p:nvPr/>
        </p:nvSpPr>
        <p:spPr>
          <a:xfrm flipH="false" flipV="false" rot="0">
            <a:off x="756000" y="4847390"/>
            <a:ext cx="2397668" cy="2584875"/>
          </a:xfrm>
          <a:custGeom>
            <a:avLst/>
            <a:gdLst/>
            <a:ahLst/>
            <a:cxnLst/>
            <a:rect r="r" b="b" t="t" l="l"/>
            <a:pathLst>
              <a:path h="2584875" w="2397668">
                <a:moveTo>
                  <a:pt x="0" y="0"/>
                </a:moveTo>
                <a:lnTo>
                  <a:pt x="2397668" y="0"/>
                </a:lnTo>
                <a:lnTo>
                  <a:pt x="2397668" y="2584875"/>
                </a:lnTo>
                <a:lnTo>
                  <a:pt x="0" y="2584875"/>
                </a:lnTo>
                <a:lnTo>
                  <a:pt x="0" y="0"/>
                </a:lnTo>
                <a:close/>
              </a:path>
            </a:pathLst>
          </a:custGeom>
          <a:blipFill>
            <a:blip r:embed="rId4"/>
            <a:stretch>
              <a:fillRect l="-19348" t="0" r="-16258" b="0"/>
            </a:stretch>
          </a:blipFill>
        </p:spPr>
      </p:sp>
      <p:sp>
        <p:nvSpPr>
          <p:cNvPr name="Freeform 5" id="5"/>
          <p:cNvSpPr/>
          <p:nvPr/>
        </p:nvSpPr>
        <p:spPr>
          <a:xfrm flipH="false" flipV="false" rot="0">
            <a:off x="3268955" y="2267314"/>
            <a:ext cx="3765630" cy="2514765"/>
          </a:xfrm>
          <a:custGeom>
            <a:avLst/>
            <a:gdLst/>
            <a:ahLst/>
            <a:cxnLst/>
            <a:rect r="r" b="b" t="t" l="l"/>
            <a:pathLst>
              <a:path h="2514765" w="3765630">
                <a:moveTo>
                  <a:pt x="0" y="0"/>
                </a:moveTo>
                <a:lnTo>
                  <a:pt x="3765631" y="0"/>
                </a:lnTo>
                <a:lnTo>
                  <a:pt x="3765631" y="2514764"/>
                </a:lnTo>
                <a:lnTo>
                  <a:pt x="0" y="2514764"/>
                </a:lnTo>
                <a:lnTo>
                  <a:pt x="0" y="0"/>
                </a:lnTo>
                <a:close/>
              </a:path>
            </a:pathLst>
          </a:custGeom>
          <a:blipFill>
            <a:blip r:embed="rId5"/>
            <a:stretch>
              <a:fillRect l="0" t="-6326" r="0" b="-10753"/>
            </a:stretch>
          </a:blipFill>
        </p:spPr>
      </p:sp>
      <p:sp>
        <p:nvSpPr>
          <p:cNvPr name="Freeform 6" id="6"/>
          <p:cNvSpPr/>
          <p:nvPr/>
        </p:nvSpPr>
        <p:spPr>
          <a:xfrm flipH="false" flipV="false" rot="0">
            <a:off x="3268955" y="4847390"/>
            <a:ext cx="3765630" cy="2584875"/>
          </a:xfrm>
          <a:custGeom>
            <a:avLst/>
            <a:gdLst/>
            <a:ahLst/>
            <a:cxnLst/>
            <a:rect r="r" b="b" t="t" l="l"/>
            <a:pathLst>
              <a:path h="2584875" w="3765630">
                <a:moveTo>
                  <a:pt x="0" y="0"/>
                </a:moveTo>
                <a:lnTo>
                  <a:pt x="3765631" y="0"/>
                </a:lnTo>
                <a:lnTo>
                  <a:pt x="3765631" y="2584875"/>
                </a:lnTo>
                <a:lnTo>
                  <a:pt x="0" y="2584875"/>
                </a:lnTo>
                <a:lnTo>
                  <a:pt x="0" y="0"/>
                </a:lnTo>
                <a:close/>
              </a:path>
            </a:pathLst>
          </a:custGeom>
          <a:blipFill>
            <a:blip r:embed="rId6"/>
            <a:stretch>
              <a:fillRect l="0" t="0" r="0" b="-8660"/>
            </a:stretch>
          </a:blipFill>
        </p:spPr>
      </p:sp>
      <p:sp>
        <p:nvSpPr>
          <p:cNvPr name="Freeform 7" id="7"/>
          <p:cNvSpPr/>
          <p:nvPr/>
        </p:nvSpPr>
        <p:spPr>
          <a:xfrm flipH="false" flipV="false" rot="0">
            <a:off x="756000" y="7498940"/>
            <a:ext cx="5311418" cy="2437060"/>
          </a:xfrm>
          <a:custGeom>
            <a:avLst/>
            <a:gdLst/>
            <a:ahLst/>
            <a:cxnLst/>
            <a:rect r="r" b="b" t="t" l="l"/>
            <a:pathLst>
              <a:path h="2437060" w="5311418">
                <a:moveTo>
                  <a:pt x="0" y="0"/>
                </a:moveTo>
                <a:lnTo>
                  <a:pt x="5311418" y="0"/>
                </a:lnTo>
                <a:lnTo>
                  <a:pt x="5311418" y="2437060"/>
                </a:lnTo>
                <a:lnTo>
                  <a:pt x="0" y="2437060"/>
                </a:lnTo>
                <a:lnTo>
                  <a:pt x="0" y="0"/>
                </a:lnTo>
                <a:close/>
              </a:path>
            </a:pathLst>
          </a:custGeom>
          <a:blipFill>
            <a:blip r:embed="rId7"/>
            <a:stretch>
              <a:fillRect l="0" t="-40882" r="0" b="-22574"/>
            </a:stretch>
          </a:blipFill>
        </p:spPr>
      </p:sp>
      <p:grpSp>
        <p:nvGrpSpPr>
          <p:cNvPr name="Group 8" id="8"/>
          <p:cNvGrpSpPr/>
          <p:nvPr/>
        </p:nvGrpSpPr>
        <p:grpSpPr>
          <a:xfrm rot="0">
            <a:off x="756000" y="756000"/>
            <a:ext cx="6377459" cy="1184908"/>
            <a:chOff x="0" y="0"/>
            <a:chExt cx="8503279" cy="1579878"/>
          </a:xfrm>
        </p:grpSpPr>
        <p:sp>
          <p:nvSpPr>
            <p:cNvPr name="TextBox 9" id="9"/>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Healthcare </a:t>
              </a:r>
            </a:p>
            <a:p>
              <a:pPr algn="l">
                <a:lnSpc>
                  <a:spcPts val="5040"/>
                </a:lnSpc>
              </a:pPr>
              <a:r>
                <a:rPr lang="en-US" sz="3600" b="true">
                  <a:solidFill>
                    <a:srgbClr val="D20000"/>
                  </a:solidFill>
                  <a:latin typeface="Futura Ultra-Bold"/>
                  <a:ea typeface="Futura Ultra-Bold"/>
                  <a:cs typeface="Futura Ultra-Bold"/>
                  <a:sym typeface="Futura Ultra-Bold"/>
                </a:rPr>
                <a:t>Support Initiative</a:t>
              </a:r>
            </a:p>
          </p:txBody>
        </p:sp>
        <p:sp>
          <p:nvSpPr>
            <p:cNvPr name="TextBox 10" id="10"/>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1" id="11"/>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2"/>
            <a:stretch>
              <a:fillRect l="0" t="-23425" r="-10196" b="-50291"/>
            </a:stretch>
          </a:blipFill>
        </p:spPr>
      </p:sp>
      <p:sp>
        <p:nvSpPr>
          <p:cNvPr name="Freeform 3" id="3"/>
          <p:cNvSpPr/>
          <p:nvPr/>
        </p:nvSpPr>
        <p:spPr>
          <a:xfrm flipH="false" flipV="false" rot="0">
            <a:off x="908400" y="2426683"/>
            <a:ext cx="5985971" cy="4069863"/>
          </a:xfrm>
          <a:custGeom>
            <a:avLst/>
            <a:gdLst/>
            <a:ahLst/>
            <a:cxnLst/>
            <a:rect r="r" b="b" t="t" l="l"/>
            <a:pathLst>
              <a:path h="4069863" w="5985971">
                <a:moveTo>
                  <a:pt x="0" y="0"/>
                </a:moveTo>
                <a:lnTo>
                  <a:pt x="5985971" y="0"/>
                </a:lnTo>
                <a:lnTo>
                  <a:pt x="5985971" y="4069863"/>
                </a:lnTo>
                <a:lnTo>
                  <a:pt x="0" y="4069863"/>
                </a:lnTo>
                <a:lnTo>
                  <a:pt x="0" y="0"/>
                </a:lnTo>
                <a:close/>
              </a:path>
            </a:pathLst>
          </a:custGeom>
          <a:blipFill>
            <a:blip r:embed="rId3"/>
            <a:stretch>
              <a:fillRect l="0" t="-35547" r="0" b="-60560"/>
            </a:stretch>
          </a:blipFill>
        </p:spPr>
      </p:sp>
      <p:sp>
        <p:nvSpPr>
          <p:cNvPr name="Freeform 4" id="4"/>
          <p:cNvSpPr/>
          <p:nvPr/>
        </p:nvSpPr>
        <p:spPr>
          <a:xfrm flipH="false" flipV="false" rot="0">
            <a:off x="908400" y="6579174"/>
            <a:ext cx="2250774" cy="1675808"/>
          </a:xfrm>
          <a:custGeom>
            <a:avLst/>
            <a:gdLst/>
            <a:ahLst/>
            <a:cxnLst/>
            <a:rect r="r" b="b" t="t" l="l"/>
            <a:pathLst>
              <a:path h="1675808" w="2250774">
                <a:moveTo>
                  <a:pt x="0" y="0"/>
                </a:moveTo>
                <a:lnTo>
                  <a:pt x="2250774" y="0"/>
                </a:lnTo>
                <a:lnTo>
                  <a:pt x="2250774" y="1675808"/>
                </a:lnTo>
                <a:lnTo>
                  <a:pt x="0" y="1675808"/>
                </a:lnTo>
                <a:lnTo>
                  <a:pt x="0" y="0"/>
                </a:lnTo>
                <a:close/>
              </a:path>
            </a:pathLst>
          </a:custGeom>
          <a:blipFill>
            <a:blip r:embed="rId4"/>
            <a:stretch>
              <a:fillRect l="-39336" t="-46228" r="-20262" b="-14539"/>
            </a:stretch>
          </a:blipFill>
        </p:spPr>
      </p:sp>
      <p:sp>
        <p:nvSpPr>
          <p:cNvPr name="Freeform 5" id="5"/>
          <p:cNvSpPr/>
          <p:nvPr/>
        </p:nvSpPr>
        <p:spPr>
          <a:xfrm flipH="false" flipV="false" rot="0">
            <a:off x="3240254" y="6579174"/>
            <a:ext cx="3659319" cy="2247582"/>
          </a:xfrm>
          <a:custGeom>
            <a:avLst/>
            <a:gdLst/>
            <a:ahLst/>
            <a:cxnLst/>
            <a:rect r="r" b="b" t="t" l="l"/>
            <a:pathLst>
              <a:path h="2247582" w="3659319">
                <a:moveTo>
                  <a:pt x="0" y="0"/>
                </a:moveTo>
                <a:lnTo>
                  <a:pt x="3659319" y="0"/>
                </a:lnTo>
                <a:lnTo>
                  <a:pt x="3659319" y="2247581"/>
                </a:lnTo>
                <a:lnTo>
                  <a:pt x="0" y="2247581"/>
                </a:lnTo>
                <a:lnTo>
                  <a:pt x="0" y="0"/>
                </a:lnTo>
                <a:close/>
              </a:path>
            </a:pathLst>
          </a:custGeom>
          <a:blipFill>
            <a:blip r:embed="rId5"/>
            <a:stretch>
              <a:fillRect l="0" t="-20104" r="0" b="-2004"/>
            </a:stretch>
          </a:blipFill>
        </p:spPr>
      </p:sp>
      <p:sp>
        <p:nvSpPr>
          <p:cNvPr name="Freeform 6" id="6"/>
          <p:cNvSpPr/>
          <p:nvPr/>
        </p:nvSpPr>
        <p:spPr>
          <a:xfrm flipH="false" flipV="false" rot="0">
            <a:off x="905447" y="8340707"/>
            <a:ext cx="2253726" cy="1870164"/>
          </a:xfrm>
          <a:custGeom>
            <a:avLst/>
            <a:gdLst/>
            <a:ahLst/>
            <a:cxnLst/>
            <a:rect r="r" b="b" t="t" l="l"/>
            <a:pathLst>
              <a:path h="1870164" w="2253726">
                <a:moveTo>
                  <a:pt x="0" y="0"/>
                </a:moveTo>
                <a:lnTo>
                  <a:pt x="2253727" y="0"/>
                </a:lnTo>
                <a:lnTo>
                  <a:pt x="2253727" y="1870164"/>
                </a:lnTo>
                <a:lnTo>
                  <a:pt x="0" y="1870164"/>
                </a:lnTo>
                <a:lnTo>
                  <a:pt x="0" y="0"/>
                </a:lnTo>
                <a:close/>
              </a:path>
            </a:pathLst>
          </a:custGeom>
          <a:blipFill>
            <a:blip r:embed="rId6"/>
            <a:stretch>
              <a:fillRect l="-33526" t="-18301" r="-31233" b="-30611"/>
            </a:stretch>
          </a:blipFill>
        </p:spPr>
      </p:sp>
      <p:grpSp>
        <p:nvGrpSpPr>
          <p:cNvPr name="Group 7" id="7"/>
          <p:cNvGrpSpPr/>
          <p:nvPr/>
        </p:nvGrpSpPr>
        <p:grpSpPr>
          <a:xfrm rot="0">
            <a:off x="908400" y="908400"/>
            <a:ext cx="6377459" cy="1184908"/>
            <a:chOff x="0" y="0"/>
            <a:chExt cx="8503279" cy="1579878"/>
          </a:xfrm>
        </p:grpSpPr>
        <p:sp>
          <p:nvSpPr>
            <p:cNvPr name="TextBox 8" id="8"/>
            <p:cNvSpPr txBox="true"/>
            <p:nvPr/>
          </p:nvSpPr>
          <p:spPr>
            <a:xfrm rot="0">
              <a:off x="0" y="-142875"/>
              <a:ext cx="8503279" cy="17227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Healthcare </a:t>
              </a:r>
            </a:p>
            <a:p>
              <a:pPr algn="l">
                <a:lnSpc>
                  <a:spcPts val="5040"/>
                </a:lnSpc>
              </a:pPr>
              <a:r>
                <a:rPr lang="en-US" sz="3600" b="true">
                  <a:solidFill>
                    <a:srgbClr val="D20000"/>
                  </a:solidFill>
                  <a:latin typeface="Futura Ultra-Bold"/>
                  <a:ea typeface="Futura Ultra-Bold"/>
                  <a:cs typeface="Futura Ultra-Bold"/>
                  <a:sym typeface="Futura Ultra-Bold"/>
                </a:rPr>
                <a:t>Support Initiative</a:t>
              </a:r>
            </a:p>
          </p:txBody>
        </p:sp>
        <p:sp>
          <p:nvSpPr>
            <p:cNvPr name="TextBox 9" id="9"/>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0" id="10"/>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3200659" y="2652383"/>
            <a:ext cx="0" cy="4268520"/>
          </a:xfrm>
          <a:prstGeom prst="line">
            <a:avLst/>
          </a:prstGeom>
          <a:ln cap="rnd" w="28575">
            <a:solidFill>
              <a:srgbClr val="000000"/>
            </a:solidFill>
            <a:prstDash val="solid"/>
            <a:headEnd type="none" len="sm" w="sm"/>
            <a:tailEnd type="none" len="sm" w="sm"/>
          </a:ln>
        </p:spPr>
      </p:sp>
      <p:sp>
        <p:nvSpPr>
          <p:cNvPr name="Freeform 3" id="3"/>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2"/>
            <a:stretch>
              <a:fillRect l="0" t="-23425" r="-10196" b="-50291"/>
            </a:stretch>
          </a:blipFill>
        </p:spPr>
      </p:sp>
      <p:sp>
        <p:nvSpPr>
          <p:cNvPr name="Freeform 4" id="4"/>
          <p:cNvSpPr/>
          <p:nvPr/>
        </p:nvSpPr>
        <p:spPr>
          <a:xfrm flipH="false" flipV="false" rot="0">
            <a:off x="703633" y="2652383"/>
            <a:ext cx="2377963" cy="3139225"/>
          </a:xfrm>
          <a:custGeom>
            <a:avLst/>
            <a:gdLst/>
            <a:ahLst/>
            <a:cxnLst/>
            <a:rect r="r" b="b" t="t" l="l"/>
            <a:pathLst>
              <a:path h="3139225" w="2377963">
                <a:moveTo>
                  <a:pt x="0" y="0"/>
                </a:moveTo>
                <a:lnTo>
                  <a:pt x="2377963" y="0"/>
                </a:lnTo>
                <a:lnTo>
                  <a:pt x="2377963" y="3139225"/>
                </a:lnTo>
                <a:lnTo>
                  <a:pt x="0" y="3139225"/>
                </a:lnTo>
                <a:lnTo>
                  <a:pt x="0" y="0"/>
                </a:lnTo>
                <a:close/>
              </a:path>
            </a:pathLst>
          </a:custGeom>
          <a:blipFill>
            <a:blip r:embed="rId3"/>
            <a:stretch>
              <a:fillRect l="0" t="0" r="0" b="0"/>
            </a:stretch>
          </a:blipFill>
        </p:spPr>
      </p:sp>
      <p:sp>
        <p:nvSpPr>
          <p:cNvPr name="Freeform 5" id="5"/>
          <p:cNvSpPr/>
          <p:nvPr/>
        </p:nvSpPr>
        <p:spPr>
          <a:xfrm flipH="false" flipV="false" rot="0">
            <a:off x="756000" y="7069103"/>
            <a:ext cx="1661539" cy="2326590"/>
          </a:xfrm>
          <a:custGeom>
            <a:avLst/>
            <a:gdLst/>
            <a:ahLst/>
            <a:cxnLst/>
            <a:rect r="r" b="b" t="t" l="l"/>
            <a:pathLst>
              <a:path h="2326590" w="1661539">
                <a:moveTo>
                  <a:pt x="0" y="0"/>
                </a:moveTo>
                <a:lnTo>
                  <a:pt x="1661539" y="0"/>
                </a:lnTo>
                <a:lnTo>
                  <a:pt x="1661539" y="2326590"/>
                </a:lnTo>
                <a:lnTo>
                  <a:pt x="0" y="2326590"/>
                </a:lnTo>
                <a:lnTo>
                  <a:pt x="0" y="0"/>
                </a:lnTo>
                <a:close/>
              </a:path>
            </a:pathLst>
          </a:custGeom>
          <a:blipFill>
            <a:blip r:embed="rId4"/>
            <a:stretch>
              <a:fillRect l="-5756" t="-3094" r="-5756" b="-1980"/>
            </a:stretch>
          </a:blipFill>
        </p:spPr>
      </p:sp>
      <p:sp>
        <p:nvSpPr>
          <p:cNvPr name="Freeform 6" id="6"/>
          <p:cNvSpPr/>
          <p:nvPr/>
        </p:nvSpPr>
        <p:spPr>
          <a:xfrm flipH="false" flipV="false" rot="0">
            <a:off x="756000" y="5830781"/>
            <a:ext cx="2325596" cy="1090122"/>
          </a:xfrm>
          <a:custGeom>
            <a:avLst/>
            <a:gdLst/>
            <a:ahLst/>
            <a:cxnLst/>
            <a:rect r="r" b="b" t="t" l="l"/>
            <a:pathLst>
              <a:path h="1090122" w="2325596">
                <a:moveTo>
                  <a:pt x="0" y="0"/>
                </a:moveTo>
                <a:lnTo>
                  <a:pt x="2325596" y="0"/>
                </a:lnTo>
                <a:lnTo>
                  <a:pt x="2325596" y="1090122"/>
                </a:lnTo>
                <a:lnTo>
                  <a:pt x="0" y="1090122"/>
                </a:lnTo>
                <a:lnTo>
                  <a:pt x="0" y="0"/>
                </a:lnTo>
                <a:close/>
              </a:path>
            </a:pathLst>
          </a:custGeom>
          <a:blipFill>
            <a:blip r:embed="rId5"/>
            <a:stretch>
              <a:fillRect l="-3041" t="-5948" r="-3295" b="-193361"/>
            </a:stretch>
          </a:blipFill>
        </p:spPr>
      </p:sp>
      <p:sp>
        <p:nvSpPr>
          <p:cNvPr name="Freeform 7" id="7"/>
          <p:cNvSpPr/>
          <p:nvPr/>
        </p:nvSpPr>
        <p:spPr>
          <a:xfrm flipH="false" flipV="false" rot="-5400000">
            <a:off x="3728094" y="7285738"/>
            <a:ext cx="1530828" cy="1097556"/>
          </a:xfrm>
          <a:custGeom>
            <a:avLst/>
            <a:gdLst/>
            <a:ahLst/>
            <a:cxnLst/>
            <a:rect r="r" b="b" t="t" l="l"/>
            <a:pathLst>
              <a:path h="1097556" w="1530828">
                <a:moveTo>
                  <a:pt x="0" y="0"/>
                </a:moveTo>
                <a:lnTo>
                  <a:pt x="1530827" y="0"/>
                </a:lnTo>
                <a:lnTo>
                  <a:pt x="1530827" y="1097557"/>
                </a:lnTo>
                <a:lnTo>
                  <a:pt x="0" y="1097557"/>
                </a:lnTo>
                <a:lnTo>
                  <a:pt x="0" y="0"/>
                </a:lnTo>
                <a:close/>
              </a:path>
            </a:pathLst>
          </a:custGeom>
          <a:blipFill>
            <a:blip r:embed="rId6"/>
            <a:stretch>
              <a:fillRect l="0" t="-12148" r="-5074" b="-12148"/>
            </a:stretch>
          </a:blipFill>
        </p:spPr>
      </p:sp>
      <p:sp>
        <p:nvSpPr>
          <p:cNvPr name="Freeform 8" id="8"/>
          <p:cNvSpPr/>
          <p:nvPr/>
        </p:nvSpPr>
        <p:spPr>
          <a:xfrm flipH="false" flipV="false" rot="0">
            <a:off x="5059525" y="7029615"/>
            <a:ext cx="1744475" cy="2326590"/>
          </a:xfrm>
          <a:custGeom>
            <a:avLst/>
            <a:gdLst/>
            <a:ahLst/>
            <a:cxnLst/>
            <a:rect r="r" b="b" t="t" l="l"/>
            <a:pathLst>
              <a:path h="2326590" w="1744475">
                <a:moveTo>
                  <a:pt x="0" y="0"/>
                </a:moveTo>
                <a:lnTo>
                  <a:pt x="1744475" y="0"/>
                </a:lnTo>
                <a:lnTo>
                  <a:pt x="1744475" y="2326590"/>
                </a:lnTo>
                <a:lnTo>
                  <a:pt x="0" y="2326590"/>
                </a:lnTo>
                <a:lnTo>
                  <a:pt x="0" y="0"/>
                </a:lnTo>
                <a:close/>
              </a:path>
            </a:pathLst>
          </a:custGeom>
          <a:blipFill>
            <a:blip r:embed="rId7"/>
            <a:stretch>
              <a:fillRect l="-4224" t="-3718" r="-3122" b="-2479"/>
            </a:stretch>
          </a:blipFill>
        </p:spPr>
      </p:sp>
      <p:sp>
        <p:nvSpPr>
          <p:cNvPr name="Freeform 9" id="9"/>
          <p:cNvSpPr/>
          <p:nvPr/>
        </p:nvSpPr>
        <p:spPr>
          <a:xfrm flipH="false" flipV="false" rot="0">
            <a:off x="2470391" y="7101878"/>
            <a:ext cx="1421486" cy="1498053"/>
          </a:xfrm>
          <a:custGeom>
            <a:avLst/>
            <a:gdLst/>
            <a:ahLst/>
            <a:cxnLst/>
            <a:rect r="r" b="b" t="t" l="l"/>
            <a:pathLst>
              <a:path h="1498053" w="1421486">
                <a:moveTo>
                  <a:pt x="0" y="0"/>
                </a:moveTo>
                <a:lnTo>
                  <a:pt x="1421486" y="0"/>
                </a:lnTo>
                <a:lnTo>
                  <a:pt x="1421486" y="1498052"/>
                </a:lnTo>
                <a:lnTo>
                  <a:pt x="0" y="1498052"/>
                </a:lnTo>
                <a:lnTo>
                  <a:pt x="0" y="0"/>
                </a:lnTo>
                <a:close/>
              </a:path>
            </a:pathLst>
          </a:custGeom>
          <a:blipFill>
            <a:blip r:embed="rId8"/>
            <a:stretch>
              <a:fillRect l="-1954" t="0" r="-1954" b="-10249"/>
            </a:stretch>
          </a:blipFill>
        </p:spPr>
      </p:sp>
      <p:sp>
        <p:nvSpPr>
          <p:cNvPr name="Freeform 10" id="10"/>
          <p:cNvSpPr/>
          <p:nvPr/>
        </p:nvSpPr>
        <p:spPr>
          <a:xfrm flipH="false" flipV="false" rot="-5400000">
            <a:off x="3283243" y="7772326"/>
            <a:ext cx="841222" cy="2572631"/>
          </a:xfrm>
          <a:custGeom>
            <a:avLst/>
            <a:gdLst/>
            <a:ahLst/>
            <a:cxnLst/>
            <a:rect r="r" b="b" t="t" l="l"/>
            <a:pathLst>
              <a:path h="2572631" w="841222">
                <a:moveTo>
                  <a:pt x="0" y="0"/>
                </a:moveTo>
                <a:lnTo>
                  <a:pt x="841222" y="0"/>
                </a:lnTo>
                <a:lnTo>
                  <a:pt x="841222" y="2572631"/>
                </a:lnTo>
                <a:lnTo>
                  <a:pt x="0" y="2572631"/>
                </a:lnTo>
                <a:lnTo>
                  <a:pt x="0" y="0"/>
                </a:lnTo>
                <a:close/>
              </a:path>
            </a:pathLst>
          </a:custGeom>
          <a:blipFill>
            <a:blip r:embed="rId9"/>
            <a:stretch>
              <a:fillRect l="-211777" t="0" r="-7538" b="-37763"/>
            </a:stretch>
          </a:blipFill>
        </p:spPr>
      </p:sp>
      <p:sp>
        <p:nvSpPr>
          <p:cNvPr name="TextBox 11" id="11"/>
          <p:cNvSpPr txBox="true"/>
          <p:nvPr/>
        </p:nvSpPr>
        <p:spPr>
          <a:xfrm rot="0">
            <a:off x="3318907" y="2712758"/>
            <a:ext cx="3485093" cy="4208145"/>
          </a:xfrm>
          <a:prstGeom prst="rect">
            <a:avLst/>
          </a:prstGeom>
        </p:spPr>
        <p:txBody>
          <a:bodyPr anchor="t" rtlCol="false" tIns="0" lIns="0" bIns="0" rIns="0">
            <a:spAutoFit/>
          </a:bodyPr>
          <a:lstStyle/>
          <a:p>
            <a:pPr algn="just">
              <a:lnSpc>
                <a:spcPts val="1679"/>
              </a:lnSpc>
            </a:pPr>
            <a:r>
              <a:rPr lang="en-US" sz="1199">
                <a:solidFill>
                  <a:srgbClr val="000000"/>
                </a:solidFill>
                <a:latin typeface="Futura"/>
                <a:ea typeface="Futura"/>
                <a:cs typeface="Futura"/>
                <a:sym typeface="Futura"/>
              </a:rPr>
              <a:t>Objective:</a:t>
            </a:r>
          </a:p>
          <a:p>
            <a:pPr algn="just">
              <a:lnSpc>
                <a:spcPts val="1679"/>
              </a:lnSpc>
            </a:pPr>
            <a:r>
              <a:rPr lang="en-US" sz="1199">
                <a:solidFill>
                  <a:srgbClr val="000000"/>
                </a:solidFill>
                <a:latin typeface="Futura"/>
                <a:ea typeface="Futura"/>
                <a:cs typeface="Futura"/>
                <a:sym typeface="Futura"/>
              </a:rPr>
              <a:t> To ensure that vulnerable and homeless individuals start their day with a healthy and nutritious meal, promoting dignity and care within the community.</a:t>
            </a:r>
          </a:p>
          <a:p>
            <a:pPr algn="just">
              <a:lnSpc>
                <a:spcPts val="1679"/>
              </a:lnSpc>
            </a:pPr>
            <a:r>
              <a:rPr lang="en-US" sz="1199">
                <a:solidFill>
                  <a:srgbClr val="000000"/>
                </a:solidFill>
                <a:latin typeface="Futura"/>
                <a:ea typeface="Futura"/>
                <a:cs typeface="Futura"/>
                <a:sym typeface="Futura"/>
              </a:rPr>
              <a:t>Target Group:</a:t>
            </a:r>
          </a:p>
          <a:p>
            <a:pPr algn="just">
              <a:lnSpc>
                <a:spcPts val="1679"/>
              </a:lnSpc>
            </a:pPr>
            <a:r>
              <a:rPr lang="en-US" sz="1199">
                <a:solidFill>
                  <a:srgbClr val="000000"/>
                </a:solidFill>
                <a:latin typeface="Futura"/>
                <a:ea typeface="Futura"/>
                <a:cs typeface="Futura"/>
                <a:sym typeface="Futura"/>
              </a:rPr>
              <a:t> Underprivileged and homeless individuals, daily wage earners, and people living in extreme poverty.</a:t>
            </a:r>
          </a:p>
          <a:p>
            <a:pPr algn="just">
              <a:lnSpc>
                <a:spcPts val="1679"/>
              </a:lnSpc>
            </a:pPr>
            <a:r>
              <a:rPr lang="en-US" sz="1199">
                <a:solidFill>
                  <a:srgbClr val="000000"/>
                </a:solidFill>
                <a:latin typeface="Futura"/>
                <a:ea typeface="Futura"/>
                <a:cs typeface="Futura"/>
                <a:sym typeface="Futura"/>
              </a:rPr>
              <a:t>Activities:</a:t>
            </a:r>
          </a:p>
          <a:p>
            <a:pPr algn="just" marL="259080" indent="-129540" lvl="1">
              <a:lnSpc>
                <a:spcPts val="1679"/>
              </a:lnSpc>
              <a:buFont typeface="Arial"/>
              <a:buChar char="•"/>
            </a:pPr>
            <a:r>
              <a:rPr lang="en-US" sz="1199">
                <a:solidFill>
                  <a:srgbClr val="000000"/>
                </a:solidFill>
                <a:latin typeface="Futura"/>
                <a:ea typeface="Futura"/>
                <a:cs typeface="Futura"/>
                <a:sym typeface="Futura"/>
              </a:rPr>
              <a:t>Regular distribution of freshly prepared breakfast at designated community points and public areas.</a:t>
            </a:r>
          </a:p>
          <a:p>
            <a:pPr algn="just" marL="259080" indent="-129540" lvl="1">
              <a:lnSpc>
                <a:spcPts val="1679"/>
              </a:lnSpc>
              <a:buFont typeface="Arial"/>
              <a:buChar char="•"/>
            </a:pPr>
            <a:r>
              <a:rPr lang="en-US" sz="1199">
                <a:solidFill>
                  <a:srgbClr val="000000"/>
                </a:solidFill>
                <a:latin typeface="Futura"/>
                <a:ea typeface="Futura"/>
                <a:cs typeface="Futura"/>
                <a:sym typeface="Futura"/>
              </a:rPr>
              <a:t>Engagement of volunteers to maintain hygiene, timely service, and respectful interaction.</a:t>
            </a:r>
          </a:p>
          <a:p>
            <a:pPr algn="just" marL="259080" indent="-129540" lvl="1">
              <a:lnSpc>
                <a:spcPts val="1679"/>
              </a:lnSpc>
              <a:buFont typeface="Arial"/>
              <a:buChar char="•"/>
            </a:pPr>
            <a:r>
              <a:rPr lang="en-US" sz="1199">
                <a:solidFill>
                  <a:srgbClr val="000000"/>
                </a:solidFill>
                <a:latin typeface="Futura"/>
                <a:ea typeface="Futura"/>
                <a:cs typeface="Futura"/>
                <a:sym typeface="Futura"/>
              </a:rPr>
              <a:t>Awareness activities to encourage empathy and social responsibility to</a:t>
            </a:r>
            <a:r>
              <a:rPr lang="en-US" sz="1199">
                <a:solidFill>
                  <a:srgbClr val="000000"/>
                </a:solidFill>
                <a:latin typeface="Futura"/>
                <a:ea typeface="Futura"/>
                <a:cs typeface="Futura"/>
                <a:sym typeface="Futura"/>
              </a:rPr>
              <a:t>wa</a:t>
            </a:r>
            <a:r>
              <a:rPr lang="en-US" sz="1199">
                <a:solidFill>
                  <a:srgbClr val="000000"/>
                </a:solidFill>
                <a:latin typeface="Futura"/>
                <a:ea typeface="Futura"/>
                <a:cs typeface="Futura"/>
                <a:sym typeface="Futura"/>
              </a:rPr>
              <a:t>rds the less fortunate.</a:t>
            </a:r>
          </a:p>
          <a:p>
            <a:pPr algn="just">
              <a:lnSpc>
                <a:spcPts val="1679"/>
              </a:lnSpc>
            </a:pPr>
            <a:r>
              <a:rPr lang="en-US" sz="1199">
                <a:solidFill>
                  <a:srgbClr val="000000"/>
                </a:solidFill>
                <a:latin typeface="Futura"/>
                <a:ea typeface="Futura"/>
                <a:cs typeface="Futura"/>
                <a:sym typeface="Futura"/>
              </a:rPr>
              <a:t>Expected Outcome:</a:t>
            </a:r>
          </a:p>
          <a:p>
            <a:pPr algn="just">
              <a:lnSpc>
                <a:spcPts val="1679"/>
              </a:lnSpc>
            </a:pPr>
            <a:r>
              <a:rPr lang="en-US" sz="1199">
                <a:solidFill>
                  <a:srgbClr val="000000"/>
                </a:solidFill>
                <a:latin typeface="Futura"/>
                <a:ea typeface="Futura"/>
                <a:cs typeface="Futura"/>
                <a:sym typeface="Futura"/>
              </a:rPr>
              <a:t> Improved nutrition, enhanced well-being, and a stronger sense of belonging among the underprivileged, reinforcing the Foundation’s commitment to compassion and community care.</a:t>
            </a:r>
          </a:p>
        </p:txBody>
      </p:sp>
      <p:grpSp>
        <p:nvGrpSpPr>
          <p:cNvPr name="Group 12" id="12"/>
          <p:cNvGrpSpPr/>
          <p:nvPr/>
        </p:nvGrpSpPr>
        <p:grpSpPr>
          <a:xfrm rot="0">
            <a:off x="756000" y="756000"/>
            <a:ext cx="6377459" cy="1823083"/>
            <a:chOff x="0" y="0"/>
            <a:chExt cx="8503279" cy="2430778"/>
          </a:xfrm>
        </p:grpSpPr>
        <p:sp>
          <p:nvSpPr>
            <p:cNvPr name="TextBox 13" id="13"/>
            <p:cNvSpPr txBox="true"/>
            <p:nvPr/>
          </p:nvSpPr>
          <p:spPr>
            <a:xfrm rot="0">
              <a:off x="0" y="-142875"/>
              <a:ext cx="8503279" cy="2573653"/>
            </a:xfrm>
            <a:prstGeom prst="rect">
              <a:avLst/>
            </a:prstGeom>
          </p:spPr>
          <p:txBody>
            <a:bodyPr anchor="t" rtlCol="false" tIns="0" lIns="0" bIns="0" rIns="0">
              <a:spAutoFit/>
            </a:bodyPr>
            <a:lstStyle/>
            <a:p>
              <a:pPr algn="l">
                <a:lnSpc>
                  <a:spcPts val="5040"/>
                </a:lnSpc>
              </a:pPr>
              <a:r>
                <a:rPr lang="en-US" sz="3600" b="true">
                  <a:solidFill>
                    <a:srgbClr val="D20000"/>
                  </a:solidFill>
                  <a:latin typeface="Futura Ultra-Bold"/>
                  <a:ea typeface="Futura Ultra-Bold"/>
                  <a:cs typeface="Futura Ultra-Bold"/>
                  <a:sym typeface="Futura Ultra-Bold"/>
                </a:rPr>
                <a:t>Continuous Breakfast Distribution for the Underprivileged</a:t>
              </a:r>
            </a:p>
          </p:txBody>
        </p:sp>
        <p:sp>
          <p:nvSpPr>
            <p:cNvPr name="TextBox 14" id="14"/>
            <p:cNvSpPr txBox="true"/>
            <p:nvPr/>
          </p:nvSpPr>
          <p:spPr>
            <a:xfrm rot="0">
              <a:off x="7058814" y="-47625"/>
              <a:ext cx="1005186" cy="844341"/>
            </a:xfrm>
            <a:prstGeom prst="rect">
              <a:avLst/>
            </a:prstGeom>
          </p:spPr>
          <p:txBody>
            <a:bodyPr anchor="t" rtlCol="false" tIns="0" lIns="0" bIns="0" rIns="0">
              <a:spAutoFit/>
            </a:bodyPr>
            <a:lstStyle/>
            <a:p>
              <a:pPr algn="ctr">
                <a:lnSpc>
                  <a:spcPts val="1714"/>
                </a:lnSpc>
              </a:pPr>
              <a:r>
                <a:rPr lang="en-US" sz="1224" b="true">
                  <a:solidFill>
                    <a:srgbClr val="D20000"/>
                  </a:solidFill>
                  <a:latin typeface="Futura Ultra-Bold"/>
                  <a:ea typeface="Futura Ultra-Bold"/>
                  <a:cs typeface="Futura Ultra-Bold"/>
                  <a:sym typeface="Futura Ultra-Bold"/>
                </a:rPr>
                <a:t>ANNUAL REPORT 2025-26</a:t>
              </a:r>
            </a:p>
          </p:txBody>
        </p:sp>
      </p:grpSp>
      <p:sp>
        <p:nvSpPr>
          <p:cNvPr name="TextBox 15" id="15"/>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9452" y="8798619"/>
            <a:ext cx="2541267" cy="974358"/>
            <a:chOff x="0" y="0"/>
            <a:chExt cx="3388356" cy="1299144"/>
          </a:xfrm>
        </p:grpSpPr>
        <p:sp>
          <p:nvSpPr>
            <p:cNvPr name="Freeform 3" id="3"/>
            <p:cNvSpPr/>
            <p:nvPr/>
          </p:nvSpPr>
          <p:spPr>
            <a:xfrm flipH="false" flipV="false" rot="0">
              <a:off x="0" y="0"/>
              <a:ext cx="1053300" cy="1297483"/>
            </a:xfrm>
            <a:custGeom>
              <a:avLst/>
              <a:gdLst/>
              <a:ahLst/>
              <a:cxnLst/>
              <a:rect r="r" b="b" t="t" l="l"/>
              <a:pathLst>
                <a:path h="1297483" w="1053300">
                  <a:moveTo>
                    <a:pt x="0" y="0"/>
                  </a:moveTo>
                  <a:lnTo>
                    <a:pt x="1053300" y="0"/>
                  </a:lnTo>
                  <a:lnTo>
                    <a:pt x="1053300" y="1297483"/>
                  </a:lnTo>
                  <a:lnTo>
                    <a:pt x="0" y="1297483"/>
                  </a:lnTo>
                  <a:lnTo>
                    <a:pt x="0" y="0"/>
                  </a:lnTo>
                  <a:close/>
                </a:path>
              </a:pathLst>
            </a:custGeom>
            <a:blipFill>
              <a:blip r:embed="rId2"/>
              <a:stretch>
                <a:fillRect l="0" t="0" r="-8595" b="0"/>
              </a:stretch>
            </a:blipFill>
          </p:spPr>
        </p:sp>
        <p:sp>
          <p:nvSpPr>
            <p:cNvPr name="Freeform 4" id="4"/>
            <p:cNvSpPr/>
            <p:nvPr/>
          </p:nvSpPr>
          <p:spPr>
            <a:xfrm flipH="false" flipV="false" rot="0">
              <a:off x="1195719" y="23083"/>
              <a:ext cx="1035909" cy="1276061"/>
            </a:xfrm>
            <a:custGeom>
              <a:avLst/>
              <a:gdLst/>
              <a:ahLst/>
              <a:cxnLst/>
              <a:rect r="r" b="b" t="t" l="l"/>
              <a:pathLst>
                <a:path h="1276061" w="1035909">
                  <a:moveTo>
                    <a:pt x="0" y="0"/>
                  </a:moveTo>
                  <a:lnTo>
                    <a:pt x="1035909" y="0"/>
                  </a:lnTo>
                  <a:lnTo>
                    <a:pt x="1035909" y="1276061"/>
                  </a:lnTo>
                  <a:lnTo>
                    <a:pt x="0" y="1276061"/>
                  </a:lnTo>
                  <a:lnTo>
                    <a:pt x="0" y="0"/>
                  </a:lnTo>
                  <a:close/>
                </a:path>
              </a:pathLst>
            </a:custGeom>
            <a:blipFill>
              <a:blip r:embed="rId3"/>
              <a:stretch>
                <a:fillRect l="0" t="-2422" r="0" b="-2422"/>
              </a:stretch>
            </a:blipFill>
          </p:spPr>
        </p:sp>
        <p:sp>
          <p:nvSpPr>
            <p:cNvPr name="Freeform 5" id="5"/>
            <p:cNvSpPr/>
            <p:nvPr/>
          </p:nvSpPr>
          <p:spPr>
            <a:xfrm flipH="false" flipV="false" rot="0">
              <a:off x="2371328" y="21422"/>
              <a:ext cx="1017028" cy="1276061"/>
            </a:xfrm>
            <a:custGeom>
              <a:avLst/>
              <a:gdLst/>
              <a:ahLst/>
              <a:cxnLst/>
              <a:rect r="r" b="b" t="t" l="l"/>
              <a:pathLst>
                <a:path h="1276061" w="1017028">
                  <a:moveTo>
                    <a:pt x="0" y="0"/>
                  </a:moveTo>
                  <a:lnTo>
                    <a:pt x="1017028" y="0"/>
                  </a:lnTo>
                  <a:lnTo>
                    <a:pt x="1017028" y="1276061"/>
                  </a:lnTo>
                  <a:lnTo>
                    <a:pt x="0" y="1276061"/>
                  </a:lnTo>
                  <a:lnTo>
                    <a:pt x="0" y="0"/>
                  </a:lnTo>
                  <a:close/>
                </a:path>
              </a:pathLst>
            </a:custGeom>
            <a:blipFill>
              <a:blip r:embed="rId4"/>
              <a:stretch>
                <a:fillRect l="0" t="0" r="-18000" b="-5657"/>
              </a:stretch>
            </a:blipFill>
          </p:spPr>
        </p:sp>
      </p:grpSp>
      <p:grpSp>
        <p:nvGrpSpPr>
          <p:cNvPr name="Group 6" id="6"/>
          <p:cNvGrpSpPr/>
          <p:nvPr/>
        </p:nvGrpSpPr>
        <p:grpSpPr>
          <a:xfrm rot="0">
            <a:off x="843549" y="7529036"/>
            <a:ext cx="5960451" cy="1050508"/>
            <a:chOff x="0" y="0"/>
            <a:chExt cx="7947267" cy="1400678"/>
          </a:xfrm>
        </p:grpSpPr>
        <p:sp>
          <p:nvSpPr>
            <p:cNvPr name="Freeform 7" id="7"/>
            <p:cNvSpPr/>
            <p:nvPr/>
          </p:nvSpPr>
          <p:spPr>
            <a:xfrm flipH="false" flipV="false" rot="0">
              <a:off x="5801815" y="124617"/>
              <a:ext cx="994489" cy="1276061"/>
            </a:xfrm>
            <a:custGeom>
              <a:avLst/>
              <a:gdLst/>
              <a:ahLst/>
              <a:cxnLst/>
              <a:rect r="r" b="b" t="t" l="l"/>
              <a:pathLst>
                <a:path h="1276061" w="994489">
                  <a:moveTo>
                    <a:pt x="0" y="0"/>
                  </a:moveTo>
                  <a:lnTo>
                    <a:pt x="994488" y="0"/>
                  </a:lnTo>
                  <a:lnTo>
                    <a:pt x="994488" y="1276061"/>
                  </a:lnTo>
                  <a:lnTo>
                    <a:pt x="0" y="1276061"/>
                  </a:lnTo>
                  <a:lnTo>
                    <a:pt x="0" y="0"/>
                  </a:lnTo>
                  <a:close/>
                </a:path>
              </a:pathLst>
            </a:custGeom>
            <a:blipFill>
              <a:blip r:embed="rId5"/>
              <a:stretch>
                <a:fillRect l="0" t="0" r="0" b="0"/>
              </a:stretch>
            </a:blipFill>
          </p:spPr>
        </p:sp>
        <p:sp>
          <p:nvSpPr>
            <p:cNvPr name="Freeform 8" id="8"/>
            <p:cNvSpPr/>
            <p:nvPr/>
          </p:nvSpPr>
          <p:spPr>
            <a:xfrm flipH="false" flipV="false" rot="0">
              <a:off x="1161441" y="81772"/>
              <a:ext cx="1017028" cy="1276061"/>
            </a:xfrm>
            <a:custGeom>
              <a:avLst/>
              <a:gdLst/>
              <a:ahLst/>
              <a:cxnLst/>
              <a:rect r="r" b="b" t="t" l="l"/>
              <a:pathLst>
                <a:path h="1276061" w="1017028">
                  <a:moveTo>
                    <a:pt x="0" y="0"/>
                  </a:moveTo>
                  <a:lnTo>
                    <a:pt x="1017028" y="0"/>
                  </a:lnTo>
                  <a:lnTo>
                    <a:pt x="1017028" y="1276061"/>
                  </a:lnTo>
                  <a:lnTo>
                    <a:pt x="0" y="1276061"/>
                  </a:lnTo>
                  <a:lnTo>
                    <a:pt x="0" y="0"/>
                  </a:lnTo>
                  <a:close/>
                </a:path>
              </a:pathLst>
            </a:custGeom>
            <a:blipFill>
              <a:blip r:embed="rId6"/>
              <a:stretch>
                <a:fillRect l="0" t="0" r="0" b="-8821"/>
              </a:stretch>
            </a:blipFill>
          </p:spPr>
        </p:sp>
        <p:sp>
          <p:nvSpPr>
            <p:cNvPr name="Freeform 9" id="9"/>
            <p:cNvSpPr/>
            <p:nvPr/>
          </p:nvSpPr>
          <p:spPr>
            <a:xfrm flipH="false" flipV="false" rot="0">
              <a:off x="2305482" y="103195"/>
              <a:ext cx="1053300" cy="1297483"/>
            </a:xfrm>
            <a:custGeom>
              <a:avLst/>
              <a:gdLst/>
              <a:ahLst/>
              <a:cxnLst/>
              <a:rect r="r" b="b" t="t" l="l"/>
              <a:pathLst>
                <a:path h="1297483" w="1053300">
                  <a:moveTo>
                    <a:pt x="0" y="0"/>
                  </a:moveTo>
                  <a:lnTo>
                    <a:pt x="1053300" y="0"/>
                  </a:lnTo>
                  <a:lnTo>
                    <a:pt x="1053300" y="1297483"/>
                  </a:lnTo>
                  <a:lnTo>
                    <a:pt x="0" y="1297483"/>
                  </a:lnTo>
                  <a:lnTo>
                    <a:pt x="0" y="0"/>
                  </a:lnTo>
                  <a:close/>
                </a:path>
              </a:pathLst>
            </a:custGeom>
            <a:blipFill>
              <a:blip r:embed="rId7"/>
              <a:stretch>
                <a:fillRect l="0" t="0" r="0" b="-14636"/>
              </a:stretch>
            </a:blipFill>
          </p:spPr>
        </p:sp>
        <p:sp>
          <p:nvSpPr>
            <p:cNvPr name="Freeform 10" id="10"/>
            <p:cNvSpPr/>
            <p:nvPr/>
          </p:nvSpPr>
          <p:spPr>
            <a:xfrm flipH="false" flipV="false" rot="0">
              <a:off x="4633660" y="103195"/>
              <a:ext cx="1041154" cy="1297483"/>
            </a:xfrm>
            <a:custGeom>
              <a:avLst/>
              <a:gdLst/>
              <a:ahLst/>
              <a:cxnLst/>
              <a:rect r="r" b="b" t="t" l="l"/>
              <a:pathLst>
                <a:path h="1297483" w="1041154">
                  <a:moveTo>
                    <a:pt x="0" y="0"/>
                  </a:moveTo>
                  <a:lnTo>
                    <a:pt x="1041155" y="0"/>
                  </a:lnTo>
                  <a:lnTo>
                    <a:pt x="1041155" y="1297483"/>
                  </a:lnTo>
                  <a:lnTo>
                    <a:pt x="0" y="1297483"/>
                  </a:lnTo>
                  <a:lnTo>
                    <a:pt x="0" y="0"/>
                  </a:lnTo>
                  <a:close/>
                </a:path>
              </a:pathLst>
            </a:custGeom>
            <a:blipFill>
              <a:blip r:embed="rId8"/>
              <a:stretch>
                <a:fillRect l="0" t="0" r="0" b="-7177"/>
              </a:stretch>
            </a:blipFill>
          </p:spPr>
        </p:sp>
        <p:sp>
          <p:nvSpPr>
            <p:cNvPr name="Freeform 11" id="11"/>
            <p:cNvSpPr/>
            <p:nvPr/>
          </p:nvSpPr>
          <p:spPr>
            <a:xfrm flipH="false" flipV="false" rot="0">
              <a:off x="6923303" y="124617"/>
              <a:ext cx="1023964" cy="1276061"/>
            </a:xfrm>
            <a:custGeom>
              <a:avLst/>
              <a:gdLst/>
              <a:ahLst/>
              <a:cxnLst/>
              <a:rect r="r" b="b" t="t" l="l"/>
              <a:pathLst>
                <a:path h="1276061" w="1023964">
                  <a:moveTo>
                    <a:pt x="0" y="0"/>
                  </a:moveTo>
                  <a:lnTo>
                    <a:pt x="1023964" y="0"/>
                  </a:lnTo>
                  <a:lnTo>
                    <a:pt x="1023964" y="1276061"/>
                  </a:lnTo>
                  <a:lnTo>
                    <a:pt x="0" y="1276061"/>
                  </a:lnTo>
                  <a:lnTo>
                    <a:pt x="0" y="0"/>
                  </a:lnTo>
                  <a:close/>
                </a:path>
              </a:pathLst>
            </a:custGeom>
            <a:blipFill>
              <a:blip r:embed="rId9"/>
              <a:stretch>
                <a:fillRect l="-14165" t="0" r="-14165" b="0"/>
              </a:stretch>
            </a:blipFill>
          </p:spPr>
        </p:sp>
        <p:sp>
          <p:nvSpPr>
            <p:cNvPr name="Freeform 12" id="12"/>
            <p:cNvSpPr/>
            <p:nvPr/>
          </p:nvSpPr>
          <p:spPr>
            <a:xfrm flipH="false" flipV="false" rot="0">
              <a:off x="3485782" y="124617"/>
              <a:ext cx="1020879" cy="1276061"/>
            </a:xfrm>
            <a:custGeom>
              <a:avLst/>
              <a:gdLst/>
              <a:ahLst/>
              <a:cxnLst/>
              <a:rect r="r" b="b" t="t" l="l"/>
              <a:pathLst>
                <a:path h="1276061" w="1020879">
                  <a:moveTo>
                    <a:pt x="0" y="0"/>
                  </a:moveTo>
                  <a:lnTo>
                    <a:pt x="1020878" y="0"/>
                  </a:lnTo>
                  <a:lnTo>
                    <a:pt x="1020878" y="1276061"/>
                  </a:lnTo>
                  <a:lnTo>
                    <a:pt x="0" y="1276061"/>
                  </a:lnTo>
                  <a:lnTo>
                    <a:pt x="0" y="0"/>
                  </a:lnTo>
                  <a:close/>
                </a:path>
              </a:pathLst>
            </a:custGeom>
            <a:blipFill>
              <a:blip r:embed="rId10"/>
              <a:stretch>
                <a:fillRect l="0" t="-2478" r="0" b="-2478"/>
              </a:stretch>
            </a:blipFill>
          </p:spPr>
        </p:sp>
        <p:sp>
          <p:nvSpPr>
            <p:cNvPr name="Freeform 13" id="13"/>
            <p:cNvSpPr/>
            <p:nvPr/>
          </p:nvSpPr>
          <p:spPr>
            <a:xfrm flipH="false" flipV="false" rot="0">
              <a:off x="0" y="0"/>
              <a:ext cx="1034428" cy="1400678"/>
            </a:xfrm>
            <a:custGeom>
              <a:avLst/>
              <a:gdLst/>
              <a:ahLst/>
              <a:cxnLst/>
              <a:rect r="r" b="b" t="t" l="l"/>
              <a:pathLst>
                <a:path h="1400678" w="1034428">
                  <a:moveTo>
                    <a:pt x="0" y="0"/>
                  </a:moveTo>
                  <a:lnTo>
                    <a:pt x="1034428" y="0"/>
                  </a:lnTo>
                  <a:lnTo>
                    <a:pt x="1034428" y="1400678"/>
                  </a:lnTo>
                  <a:lnTo>
                    <a:pt x="0" y="1400678"/>
                  </a:lnTo>
                  <a:lnTo>
                    <a:pt x="0" y="0"/>
                  </a:lnTo>
                  <a:close/>
                </a:path>
              </a:pathLst>
            </a:custGeom>
            <a:blipFill>
              <a:blip r:embed="rId11"/>
              <a:stretch>
                <a:fillRect l="-5634" t="0" r="-5634" b="0"/>
              </a:stretch>
            </a:blipFill>
          </p:spPr>
        </p:sp>
      </p:grpSp>
      <p:sp>
        <p:nvSpPr>
          <p:cNvPr name="Freeform 14" id="14"/>
          <p:cNvSpPr/>
          <p:nvPr/>
        </p:nvSpPr>
        <p:spPr>
          <a:xfrm flipH="false" flipV="false" rot="0">
            <a:off x="6167960" y="9661129"/>
            <a:ext cx="866626" cy="549742"/>
          </a:xfrm>
          <a:custGeom>
            <a:avLst/>
            <a:gdLst/>
            <a:ahLst/>
            <a:cxnLst/>
            <a:rect r="r" b="b" t="t" l="l"/>
            <a:pathLst>
              <a:path h="549742" w="866626">
                <a:moveTo>
                  <a:pt x="0" y="0"/>
                </a:moveTo>
                <a:lnTo>
                  <a:pt x="866626" y="0"/>
                </a:lnTo>
                <a:lnTo>
                  <a:pt x="866626" y="549742"/>
                </a:lnTo>
                <a:lnTo>
                  <a:pt x="0" y="549742"/>
                </a:lnTo>
                <a:lnTo>
                  <a:pt x="0" y="0"/>
                </a:lnTo>
                <a:close/>
              </a:path>
            </a:pathLst>
          </a:custGeom>
          <a:blipFill>
            <a:blip r:embed="rId12"/>
            <a:stretch>
              <a:fillRect l="0" t="-23425" r="-10196" b="-50291"/>
            </a:stretch>
          </a:blipFill>
        </p:spPr>
      </p:sp>
      <p:sp>
        <p:nvSpPr>
          <p:cNvPr name="TextBox 15" id="15"/>
          <p:cNvSpPr txBox="true"/>
          <p:nvPr/>
        </p:nvSpPr>
        <p:spPr>
          <a:xfrm rot="0">
            <a:off x="1361602" y="348330"/>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
        <p:nvSpPr>
          <p:cNvPr name="AutoShape 16" id="16"/>
          <p:cNvSpPr/>
          <p:nvPr/>
        </p:nvSpPr>
        <p:spPr>
          <a:xfrm flipH="true" flipV="true">
            <a:off x="3132211" y="1931723"/>
            <a:ext cx="0" cy="5430667"/>
          </a:xfrm>
          <a:prstGeom prst="line">
            <a:avLst/>
          </a:prstGeom>
          <a:ln cap="rnd" w="28575">
            <a:solidFill>
              <a:srgbClr val="000000"/>
            </a:solidFill>
            <a:prstDash val="solid"/>
            <a:headEnd type="none" len="sm" w="sm"/>
            <a:tailEnd type="none" len="sm" w="sm"/>
          </a:ln>
        </p:spPr>
      </p:sp>
      <p:sp>
        <p:nvSpPr>
          <p:cNvPr name="Freeform 17" id="17"/>
          <p:cNvSpPr/>
          <p:nvPr/>
        </p:nvSpPr>
        <p:spPr>
          <a:xfrm flipH="false" flipV="false" rot="0">
            <a:off x="351563" y="2002680"/>
            <a:ext cx="2659486" cy="4670916"/>
          </a:xfrm>
          <a:custGeom>
            <a:avLst/>
            <a:gdLst/>
            <a:ahLst/>
            <a:cxnLst/>
            <a:rect r="r" b="b" t="t" l="l"/>
            <a:pathLst>
              <a:path h="4670916" w="2659486">
                <a:moveTo>
                  <a:pt x="0" y="0"/>
                </a:moveTo>
                <a:lnTo>
                  <a:pt x="2659485" y="0"/>
                </a:lnTo>
                <a:lnTo>
                  <a:pt x="2659485" y="4670916"/>
                </a:lnTo>
                <a:lnTo>
                  <a:pt x="0" y="4670916"/>
                </a:lnTo>
                <a:lnTo>
                  <a:pt x="0" y="0"/>
                </a:lnTo>
                <a:close/>
              </a:path>
            </a:pathLst>
          </a:custGeom>
          <a:blipFill>
            <a:blip r:embed="rId13"/>
            <a:stretch>
              <a:fillRect l="0" t="0" r="-2891" b="0"/>
            </a:stretch>
          </a:blipFill>
        </p:spPr>
      </p:sp>
      <p:sp>
        <p:nvSpPr>
          <p:cNvPr name="TextBox 18" id="18"/>
          <p:cNvSpPr txBox="true"/>
          <p:nvPr/>
        </p:nvSpPr>
        <p:spPr>
          <a:xfrm rot="0">
            <a:off x="3291649" y="1919055"/>
            <a:ext cx="3485093" cy="5674995"/>
          </a:xfrm>
          <a:prstGeom prst="rect">
            <a:avLst/>
          </a:prstGeom>
        </p:spPr>
        <p:txBody>
          <a:bodyPr anchor="t" rtlCol="false" tIns="0" lIns="0" bIns="0" rIns="0">
            <a:spAutoFit/>
          </a:bodyPr>
          <a:lstStyle/>
          <a:p>
            <a:pPr algn="l">
              <a:lnSpc>
                <a:spcPts val="1679"/>
              </a:lnSpc>
            </a:pPr>
            <a:r>
              <a:rPr lang="en-US" sz="1199">
                <a:solidFill>
                  <a:srgbClr val="000000"/>
                </a:solidFill>
                <a:latin typeface="Futura"/>
                <a:ea typeface="Futura"/>
                <a:cs typeface="Futura"/>
                <a:sym typeface="Futura"/>
              </a:rPr>
              <a:t>The success of Munawwar Foundation lies in the dedication, passion, and teamwork of its members. Each initiative undertaken by the Foundation is a result of collective effort, shared vision, and a deep sense of social responsibility. The team comprises professionals, educators, volunteers, and community workers who work hand in hand to turn ideas into impactful actions.</a:t>
            </a:r>
          </a:p>
          <a:p>
            <a:pPr algn="l">
              <a:lnSpc>
                <a:spcPts val="1679"/>
              </a:lnSpc>
            </a:pPr>
            <a:r>
              <a:rPr lang="en-US" sz="1199">
                <a:solidFill>
                  <a:srgbClr val="000000"/>
                </a:solidFill>
                <a:latin typeface="Futura"/>
                <a:ea typeface="Futura"/>
                <a:cs typeface="Futura"/>
                <a:sym typeface="Futura"/>
              </a:rPr>
              <a:t>From planning and mobilization to on-ground execution, every project reflects the team’s coordination and commitment to excellence. </a:t>
            </a:r>
          </a:p>
          <a:p>
            <a:pPr algn="l">
              <a:lnSpc>
                <a:spcPts val="1679"/>
              </a:lnSpc>
            </a:pPr>
            <a:r>
              <a:rPr lang="en-US" sz="1199">
                <a:solidFill>
                  <a:srgbClr val="000000"/>
                </a:solidFill>
                <a:latin typeface="Futura"/>
                <a:ea typeface="Futura"/>
                <a:cs typeface="Futura"/>
                <a:sym typeface="Futura"/>
              </a:rPr>
              <a:t>Regular meetings, brainstorming sessions, and capacity-building workshops keep the team motivated and aligned with the Foundation’s mission.</a:t>
            </a:r>
          </a:p>
          <a:p>
            <a:pPr algn="l">
              <a:lnSpc>
                <a:spcPts val="1679"/>
              </a:lnSpc>
            </a:pPr>
            <a:r>
              <a:rPr lang="en-US" sz="1199">
                <a:solidFill>
                  <a:srgbClr val="000000"/>
                </a:solidFill>
                <a:latin typeface="Futura"/>
                <a:ea typeface="Futura"/>
                <a:cs typeface="Futura"/>
                <a:sym typeface="Futura"/>
              </a:rPr>
              <a:t>The Foundation encourages a culture of inclusivity, mutual respect, and continuous learning among its members. Team leaders ensure that every voice is heard and every contribution is valued. The seamless collaboration between field volunteers and management enables the organization to reach diverse communities effectively.</a:t>
            </a:r>
          </a:p>
          <a:p>
            <a:pPr algn="l">
              <a:lnSpc>
                <a:spcPts val="1679"/>
              </a:lnSpc>
            </a:pPr>
            <a:r>
              <a:rPr lang="en-US" sz="1199">
                <a:solidFill>
                  <a:srgbClr val="000000"/>
                </a:solidFill>
                <a:latin typeface="Futura"/>
                <a:ea typeface="Futura"/>
                <a:cs typeface="Futura"/>
                <a:sym typeface="Futura"/>
              </a:rPr>
              <a:t>Driven by compassion and purpose, the Munawwar Foundation team continues to inspire change — transforming challenges into opportunities and vision into reality.</a:t>
            </a:r>
          </a:p>
          <a:p>
            <a:pPr algn="l">
              <a:lnSpc>
                <a:spcPts val="1679"/>
              </a:lnSpc>
            </a:pPr>
          </a:p>
        </p:txBody>
      </p:sp>
      <p:sp>
        <p:nvSpPr>
          <p:cNvPr name="TextBox 19" id="19"/>
          <p:cNvSpPr txBox="true"/>
          <p:nvPr/>
        </p:nvSpPr>
        <p:spPr>
          <a:xfrm rot="0">
            <a:off x="281412" y="893838"/>
            <a:ext cx="2799786" cy="807656"/>
          </a:xfrm>
          <a:prstGeom prst="rect">
            <a:avLst/>
          </a:prstGeom>
        </p:spPr>
        <p:txBody>
          <a:bodyPr anchor="t" rtlCol="false" tIns="0" lIns="0" bIns="0" rIns="0">
            <a:spAutoFit/>
          </a:bodyPr>
          <a:lstStyle/>
          <a:p>
            <a:pPr algn="ctr">
              <a:lnSpc>
                <a:spcPts val="5959"/>
              </a:lnSpc>
            </a:pPr>
            <a:r>
              <a:rPr lang="en-US" sz="4256" b="true">
                <a:solidFill>
                  <a:srgbClr val="D20000"/>
                </a:solidFill>
                <a:latin typeface="Futura Ultra-Bold"/>
                <a:ea typeface="Futura Ultra-Bold"/>
                <a:cs typeface="Futura Ultra-Bold"/>
                <a:sym typeface="Futura Ultra-Bold"/>
              </a:rPr>
              <a:t>About Us</a:t>
            </a:r>
          </a:p>
        </p:txBody>
      </p:sp>
      <p:sp>
        <p:nvSpPr>
          <p:cNvPr name="TextBox 20" id="20"/>
          <p:cNvSpPr txBox="true"/>
          <p:nvPr/>
        </p:nvSpPr>
        <p:spPr>
          <a:xfrm rot="0">
            <a:off x="3291649" y="970038"/>
            <a:ext cx="3742937" cy="781149"/>
          </a:xfrm>
          <a:prstGeom prst="rect">
            <a:avLst/>
          </a:prstGeom>
        </p:spPr>
        <p:txBody>
          <a:bodyPr anchor="t" rtlCol="false" tIns="0" lIns="0" bIns="0" rIns="0">
            <a:spAutoFit/>
          </a:bodyPr>
          <a:lstStyle/>
          <a:p>
            <a:pPr algn="l">
              <a:lnSpc>
                <a:spcPts val="2958"/>
              </a:lnSpc>
            </a:pPr>
            <a:r>
              <a:rPr lang="en-US" sz="2112" b="true">
                <a:solidFill>
                  <a:srgbClr val="D20000"/>
                </a:solidFill>
                <a:latin typeface="Futura Ultra-Bold"/>
                <a:ea typeface="Futura Ultra-Bold"/>
                <a:cs typeface="Futura Ultra-Bold"/>
                <a:sym typeface="Futura Ultra-Bold"/>
              </a:rPr>
              <a:t>Teamwork at </a:t>
            </a:r>
          </a:p>
          <a:p>
            <a:pPr algn="l">
              <a:lnSpc>
                <a:spcPts val="2958"/>
              </a:lnSpc>
            </a:pPr>
            <a:r>
              <a:rPr lang="en-US" sz="2112" b="true">
                <a:solidFill>
                  <a:srgbClr val="D20000"/>
                </a:solidFill>
                <a:latin typeface="Futura Ultra-Bold"/>
                <a:ea typeface="Futura Ultra-Bold"/>
                <a:cs typeface="Futura Ultra-Bold"/>
                <a:sym typeface="Futura Ultra-Bold"/>
              </a:rPr>
              <a:t>Munawwar Foundation</a:t>
            </a:r>
          </a:p>
        </p:txBody>
      </p:sp>
      <p:sp>
        <p:nvSpPr>
          <p:cNvPr name="TextBox 21" id="21"/>
          <p:cNvSpPr txBox="true"/>
          <p:nvPr/>
        </p:nvSpPr>
        <p:spPr>
          <a:xfrm rot="0">
            <a:off x="6398768" y="1017663"/>
            <a:ext cx="442458" cy="388795"/>
          </a:xfrm>
          <a:prstGeom prst="rect">
            <a:avLst/>
          </a:prstGeom>
        </p:spPr>
        <p:txBody>
          <a:bodyPr anchor="t" rtlCol="false" tIns="0" lIns="0" bIns="0" rIns="0">
            <a:spAutoFit/>
          </a:bodyPr>
          <a:lstStyle/>
          <a:p>
            <a:pPr algn="ctr">
              <a:lnSpc>
                <a:spcPts val="1006"/>
              </a:lnSpc>
            </a:pPr>
            <a:r>
              <a:rPr lang="en-US" sz="718" b="true">
                <a:solidFill>
                  <a:srgbClr val="D20000"/>
                </a:solidFill>
                <a:latin typeface="Futura Ultra-Bold"/>
                <a:ea typeface="Futura Ultra-Bold"/>
                <a:cs typeface="Futura Ultra-Bold"/>
                <a:sym typeface="Futura Ultra-Bold"/>
              </a:rPr>
              <a:t>ANNUAL REPORT 2025-26</a:t>
            </a:r>
          </a:p>
        </p:txBody>
      </p:sp>
      <p:sp>
        <p:nvSpPr>
          <p:cNvPr name="TextBox 22" id="22"/>
          <p:cNvSpPr txBox="true"/>
          <p:nvPr/>
        </p:nvSpPr>
        <p:spPr>
          <a:xfrm rot="0">
            <a:off x="1361602" y="9067616"/>
            <a:ext cx="1840127" cy="360164"/>
          </a:xfrm>
          <a:prstGeom prst="rect">
            <a:avLst/>
          </a:prstGeom>
        </p:spPr>
        <p:txBody>
          <a:bodyPr anchor="t" rtlCol="false" tIns="0" lIns="0" bIns="0" rIns="0">
            <a:spAutoFit/>
          </a:bodyPr>
          <a:lstStyle/>
          <a:p>
            <a:pPr algn="ctr">
              <a:lnSpc>
                <a:spcPts val="2620"/>
              </a:lnSpc>
            </a:pPr>
            <a:r>
              <a:rPr lang="en-US" sz="1871" b="true">
                <a:solidFill>
                  <a:srgbClr val="D20000"/>
                </a:solidFill>
                <a:latin typeface="Futura Ultra-Bold"/>
                <a:ea typeface="Futura Ultra-Bold"/>
                <a:cs typeface="Futura Ultra-Bold"/>
                <a:sym typeface="Futura Ultra-Bold"/>
              </a:rPr>
              <a:t>TEEN SQUAD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47602" y="6309205"/>
            <a:ext cx="2149894" cy="1363779"/>
          </a:xfrm>
          <a:custGeom>
            <a:avLst/>
            <a:gdLst/>
            <a:ahLst/>
            <a:cxnLst/>
            <a:rect r="r" b="b" t="t" l="l"/>
            <a:pathLst>
              <a:path h="1363779" w="2149894">
                <a:moveTo>
                  <a:pt x="0" y="0"/>
                </a:moveTo>
                <a:lnTo>
                  <a:pt x="2149894" y="0"/>
                </a:lnTo>
                <a:lnTo>
                  <a:pt x="2149894" y="1363779"/>
                </a:lnTo>
                <a:lnTo>
                  <a:pt x="0" y="1363779"/>
                </a:lnTo>
                <a:lnTo>
                  <a:pt x="0" y="0"/>
                </a:lnTo>
                <a:close/>
              </a:path>
            </a:pathLst>
          </a:custGeom>
          <a:blipFill>
            <a:blip r:embed="rId2"/>
            <a:stretch>
              <a:fillRect l="0" t="-23425" r="-10196" b="-50291"/>
            </a:stretch>
          </a:blipFill>
        </p:spPr>
      </p:sp>
      <p:sp>
        <p:nvSpPr>
          <p:cNvPr name="AutoShape 3" id="3"/>
          <p:cNvSpPr/>
          <p:nvPr/>
        </p:nvSpPr>
        <p:spPr>
          <a:xfrm flipV="true">
            <a:off x="3600750" y="1998960"/>
            <a:ext cx="0" cy="5674024"/>
          </a:xfrm>
          <a:prstGeom prst="line">
            <a:avLst/>
          </a:prstGeom>
          <a:ln cap="rnd" w="28575">
            <a:solidFill>
              <a:srgbClr val="000000"/>
            </a:solidFill>
            <a:prstDash val="solid"/>
            <a:headEnd type="none" len="sm" w="sm"/>
            <a:tailEnd type="none" len="sm" w="sm"/>
          </a:ln>
        </p:spPr>
      </p:sp>
      <p:sp>
        <p:nvSpPr>
          <p:cNvPr name="TextBox 4" id="4"/>
          <p:cNvSpPr txBox="true"/>
          <p:nvPr/>
        </p:nvSpPr>
        <p:spPr>
          <a:xfrm rot="0">
            <a:off x="881469" y="679800"/>
            <a:ext cx="5996975" cy="360164"/>
          </a:xfrm>
          <a:prstGeom prst="rect">
            <a:avLst/>
          </a:prstGeom>
        </p:spPr>
        <p:txBody>
          <a:bodyPr anchor="t" rtlCol="false" tIns="0" lIns="0" bIns="0" rIns="0">
            <a:spAutoFit/>
          </a:bodyPr>
          <a:lstStyle/>
          <a:p>
            <a:pPr algn="ctr">
              <a:lnSpc>
                <a:spcPts val="2620"/>
              </a:lnSpc>
            </a:pPr>
            <a:r>
              <a:rPr lang="en-US" sz="1871" b="true">
                <a:solidFill>
                  <a:srgbClr val="D20000"/>
                </a:solidFill>
                <a:latin typeface="Futura Ultra-Bold"/>
                <a:ea typeface="Futura Ultra-Bold"/>
                <a:cs typeface="Futura Ultra-Bold"/>
                <a:sym typeface="Futura Ultra-Bold"/>
              </a:rPr>
              <a:t>Together, We Continue the Journey of Change</a:t>
            </a:r>
          </a:p>
        </p:txBody>
      </p:sp>
      <p:sp>
        <p:nvSpPr>
          <p:cNvPr name="TextBox 5" id="5"/>
          <p:cNvSpPr txBox="true"/>
          <p:nvPr/>
        </p:nvSpPr>
        <p:spPr>
          <a:xfrm rot="0">
            <a:off x="805127" y="1932285"/>
            <a:ext cx="2795623" cy="6026178"/>
          </a:xfrm>
          <a:prstGeom prst="rect">
            <a:avLst/>
          </a:prstGeom>
        </p:spPr>
        <p:txBody>
          <a:bodyPr anchor="t" rtlCol="false" tIns="0" lIns="0" bIns="0" rIns="0">
            <a:spAutoFit/>
          </a:bodyPr>
          <a:lstStyle/>
          <a:p>
            <a:pPr algn="l">
              <a:lnSpc>
                <a:spcPts val="2273"/>
              </a:lnSpc>
            </a:pPr>
            <a:r>
              <a:rPr lang="en-US" sz="1623" b="true">
                <a:solidFill>
                  <a:srgbClr val="D20000"/>
                </a:solidFill>
                <a:latin typeface="Futura Ultra-Bold"/>
                <a:ea typeface="Futura Ultra-Bold"/>
                <a:cs typeface="Futura Ultra-Bold"/>
                <a:sym typeface="Futura Ultra-Bold"/>
              </a:rPr>
              <a:t>As we reflect on another year of compassion and impact, we extend our heartfelt gratitude to all who have been part of the Munawar Foundation family. </a:t>
            </a:r>
          </a:p>
          <a:p>
            <a:pPr algn="l">
              <a:lnSpc>
                <a:spcPts val="2273"/>
              </a:lnSpc>
            </a:pPr>
            <a:r>
              <a:rPr lang="en-US" sz="1623" b="true">
                <a:solidFill>
                  <a:srgbClr val="D20000"/>
                </a:solidFill>
                <a:latin typeface="Futura Ultra-Bold"/>
                <a:ea typeface="Futura Ultra-Bold"/>
                <a:cs typeface="Futura Ultra-Bold"/>
                <a:sym typeface="Futura Ultra-Bold"/>
              </a:rPr>
              <a:t>Your trust, support, and belief in our mission inspire us to keep moving forward — empowering lives, nurturing hope, and building a better tomorrow.</a:t>
            </a:r>
          </a:p>
          <a:p>
            <a:pPr algn="l">
              <a:lnSpc>
                <a:spcPts val="2273"/>
              </a:lnSpc>
            </a:pPr>
            <a:r>
              <a:rPr lang="en-US" sz="1623" b="true">
                <a:solidFill>
                  <a:srgbClr val="D20000"/>
                </a:solidFill>
                <a:latin typeface="Futura Ultra-Bold"/>
                <a:ea typeface="Futura Ultra-Bold"/>
                <a:cs typeface="Futura Ultra-Bold"/>
                <a:sym typeface="Futura Ultra-Bold"/>
              </a:rPr>
              <a:t>Stay connected with our mission as we continue </a:t>
            </a:r>
          </a:p>
          <a:p>
            <a:pPr algn="l">
              <a:lnSpc>
                <a:spcPts val="2273"/>
              </a:lnSpc>
            </a:pPr>
            <a:r>
              <a:rPr lang="en-US" sz="1623" b="true">
                <a:solidFill>
                  <a:srgbClr val="D20000"/>
                </a:solidFill>
                <a:latin typeface="Futura Ultra-Bold"/>
                <a:ea typeface="Futura Ultra-Bold"/>
                <a:cs typeface="Futura Ultra-Bold"/>
                <a:sym typeface="Futura Ultra-Bold"/>
              </a:rPr>
              <a:t>to create meaningful change, one initiative at a time.</a:t>
            </a:r>
          </a:p>
          <a:p>
            <a:pPr algn="l">
              <a:lnSpc>
                <a:spcPts val="2273"/>
              </a:lnSpc>
            </a:pPr>
          </a:p>
        </p:txBody>
      </p:sp>
      <p:grpSp>
        <p:nvGrpSpPr>
          <p:cNvPr name="Group 6" id="6"/>
          <p:cNvGrpSpPr/>
          <p:nvPr/>
        </p:nvGrpSpPr>
        <p:grpSpPr>
          <a:xfrm rot="0">
            <a:off x="3780000" y="2431109"/>
            <a:ext cx="3505509" cy="3385791"/>
            <a:chOff x="0" y="0"/>
            <a:chExt cx="4674012" cy="4514388"/>
          </a:xfrm>
        </p:grpSpPr>
        <p:sp>
          <p:nvSpPr>
            <p:cNvPr name="TextBox 7" id="7"/>
            <p:cNvSpPr txBox="true"/>
            <p:nvPr/>
          </p:nvSpPr>
          <p:spPr>
            <a:xfrm rot="0">
              <a:off x="0" y="-57150"/>
              <a:ext cx="4674012" cy="1040444"/>
            </a:xfrm>
            <a:prstGeom prst="rect">
              <a:avLst/>
            </a:prstGeom>
          </p:spPr>
          <p:txBody>
            <a:bodyPr anchor="t" rtlCol="false" tIns="0" lIns="0" bIns="0" rIns="0">
              <a:spAutoFit/>
            </a:bodyPr>
            <a:lstStyle/>
            <a:p>
              <a:pPr algn="l">
                <a:lnSpc>
                  <a:spcPts val="2071"/>
                </a:lnSpc>
              </a:pPr>
              <a:r>
                <a:rPr lang="en-US" sz="1479">
                  <a:solidFill>
                    <a:srgbClr val="000000"/>
                  </a:solidFill>
                  <a:latin typeface="Futura"/>
                  <a:ea typeface="Futura"/>
                  <a:cs typeface="Futura"/>
                  <a:sym typeface="Futura"/>
                </a:rPr>
                <a:t>STAY CONNECTED-</a:t>
              </a:r>
            </a:p>
            <a:p>
              <a:pPr algn="l">
                <a:lnSpc>
                  <a:spcPts val="2071"/>
                </a:lnSpc>
              </a:pPr>
              <a:r>
                <a:rPr lang="en-US" sz="1479">
                  <a:solidFill>
                    <a:srgbClr val="000000"/>
                  </a:solidFill>
                  <a:latin typeface="Futura"/>
                  <a:ea typeface="Futura"/>
                  <a:cs typeface="Futura"/>
                  <a:sym typeface="Futura"/>
                </a:rPr>
                <a:t>145-Reliable Colony, Saint Joseph School, </a:t>
              </a:r>
            </a:p>
            <a:p>
              <a:pPr algn="l">
                <a:lnSpc>
                  <a:spcPts val="2071"/>
                </a:lnSpc>
              </a:pPr>
              <a:r>
                <a:rPr lang="en-US" sz="1479">
                  <a:solidFill>
                    <a:srgbClr val="000000"/>
                  </a:solidFill>
                  <a:latin typeface="Futura"/>
                  <a:ea typeface="Futura"/>
                  <a:cs typeface="Futura"/>
                  <a:sym typeface="Futura"/>
                </a:rPr>
                <a:t>Idgah Hills, Bhopal-462001</a:t>
              </a:r>
            </a:p>
          </p:txBody>
        </p:sp>
        <p:sp>
          <p:nvSpPr>
            <p:cNvPr name="TextBox 8" id="8"/>
            <p:cNvSpPr txBox="true"/>
            <p:nvPr/>
          </p:nvSpPr>
          <p:spPr>
            <a:xfrm rot="0">
              <a:off x="0" y="1363306"/>
              <a:ext cx="4674012" cy="1384910"/>
            </a:xfrm>
            <a:prstGeom prst="rect">
              <a:avLst/>
            </a:prstGeom>
          </p:spPr>
          <p:txBody>
            <a:bodyPr anchor="t" rtlCol="false" tIns="0" lIns="0" bIns="0" rIns="0">
              <a:spAutoFit/>
            </a:bodyPr>
            <a:lstStyle/>
            <a:p>
              <a:pPr algn="l">
                <a:lnSpc>
                  <a:spcPts val="2071"/>
                </a:lnSpc>
              </a:pPr>
              <a:r>
                <a:rPr lang="en-US" sz="1479">
                  <a:solidFill>
                    <a:srgbClr val="000000"/>
                  </a:solidFill>
                  <a:latin typeface="Futura"/>
                  <a:ea typeface="Futura"/>
                  <a:cs typeface="Futura"/>
                  <a:sym typeface="Futura"/>
                </a:rPr>
                <a:t>DROP US A LINE-</a:t>
              </a:r>
            </a:p>
            <a:p>
              <a:pPr algn="l">
                <a:lnSpc>
                  <a:spcPts val="2071"/>
                </a:lnSpc>
              </a:pPr>
              <a:r>
                <a:rPr lang="en-US" sz="1479">
                  <a:solidFill>
                    <a:srgbClr val="000000"/>
                  </a:solidFill>
                  <a:latin typeface="Futura"/>
                  <a:ea typeface="Futura"/>
                  <a:cs typeface="Futura"/>
                  <a:sym typeface="Futura"/>
                </a:rPr>
                <a:t>7999269697 - 6262226244</a:t>
              </a:r>
            </a:p>
            <a:p>
              <a:pPr algn="l">
                <a:lnSpc>
                  <a:spcPts val="2071"/>
                </a:lnSpc>
              </a:pPr>
              <a:r>
                <a:rPr lang="en-US" sz="1479">
                  <a:solidFill>
                    <a:srgbClr val="000000"/>
                  </a:solidFill>
                  <a:latin typeface="Futura"/>
                  <a:ea typeface="Futura"/>
                  <a:cs typeface="Futura"/>
                  <a:sym typeface="Futura"/>
                </a:rPr>
                <a:t>munawwarfoundation@gmail.com</a:t>
              </a:r>
            </a:p>
            <a:p>
              <a:pPr algn="l">
                <a:lnSpc>
                  <a:spcPts val="2071"/>
                </a:lnSpc>
              </a:pPr>
              <a:r>
                <a:rPr lang="en-US" sz="1479">
                  <a:solidFill>
                    <a:srgbClr val="000000"/>
                  </a:solidFill>
                  <a:latin typeface="Futura"/>
                  <a:ea typeface="Futura"/>
                  <a:cs typeface="Futura"/>
                  <a:sym typeface="Futura"/>
                </a:rPr>
                <a:t>www.munawwarfoundation.org</a:t>
              </a:r>
            </a:p>
          </p:txBody>
        </p:sp>
        <p:sp>
          <p:nvSpPr>
            <p:cNvPr name="TextBox 9" id="9"/>
            <p:cNvSpPr txBox="true"/>
            <p:nvPr/>
          </p:nvSpPr>
          <p:spPr>
            <a:xfrm rot="0">
              <a:off x="0" y="3129478"/>
              <a:ext cx="4674012" cy="1384910"/>
            </a:xfrm>
            <a:prstGeom prst="rect">
              <a:avLst/>
            </a:prstGeom>
          </p:spPr>
          <p:txBody>
            <a:bodyPr anchor="t" rtlCol="false" tIns="0" lIns="0" bIns="0" rIns="0">
              <a:spAutoFit/>
            </a:bodyPr>
            <a:lstStyle/>
            <a:p>
              <a:pPr algn="l">
                <a:lnSpc>
                  <a:spcPts val="2071"/>
                </a:lnSpc>
              </a:pPr>
              <a:r>
                <a:rPr lang="en-US" sz="1479">
                  <a:solidFill>
                    <a:srgbClr val="000000"/>
                  </a:solidFill>
                  <a:latin typeface="Futura"/>
                  <a:ea typeface="Futura"/>
                  <a:cs typeface="Futura"/>
                  <a:sym typeface="Futura"/>
                </a:rPr>
                <a:t>FOLLOW US-</a:t>
              </a:r>
            </a:p>
            <a:p>
              <a:pPr algn="l">
                <a:lnSpc>
                  <a:spcPts val="2071"/>
                </a:lnSpc>
              </a:pPr>
              <a:r>
                <a:rPr lang="en-US" sz="1479">
                  <a:solidFill>
                    <a:srgbClr val="000000"/>
                  </a:solidFill>
                  <a:latin typeface="Futura"/>
                  <a:ea typeface="Futura"/>
                  <a:cs typeface="Futura"/>
                  <a:sym typeface="Futura"/>
                </a:rPr>
                <a:t> Instagram- @munawwarfoundation</a:t>
              </a:r>
            </a:p>
            <a:p>
              <a:pPr algn="l">
                <a:lnSpc>
                  <a:spcPts val="2071"/>
                </a:lnSpc>
              </a:pPr>
              <a:r>
                <a:rPr lang="en-US" sz="1479">
                  <a:solidFill>
                    <a:srgbClr val="000000"/>
                  </a:solidFill>
                  <a:latin typeface="Futura"/>
                  <a:ea typeface="Futura"/>
                  <a:cs typeface="Futura"/>
                  <a:sym typeface="Futura"/>
                </a:rPr>
                <a:t> Facebook- @</a:t>
              </a:r>
              <a:r>
                <a:rPr lang="en-US" sz="1479" u="sng">
                  <a:solidFill>
                    <a:srgbClr val="000000"/>
                  </a:solidFill>
                  <a:latin typeface="Futura"/>
                  <a:ea typeface="Futura"/>
                  <a:cs typeface="Futura"/>
                  <a:sym typeface="Futura"/>
                  <a:hlinkClick r:id="rId3" tooltip="https://www.facebook.com/profile.php?id=61577216670878"/>
                </a:rPr>
                <a:t>MunawwarFoundation</a:t>
              </a:r>
            </a:p>
            <a:p>
              <a:pPr algn="l">
                <a:lnSpc>
                  <a:spcPts val="2071"/>
                </a:lnSpc>
              </a:pPr>
            </a:p>
          </p:txBody>
        </p:sp>
      </p:grpSp>
      <p:sp>
        <p:nvSpPr>
          <p:cNvPr name="TextBox 10" id="10"/>
          <p:cNvSpPr txBox="true"/>
          <p:nvPr/>
        </p:nvSpPr>
        <p:spPr>
          <a:xfrm rot="0">
            <a:off x="1361602" y="9709305"/>
            <a:ext cx="483679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Futura"/>
                <a:ea typeface="Futura"/>
                <a:cs typeface="Futura"/>
                <a:sym typeface="Futura"/>
              </a:rPr>
              <a:t>MUNAWWAR FOUNDATION-"Illuminating Hearts, Transforming Futures"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DAG2BlCgBCk</dc:identifier>
  <dcterms:modified xsi:type="dcterms:W3CDTF">2011-08-01T06:04:30Z</dcterms:modified>
  <cp:revision>1</cp:revision>
  <dc:title>ANNUAL REPORT 2025-26</dc:title>
</cp:coreProperties>
</file>