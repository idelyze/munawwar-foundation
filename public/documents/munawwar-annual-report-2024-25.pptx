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Lst>
  <p:sldSz cx="7556500" cy="10693400"/>
  <p:notesSz cx="6858000" cy="9144000"/>
  <p:embeddedFontLst>
    <p:embeddedFont>
      <p:font typeface="Overpass" charset="1" panose="00000500000000000000"/>
      <p:regular r:id="rId36"/>
    </p:embeddedFont>
    <p:embeddedFont>
      <p:font typeface="Cloud Condensed Bold" charset="1" panose="00000000000000000000"/>
      <p:regular r:id="rId37"/>
    </p:embeddedFont>
    <p:embeddedFont>
      <p:font typeface="Overpass Ultra-Bold" charset="1" panose="00000900000000000000"/>
      <p:regular r:id="rId3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fonts/font36.fntdata" Type="http://schemas.openxmlformats.org/officeDocument/2006/relationships/font"/><Relationship Id="rId37" Target="fonts/font37.fntdata" Type="http://schemas.openxmlformats.org/officeDocument/2006/relationships/font"/><Relationship Id="rId38" Target="fonts/font38.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 Id="rId3" Target="../media/image2.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jpeg" Type="http://schemas.openxmlformats.org/officeDocument/2006/relationships/image"/><Relationship Id="rId3" Target="../media/image2.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jpeg" Type="http://schemas.openxmlformats.org/officeDocument/2006/relationships/image"/><Relationship Id="rId3" Target="../media/image6.jpeg" Type="http://schemas.openxmlformats.org/officeDocument/2006/relationships/image"/><Relationship Id="rId4" Target="../media/image2.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2.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2.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2.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2.png" Type="http://schemas.openxmlformats.org/officeDocument/2006/relationships/image"/><Relationship Id="rId4" Target="../media/image11.png" Type="http://schemas.openxmlformats.org/officeDocument/2006/relationships/image"/><Relationship Id="rId5" Target="../media/image12.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jpeg" Type="http://schemas.openxmlformats.org/officeDocument/2006/relationships/image"/><Relationship Id="rId3" Target="../media/image14.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 Id="rId3" Target="../media/image16.jpeg" Type="http://schemas.openxmlformats.org/officeDocument/2006/relationships/image"/><Relationship Id="rId4" Target="../media/image17.jpeg" Type="http://schemas.openxmlformats.org/officeDocument/2006/relationships/image"/><Relationship Id="rId5" Target="../media/image2.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jpeg" Type="http://schemas.openxmlformats.org/officeDocument/2006/relationships/image"/><Relationship Id="rId3" Target="../media/image2.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19.jpeg" Type="http://schemas.openxmlformats.org/officeDocument/2006/relationships/image"/><Relationship Id="rId4" Target="../media/image20.jpe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21.jpe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22.jpeg" Type="http://schemas.openxmlformats.org/officeDocument/2006/relationships/image"/><Relationship Id="rId4" Target="../media/image23.jpeg" Type="http://schemas.openxmlformats.org/officeDocument/2006/relationships/image"/><Relationship Id="rId5" Target="../media/image24.jpeg" Type="http://schemas.openxmlformats.org/officeDocument/2006/relationships/image"/><Relationship Id="rId6" Target="../media/image25.jpe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26.jpe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jpeg" Type="http://schemas.openxmlformats.org/officeDocument/2006/relationships/image"/><Relationship Id="rId3" Target="../media/image2.png" Type="http://schemas.openxmlformats.org/officeDocument/2006/relationships/image"/><Relationship Id="rId4" Target="../media/image27.jpeg" Type="http://schemas.openxmlformats.org/officeDocument/2006/relationships/image"/><Relationship Id="rId5" Target="../media/image28.jpeg" Type="http://schemas.openxmlformats.org/officeDocument/2006/relationships/image"/><Relationship Id="rId6" Target="../media/image29.jpe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0.jpe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1.jpe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2.jpe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3.jpe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4.jpeg" Type="http://schemas.openxmlformats.org/officeDocument/2006/relationships/image"/><Relationship Id="rId3" Target="../media/image2.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5.jpeg" Type="http://schemas.openxmlformats.org/officeDocument/2006/relationships/image"/><Relationship Id="rId4" Target="../media/image36.jpeg" Type="http://schemas.openxmlformats.org/officeDocument/2006/relationships/image"/><Relationship Id="rId5" Target="../media/image37.jpeg" Type="http://schemas.openxmlformats.org/officeDocument/2006/relationships/image"/><Relationship Id="rId6" Target="../media/image38.jpe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9.jpeg" Type="http://schemas.openxmlformats.org/officeDocument/2006/relationships/image"/><Relationship Id="rId4" Target="../media/image40.jpeg" Type="http://schemas.openxmlformats.org/officeDocument/2006/relationships/image"/><Relationship Id="rId5" Target="../media/image41.jpeg" Type="http://schemas.openxmlformats.org/officeDocument/2006/relationships/image"/><Relationship Id="rId6" Target="../media/image42.jpe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43.jpeg" Type="http://schemas.openxmlformats.org/officeDocument/2006/relationships/image"/><Relationship Id="rId4" Target="../media/image44.jpe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5.jpeg" Type="http://schemas.openxmlformats.org/officeDocument/2006/relationships/image"/><Relationship Id="rId4" Target="../media/image45.jpeg" Type="http://schemas.openxmlformats.org/officeDocument/2006/relationships/image"/><Relationship Id="rId5" Target="../media/image46.jpeg" Type="http://schemas.openxmlformats.org/officeDocument/2006/relationships/image"/><Relationship Id="rId6" Target="../media/image47.png" Type="http://schemas.openxmlformats.org/officeDocument/2006/relationships/image"/><Relationship Id="rId7" Target="../media/image48.png" Type="http://schemas.openxmlformats.org/officeDocument/2006/relationships/image"/><Relationship Id="rId8" Target="../media/image49.pn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50.png" Type="http://schemas.openxmlformats.org/officeDocument/2006/relationships/image"/><Relationship Id="rId4" Target="../media/image51.png" Type="http://schemas.openxmlformats.org/officeDocument/2006/relationships/image"/><Relationship Id="rId5" Target="../media/image52.jpeg" Type="http://schemas.openxmlformats.org/officeDocument/2006/relationships/image"/><Relationship Id="rId6" Target="../media/image43.jpe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53.jpe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54.jpe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55.jpe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6.jpeg" Type="http://schemas.openxmlformats.org/officeDocument/2006/relationships/image"/><Relationship Id="rId3" Target="../media/image2.png" Type="http://schemas.openxmlformats.org/officeDocument/2006/relationships/image"/><Relationship Id="rId4" Target="https://www.facebook.com/profile.php?id=61577216670878" TargetMode="External" Type="http://schemas.openxmlformats.org/officeDocument/2006/relationships/hyperlink"/></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399FAD"/>
        </a:solidFill>
      </p:bgPr>
    </p:bg>
    <p:spTree>
      <p:nvGrpSpPr>
        <p:cNvPr id="1" name=""/>
        <p:cNvGrpSpPr/>
        <p:nvPr/>
      </p:nvGrpSpPr>
      <p:grpSpPr>
        <a:xfrm>
          <a:off x="0" y="0"/>
          <a:ext cx="0" cy="0"/>
          <a:chOff x="0" y="0"/>
          <a:chExt cx="0" cy="0"/>
        </a:xfrm>
      </p:grpSpPr>
      <p:grpSp>
        <p:nvGrpSpPr>
          <p:cNvPr name="Group 2" id="2"/>
          <p:cNvGrpSpPr/>
          <p:nvPr/>
        </p:nvGrpSpPr>
        <p:grpSpPr>
          <a:xfrm rot="0">
            <a:off x="-298563" y="8632587"/>
            <a:ext cx="6432808" cy="2309906"/>
            <a:chOff x="0" y="0"/>
            <a:chExt cx="2305373" cy="827818"/>
          </a:xfrm>
        </p:grpSpPr>
        <p:sp>
          <p:nvSpPr>
            <p:cNvPr name="Freeform 3" id="3"/>
            <p:cNvSpPr/>
            <p:nvPr/>
          </p:nvSpPr>
          <p:spPr>
            <a:xfrm flipH="false" flipV="false" rot="0">
              <a:off x="0" y="0"/>
              <a:ext cx="2305373" cy="827818"/>
            </a:xfrm>
            <a:custGeom>
              <a:avLst/>
              <a:gdLst/>
              <a:ahLst/>
              <a:cxnLst/>
              <a:rect r="r" b="b" t="t" l="l"/>
              <a:pathLst>
                <a:path h="827818" w="2305373">
                  <a:moveTo>
                    <a:pt x="0" y="0"/>
                  </a:moveTo>
                  <a:lnTo>
                    <a:pt x="2305373" y="0"/>
                  </a:lnTo>
                  <a:lnTo>
                    <a:pt x="2305373" y="827818"/>
                  </a:lnTo>
                  <a:lnTo>
                    <a:pt x="0" y="827818"/>
                  </a:lnTo>
                  <a:close/>
                </a:path>
              </a:pathLst>
            </a:custGeom>
            <a:solidFill>
              <a:srgbClr val="FFFFFF"/>
            </a:solidFill>
          </p:spPr>
        </p:sp>
        <p:sp>
          <p:nvSpPr>
            <p:cNvPr name="TextBox 4" id="4"/>
            <p:cNvSpPr txBox="true"/>
            <p:nvPr/>
          </p:nvSpPr>
          <p:spPr>
            <a:xfrm>
              <a:off x="0" y="-47625"/>
              <a:ext cx="2305373" cy="875443"/>
            </a:xfrm>
            <a:prstGeom prst="rect">
              <a:avLst/>
            </a:prstGeom>
          </p:spPr>
          <p:txBody>
            <a:bodyPr anchor="ctr" rtlCol="false" tIns="50800" lIns="50800" bIns="50800" rIns="50800"/>
            <a:lstStyle/>
            <a:p>
              <a:pPr algn="ctr">
                <a:lnSpc>
                  <a:spcPts val="1544"/>
                </a:lnSpc>
              </a:pPr>
            </a:p>
          </p:txBody>
        </p:sp>
      </p:grpSp>
      <p:grpSp>
        <p:nvGrpSpPr>
          <p:cNvPr name="Group 5" id="5"/>
          <p:cNvGrpSpPr/>
          <p:nvPr/>
        </p:nvGrpSpPr>
        <p:grpSpPr>
          <a:xfrm rot="0">
            <a:off x="2404643" y="6089484"/>
            <a:ext cx="5049204" cy="4408864"/>
            <a:chOff x="0" y="0"/>
            <a:chExt cx="6732272" cy="5878485"/>
          </a:xfrm>
        </p:grpSpPr>
        <p:pic>
          <p:nvPicPr>
            <p:cNvPr name="Picture 6" id="6"/>
            <p:cNvPicPr>
              <a:picLocks noChangeAspect="true"/>
            </p:cNvPicPr>
            <p:nvPr/>
          </p:nvPicPr>
          <p:blipFill>
            <a:blip r:embed="rId2"/>
            <a:srcRect l="0" t="24022" r="0" b="24022"/>
            <a:stretch>
              <a:fillRect/>
            </a:stretch>
          </p:blipFill>
          <p:spPr>
            <a:xfrm flipH="false" flipV="false">
              <a:off x="0" y="0"/>
              <a:ext cx="6732272" cy="5878485"/>
            </a:xfrm>
            <a:prstGeom prst="rect">
              <a:avLst/>
            </a:prstGeom>
          </p:spPr>
        </p:pic>
      </p:grpSp>
      <p:sp>
        <p:nvSpPr>
          <p:cNvPr name="Freeform 7" id="7"/>
          <p:cNvSpPr/>
          <p:nvPr/>
        </p:nvSpPr>
        <p:spPr>
          <a:xfrm flipH="false" flipV="false" rot="0">
            <a:off x="110518" y="8736217"/>
            <a:ext cx="2294126" cy="1762131"/>
          </a:xfrm>
          <a:custGeom>
            <a:avLst/>
            <a:gdLst/>
            <a:ahLst/>
            <a:cxnLst/>
            <a:rect r="r" b="b" t="t" l="l"/>
            <a:pathLst>
              <a:path h="1762131" w="2294126">
                <a:moveTo>
                  <a:pt x="0" y="0"/>
                </a:moveTo>
                <a:lnTo>
                  <a:pt x="2294125" y="0"/>
                </a:lnTo>
                <a:lnTo>
                  <a:pt x="2294125" y="1762131"/>
                </a:lnTo>
                <a:lnTo>
                  <a:pt x="0" y="1762131"/>
                </a:lnTo>
                <a:lnTo>
                  <a:pt x="0" y="0"/>
                </a:lnTo>
                <a:close/>
              </a:path>
            </a:pathLst>
          </a:custGeom>
          <a:blipFill>
            <a:blip r:embed="rId3"/>
            <a:stretch>
              <a:fillRect l="-5367" t="-7302" r="-5678" b="-37269"/>
            </a:stretch>
          </a:blipFill>
        </p:spPr>
      </p:sp>
      <p:sp>
        <p:nvSpPr>
          <p:cNvPr name="TextBox 8" id="8"/>
          <p:cNvSpPr txBox="true"/>
          <p:nvPr/>
        </p:nvSpPr>
        <p:spPr>
          <a:xfrm rot="0">
            <a:off x="775416" y="698850"/>
            <a:ext cx="2558885" cy="269162"/>
          </a:xfrm>
          <a:prstGeom prst="rect">
            <a:avLst/>
          </a:prstGeom>
        </p:spPr>
        <p:txBody>
          <a:bodyPr anchor="t" rtlCol="false" tIns="0" lIns="0" bIns="0" rIns="0">
            <a:spAutoFit/>
          </a:bodyPr>
          <a:lstStyle/>
          <a:p>
            <a:pPr algn="l">
              <a:lnSpc>
                <a:spcPts val="1964"/>
              </a:lnSpc>
            </a:pPr>
            <a:r>
              <a:rPr lang="en-US" sz="1403">
                <a:solidFill>
                  <a:srgbClr val="FFFFFF"/>
                </a:solidFill>
                <a:latin typeface="Overpass"/>
                <a:ea typeface="Overpass"/>
                <a:cs typeface="Overpass"/>
                <a:sym typeface="Overpass"/>
              </a:rPr>
              <a:t>www.munawwarfoundation.org</a:t>
            </a:r>
          </a:p>
        </p:txBody>
      </p:sp>
      <p:sp>
        <p:nvSpPr>
          <p:cNvPr name="TextBox 9" id="9"/>
          <p:cNvSpPr txBox="true"/>
          <p:nvPr/>
        </p:nvSpPr>
        <p:spPr>
          <a:xfrm rot="0">
            <a:off x="736600" y="1485088"/>
            <a:ext cx="6067400" cy="3743325"/>
          </a:xfrm>
          <a:prstGeom prst="rect">
            <a:avLst/>
          </a:prstGeom>
        </p:spPr>
        <p:txBody>
          <a:bodyPr anchor="t" rtlCol="false" tIns="0" lIns="0" bIns="0" rIns="0">
            <a:spAutoFit/>
          </a:bodyPr>
          <a:lstStyle/>
          <a:p>
            <a:pPr algn="l">
              <a:lnSpc>
                <a:spcPts val="9450"/>
              </a:lnSpc>
            </a:pPr>
            <a:r>
              <a:rPr lang="en-US" sz="9000" b="true">
                <a:solidFill>
                  <a:srgbClr val="FFFFFF"/>
                </a:solidFill>
                <a:latin typeface="Cloud Condensed Bold"/>
                <a:ea typeface="Cloud Condensed Bold"/>
                <a:cs typeface="Cloud Condensed Bold"/>
                <a:sym typeface="Cloud Condensed Bold"/>
              </a:rPr>
              <a:t>MUNAWWAR</a:t>
            </a:r>
          </a:p>
          <a:p>
            <a:pPr algn="l">
              <a:lnSpc>
                <a:spcPts val="9450"/>
              </a:lnSpc>
            </a:pPr>
            <a:r>
              <a:rPr lang="en-US" sz="9000" b="true">
                <a:solidFill>
                  <a:srgbClr val="FFFFFF"/>
                </a:solidFill>
                <a:latin typeface="Cloud Condensed Bold"/>
                <a:ea typeface="Cloud Condensed Bold"/>
                <a:cs typeface="Cloud Condensed Bold"/>
                <a:sym typeface="Cloud Condensed Bold"/>
              </a:rPr>
              <a:t>FOUNDATION</a:t>
            </a:r>
          </a:p>
          <a:p>
            <a:pPr algn="l">
              <a:lnSpc>
                <a:spcPts val="9450"/>
              </a:lnSpc>
            </a:pPr>
            <a:r>
              <a:rPr lang="en-US" sz="9000" b="true">
                <a:solidFill>
                  <a:srgbClr val="FFFFFF"/>
                </a:solidFill>
                <a:latin typeface="Cloud Condensed Bold"/>
                <a:ea typeface="Cloud Condensed Bold"/>
                <a:cs typeface="Cloud Condensed Bold"/>
                <a:sym typeface="Cloud Condensed Bold"/>
              </a:rPr>
              <a:t>2024-25</a:t>
            </a:r>
          </a:p>
        </p:txBody>
      </p:sp>
      <p:sp>
        <p:nvSpPr>
          <p:cNvPr name="TextBox 10" id="10"/>
          <p:cNvSpPr txBox="true"/>
          <p:nvPr/>
        </p:nvSpPr>
        <p:spPr>
          <a:xfrm rot="0">
            <a:off x="736600" y="4935891"/>
            <a:ext cx="4281936" cy="667817"/>
          </a:xfrm>
          <a:prstGeom prst="rect">
            <a:avLst/>
          </a:prstGeom>
        </p:spPr>
        <p:txBody>
          <a:bodyPr anchor="t" rtlCol="false" tIns="0" lIns="0" bIns="0" rIns="0">
            <a:spAutoFit/>
          </a:bodyPr>
          <a:lstStyle/>
          <a:p>
            <a:pPr algn="l">
              <a:lnSpc>
                <a:spcPts val="4775"/>
              </a:lnSpc>
            </a:pPr>
            <a:r>
              <a:rPr lang="en-US" sz="3410">
                <a:solidFill>
                  <a:srgbClr val="FFFFFF"/>
                </a:solidFill>
                <a:latin typeface="Overpass"/>
                <a:ea typeface="Overpass"/>
                <a:cs typeface="Overpass"/>
                <a:sym typeface="Overpass"/>
              </a:rPr>
              <a:t>ANNUAL REPORT</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77035" y="0"/>
            <a:ext cx="3697863" cy="10931007"/>
            <a:chOff x="0" y="0"/>
            <a:chExt cx="1325231" cy="3917426"/>
          </a:xfrm>
        </p:grpSpPr>
        <p:sp>
          <p:nvSpPr>
            <p:cNvPr name="Freeform 3" id="3"/>
            <p:cNvSpPr/>
            <p:nvPr/>
          </p:nvSpPr>
          <p:spPr>
            <a:xfrm flipH="false" flipV="false" rot="0">
              <a:off x="0" y="0"/>
              <a:ext cx="1325231" cy="3917426"/>
            </a:xfrm>
            <a:custGeom>
              <a:avLst/>
              <a:gdLst/>
              <a:ahLst/>
              <a:cxnLst/>
              <a:rect r="r" b="b" t="t" l="l"/>
              <a:pathLst>
                <a:path h="3917426" w="1325231">
                  <a:moveTo>
                    <a:pt x="0" y="0"/>
                  </a:moveTo>
                  <a:lnTo>
                    <a:pt x="1325231" y="0"/>
                  </a:lnTo>
                  <a:lnTo>
                    <a:pt x="1325231" y="3917426"/>
                  </a:lnTo>
                  <a:lnTo>
                    <a:pt x="0" y="3917426"/>
                  </a:lnTo>
                  <a:close/>
                </a:path>
              </a:pathLst>
            </a:custGeom>
            <a:solidFill>
              <a:srgbClr val="399FAD"/>
            </a:solidFill>
          </p:spPr>
        </p:sp>
        <p:sp>
          <p:nvSpPr>
            <p:cNvPr name="TextBox 4" id="4"/>
            <p:cNvSpPr txBox="true"/>
            <p:nvPr/>
          </p:nvSpPr>
          <p:spPr>
            <a:xfrm>
              <a:off x="0" y="-47625"/>
              <a:ext cx="1325231" cy="3965051"/>
            </a:xfrm>
            <a:prstGeom prst="rect">
              <a:avLst/>
            </a:prstGeom>
          </p:spPr>
          <p:txBody>
            <a:bodyPr anchor="ctr" rtlCol="false" tIns="50800" lIns="50800" bIns="50800" rIns="50800"/>
            <a:lstStyle/>
            <a:p>
              <a:pPr algn="ctr">
                <a:lnSpc>
                  <a:spcPts val="1544"/>
                </a:lnSpc>
              </a:pPr>
            </a:p>
          </p:txBody>
        </p:sp>
      </p:grpSp>
      <p:grpSp>
        <p:nvGrpSpPr>
          <p:cNvPr name="Group 5" id="5"/>
          <p:cNvGrpSpPr/>
          <p:nvPr/>
        </p:nvGrpSpPr>
        <p:grpSpPr>
          <a:xfrm rot="0">
            <a:off x="-177035" y="514249"/>
            <a:ext cx="3697863" cy="4698284"/>
            <a:chOff x="0" y="0"/>
            <a:chExt cx="4930484" cy="6264379"/>
          </a:xfrm>
        </p:grpSpPr>
        <p:pic>
          <p:nvPicPr>
            <p:cNvPr name="Picture 6" id="6"/>
            <p:cNvPicPr>
              <a:picLocks noChangeAspect="true"/>
            </p:cNvPicPr>
            <p:nvPr/>
          </p:nvPicPr>
          <p:blipFill>
            <a:blip r:embed="rId2"/>
            <a:srcRect l="0" t="1896" r="0" b="1896"/>
            <a:stretch>
              <a:fillRect/>
            </a:stretch>
          </p:blipFill>
          <p:spPr>
            <a:xfrm flipH="false" flipV="false">
              <a:off x="0" y="0"/>
              <a:ext cx="4930484" cy="6264379"/>
            </a:xfrm>
            <a:prstGeom prst="rect">
              <a:avLst/>
            </a:prstGeom>
          </p:spPr>
        </p:pic>
      </p:grpSp>
      <p:sp>
        <p:nvSpPr>
          <p:cNvPr name="Freeform 7" id="7"/>
          <p:cNvSpPr/>
          <p:nvPr/>
        </p:nvSpPr>
        <p:spPr>
          <a:xfrm flipH="false" flipV="false" rot="0">
            <a:off x="6688312" y="9847696"/>
            <a:ext cx="584339" cy="490452"/>
          </a:xfrm>
          <a:custGeom>
            <a:avLst/>
            <a:gdLst/>
            <a:ahLst/>
            <a:cxnLst/>
            <a:rect r="r" b="b" t="t" l="l"/>
            <a:pathLst>
              <a:path h="490452" w="584339">
                <a:moveTo>
                  <a:pt x="0" y="0"/>
                </a:moveTo>
                <a:lnTo>
                  <a:pt x="584340" y="0"/>
                </a:lnTo>
                <a:lnTo>
                  <a:pt x="584340" y="490452"/>
                </a:lnTo>
                <a:lnTo>
                  <a:pt x="0" y="490452"/>
                </a:lnTo>
                <a:lnTo>
                  <a:pt x="0" y="0"/>
                </a:lnTo>
                <a:close/>
              </a:path>
            </a:pathLst>
          </a:custGeom>
          <a:blipFill>
            <a:blip r:embed="rId3"/>
            <a:stretch>
              <a:fillRect l="-6287" t="-6658" r="-8382" b="-29963"/>
            </a:stretch>
          </a:blipFill>
        </p:spPr>
      </p:sp>
      <p:grpSp>
        <p:nvGrpSpPr>
          <p:cNvPr name="Group 8" id="8"/>
          <p:cNvGrpSpPr/>
          <p:nvPr/>
        </p:nvGrpSpPr>
        <p:grpSpPr>
          <a:xfrm rot="0">
            <a:off x="3870000" y="7396839"/>
            <a:ext cx="2934000" cy="493878"/>
            <a:chOff x="0" y="0"/>
            <a:chExt cx="3912000" cy="658504"/>
          </a:xfrm>
        </p:grpSpPr>
        <p:sp>
          <p:nvSpPr>
            <p:cNvPr name="TextBox 9" id="9"/>
            <p:cNvSpPr txBox="true"/>
            <p:nvPr/>
          </p:nvSpPr>
          <p:spPr>
            <a:xfrm rot="0">
              <a:off x="0" y="-85725"/>
              <a:ext cx="3912000" cy="399838"/>
            </a:xfrm>
            <a:prstGeom prst="rect">
              <a:avLst/>
            </a:prstGeom>
          </p:spPr>
          <p:txBody>
            <a:bodyPr anchor="t" rtlCol="false" tIns="0" lIns="0" bIns="0" rIns="0">
              <a:spAutoFit/>
            </a:bodyPr>
            <a:lstStyle/>
            <a:p>
              <a:pPr algn="l">
                <a:lnSpc>
                  <a:spcPts val="2239"/>
                </a:lnSpc>
              </a:pPr>
              <a:r>
                <a:rPr lang="en-US" sz="1599" b="true">
                  <a:solidFill>
                    <a:srgbClr val="399FAD"/>
                  </a:solidFill>
                  <a:latin typeface="Overpass Ultra-Bold"/>
                  <a:ea typeface="Overpass Ultra-Bold"/>
                  <a:cs typeface="Overpass Ultra-Bold"/>
                  <a:sym typeface="Overpass Ultra-Bold"/>
                </a:rPr>
                <a:t>SABA WAHEED FAROOQI</a:t>
              </a:r>
            </a:p>
          </p:txBody>
        </p:sp>
        <p:sp>
          <p:nvSpPr>
            <p:cNvPr name="TextBox 10" id="10"/>
            <p:cNvSpPr txBox="true"/>
            <p:nvPr/>
          </p:nvSpPr>
          <p:spPr>
            <a:xfrm rot="0">
              <a:off x="0" y="318567"/>
              <a:ext cx="3912000" cy="339937"/>
            </a:xfrm>
            <a:prstGeom prst="rect">
              <a:avLst/>
            </a:prstGeom>
          </p:spPr>
          <p:txBody>
            <a:bodyPr anchor="t" rtlCol="false" tIns="0" lIns="0" bIns="0" rIns="0">
              <a:spAutoFit/>
            </a:bodyPr>
            <a:lstStyle/>
            <a:p>
              <a:pPr algn="l">
                <a:lnSpc>
                  <a:spcPts val="1960"/>
                </a:lnSpc>
              </a:pPr>
              <a:r>
                <a:rPr lang="en-US" sz="1400">
                  <a:solidFill>
                    <a:srgbClr val="000001"/>
                  </a:solidFill>
                  <a:latin typeface="Overpass"/>
                  <a:ea typeface="Overpass"/>
                  <a:cs typeface="Overpass"/>
                  <a:sym typeface="Overpass"/>
                </a:rPr>
                <a:t>PRESIDENT</a:t>
              </a:r>
            </a:p>
          </p:txBody>
        </p:sp>
      </p:grpSp>
      <p:sp>
        <p:nvSpPr>
          <p:cNvPr name="TextBox 11" id="11"/>
          <p:cNvSpPr txBox="true"/>
          <p:nvPr/>
        </p:nvSpPr>
        <p:spPr>
          <a:xfrm rot="0">
            <a:off x="3870000" y="756000"/>
            <a:ext cx="2923520" cy="1531620"/>
          </a:xfrm>
          <a:prstGeom prst="rect">
            <a:avLst/>
          </a:prstGeom>
        </p:spPr>
        <p:txBody>
          <a:bodyPr anchor="t" rtlCol="false" tIns="0" lIns="0" bIns="0" rIns="0">
            <a:spAutoFit/>
          </a:bodyPr>
          <a:lstStyle/>
          <a:p>
            <a:pPr algn="l">
              <a:lnSpc>
                <a:spcPts val="3960"/>
              </a:lnSpc>
            </a:pPr>
            <a:r>
              <a:rPr lang="en-US" sz="3600" b="true">
                <a:solidFill>
                  <a:srgbClr val="399FAD"/>
                </a:solidFill>
                <a:latin typeface="Cloud Condensed Bold"/>
                <a:ea typeface="Cloud Condensed Bold"/>
                <a:cs typeface="Cloud Condensed Bold"/>
                <a:sym typeface="Cloud Condensed Bold"/>
              </a:rPr>
              <a:t>A WORD</a:t>
            </a:r>
          </a:p>
          <a:p>
            <a:pPr algn="l">
              <a:lnSpc>
                <a:spcPts val="3960"/>
              </a:lnSpc>
            </a:pPr>
            <a:r>
              <a:rPr lang="en-US" sz="3600" b="true">
                <a:solidFill>
                  <a:srgbClr val="399FAD"/>
                </a:solidFill>
                <a:latin typeface="Cloud Condensed Bold"/>
                <a:ea typeface="Cloud Condensed Bold"/>
                <a:cs typeface="Cloud Condensed Bold"/>
                <a:sym typeface="Cloud Condensed Bold"/>
              </a:rPr>
              <a:t>FROM THE PRESIDENT</a:t>
            </a:r>
          </a:p>
        </p:txBody>
      </p:sp>
      <p:sp>
        <p:nvSpPr>
          <p:cNvPr name="TextBox 12" id="12"/>
          <p:cNvSpPr txBox="true"/>
          <p:nvPr/>
        </p:nvSpPr>
        <p:spPr>
          <a:xfrm rot="0">
            <a:off x="3870000" y="2669958"/>
            <a:ext cx="3518336" cy="4231640"/>
          </a:xfrm>
          <a:prstGeom prst="rect">
            <a:avLst/>
          </a:prstGeom>
        </p:spPr>
        <p:txBody>
          <a:bodyPr anchor="t" rtlCol="false" tIns="0" lIns="0" bIns="0" rIns="0">
            <a:spAutoFit/>
          </a:bodyPr>
          <a:lstStyle/>
          <a:p>
            <a:pPr algn="l">
              <a:lnSpc>
                <a:spcPts val="1960"/>
              </a:lnSpc>
            </a:pPr>
            <a:r>
              <a:rPr lang="en-US" sz="1400">
                <a:solidFill>
                  <a:srgbClr val="000001"/>
                </a:solidFill>
                <a:latin typeface="Overpass"/>
                <a:ea typeface="Overpass"/>
                <a:cs typeface="Overpass"/>
                <a:sym typeface="Overpass"/>
              </a:rPr>
              <a:t>As we embark on this journey, I am filled with gratitude for the love and encouragement from family, friends, and the community.</a:t>
            </a:r>
          </a:p>
          <a:p>
            <a:pPr algn="l">
              <a:lnSpc>
                <a:spcPts val="1960"/>
              </a:lnSpc>
            </a:pPr>
          </a:p>
          <a:p>
            <a:pPr algn="l">
              <a:lnSpc>
                <a:spcPts val="1960"/>
              </a:lnSpc>
            </a:pPr>
            <a:r>
              <a:rPr lang="en-US" sz="1400">
                <a:solidFill>
                  <a:srgbClr val="000001"/>
                </a:solidFill>
                <a:latin typeface="Overpass"/>
                <a:ea typeface="Overpass"/>
                <a:cs typeface="Overpass"/>
                <a:sym typeface="Overpass"/>
              </a:rPr>
              <a:t>Y</a:t>
            </a:r>
            <a:r>
              <a:rPr lang="en-US" sz="1400">
                <a:solidFill>
                  <a:srgbClr val="000001"/>
                </a:solidFill>
                <a:latin typeface="Overpass"/>
                <a:ea typeface="Overpass"/>
                <a:cs typeface="Overpass"/>
                <a:sym typeface="Overpass"/>
              </a:rPr>
              <a:t>our support strengthens our resolve and brings us closer to making a difference.</a:t>
            </a:r>
          </a:p>
          <a:p>
            <a:pPr algn="l">
              <a:lnSpc>
                <a:spcPts val="1960"/>
              </a:lnSpc>
            </a:pPr>
          </a:p>
          <a:p>
            <a:pPr algn="l">
              <a:lnSpc>
                <a:spcPts val="1960"/>
              </a:lnSpc>
            </a:pPr>
            <a:r>
              <a:rPr lang="en-US" sz="1400">
                <a:solidFill>
                  <a:srgbClr val="000001"/>
                </a:solidFill>
                <a:latin typeface="Overpass"/>
                <a:ea typeface="Overpass"/>
                <a:cs typeface="Overpass"/>
                <a:sym typeface="Overpass"/>
              </a:rPr>
              <a:t>I</a:t>
            </a:r>
            <a:r>
              <a:rPr lang="en-US" sz="1400">
                <a:solidFill>
                  <a:srgbClr val="000001"/>
                </a:solidFill>
                <a:latin typeface="Overpass"/>
                <a:ea typeface="Overpass"/>
                <a:cs typeface="Overpass"/>
                <a:sym typeface="Overpass"/>
              </a:rPr>
              <a:t> am honored to lead the Munawwar Foundation. May it be a beacon of hope and a testament to the power of love and kindness.</a:t>
            </a:r>
          </a:p>
          <a:p>
            <a:pPr algn="l">
              <a:lnSpc>
                <a:spcPts val="1960"/>
              </a:lnSpc>
            </a:pPr>
          </a:p>
          <a:p>
            <a:pPr algn="l">
              <a:lnSpc>
                <a:spcPts val="1960"/>
              </a:lnSpc>
            </a:pPr>
            <a:r>
              <a:rPr lang="en-US" sz="1400">
                <a:solidFill>
                  <a:srgbClr val="000001"/>
                </a:solidFill>
                <a:latin typeface="Overpass"/>
                <a:ea typeface="Overpass"/>
                <a:cs typeface="Overpass"/>
                <a:sym typeface="Overpass"/>
              </a:rPr>
              <a:t>Thank you for joining us in this endeavor. Together, we can continue to spread the light that Munawwar brought into the world.</a:t>
            </a:r>
          </a:p>
          <a:p>
            <a:pPr algn="l">
              <a:lnSpc>
                <a:spcPts val="1960"/>
              </a:lnSpc>
            </a:pP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00993" y="-227409"/>
            <a:ext cx="7961986" cy="2379134"/>
            <a:chOff x="0" y="0"/>
            <a:chExt cx="2853396" cy="852628"/>
          </a:xfrm>
        </p:grpSpPr>
        <p:sp>
          <p:nvSpPr>
            <p:cNvPr name="Freeform 3" id="3"/>
            <p:cNvSpPr/>
            <p:nvPr/>
          </p:nvSpPr>
          <p:spPr>
            <a:xfrm flipH="false" flipV="false" rot="0">
              <a:off x="0" y="0"/>
              <a:ext cx="2853396" cy="852628"/>
            </a:xfrm>
            <a:custGeom>
              <a:avLst/>
              <a:gdLst/>
              <a:ahLst/>
              <a:cxnLst/>
              <a:rect r="r" b="b" t="t" l="l"/>
              <a:pathLst>
                <a:path h="852628" w="2853396">
                  <a:moveTo>
                    <a:pt x="0" y="0"/>
                  </a:moveTo>
                  <a:lnTo>
                    <a:pt x="2853396" y="0"/>
                  </a:lnTo>
                  <a:lnTo>
                    <a:pt x="2853396" y="852628"/>
                  </a:lnTo>
                  <a:lnTo>
                    <a:pt x="0" y="852628"/>
                  </a:lnTo>
                  <a:close/>
                </a:path>
              </a:pathLst>
            </a:custGeom>
            <a:solidFill>
              <a:srgbClr val="399FAD"/>
            </a:solidFill>
          </p:spPr>
        </p:sp>
        <p:sp>
          <p:nvSpPr>
            <p:cNvPr name="TextBox 4" id="4"/>
            <p:cNvSpPr txBox="true"/>
            <p:nvPr/>
          </p:nvSpPr>
          <p:spPr>
            <a:xfrm>
              <a:off x="0" y="-47625"/>
              <a:ext cx="2853396" cy="900253"/>
            </a:xfrm>
            <a:prstGeom prst="rect">
              <a:avLst/>
            </a:prstGeom>
          </p:spPr>
          <p:txBody>
            <a:bodyPr anchor="ctr" rtlCol="false" tIns="50800" lIns="50800" bIns="50800" rIns="50800"/>
            <a:lstStyle/>
            <a:p>
              <a:pPr algn="ctr">
                <a:lnSpc>
                  <a:spcPts val="1544"/>
                </a:lnSpc>
              </a:pPr>
            </a:p>
          </p:txBody>
        </p:sp>
      </p:grpSp>
      <p:grpSp>
        <p:nvGrpSpPr>
          <p:cNvPr name="Group 5" id="5"/>
          <p:cNvGrpSpPr/>
          <p:nvPr/>
        </p:nvGrpSpPr>
        <p:grpSpPr>
          <a:xfrm rot="0">
            <a:off x="736566" y="1600533"/>
            <a:ext cx="6067467" cy="3593767"/>
            <a:chOff x="0" y="0"/>
            <a:chExt cx="8089956" cy="4791690"/>
          </a:xfrm>
        </p:grpSpPr>
        <p:pic>
          <p:nvPicPr>
            <p:cNvPr name="Picture 6" id="6"/>
            <p:cNvPicPr>
              <a:picLocks noChangeAspect="true"/>
            </p:cNvPicPr>
            <p:nvPr/>
          </p:nvPicPr>
          <p:blipFill>
            <a:blip r:embed="rId2"/>
            <a:srcRect l="0" t="12393" r="0" b="12393"/>
            <a:stretch>
              <a:fillRect/>
            </a:stretch>
          </p:blipFill>
          <p:spPr>
            <a:xfrm flipH="false" flipV="false">
              <a:off x="0" y="0"/>
              <a:ext cx="8089956" cy="4791690"/>
            </a:xfrm>
            <a:prstGeom prst="rect">
              <a:avLst/>
            </a:prstGeom>
          </p:spPr>
        </p:pic>
      </p:grpSp>
      <p:sp>
        <p:nvSpPr>
          <p:cNvPr name="AutoShape 7" id="7"/>
          <p:cNvSpPr/>
          <p:nvPr/>
        </p:nvSpPr>
        <p:spPr>
          <a:xfrm>
            <a:off x="762401" y="756000"/>
            <a:ext cx="6023281" cy="0"/>
          </a:xfrm>
          <a:prstGeom prst="line">
            <a:avLst/>
          </a:prstGeom>
          <a:ln cap="flat" w="28575">
            <a:solidFill>
              <a:srgbClr val="FFFFFF"/>
            </a:solidFill>
            <a:prstDash val="solid"/>
            <a:headEnd type="none" len="sm" w="sm"/>
            <a:tailEnd type="none" len="sm" w="sm"/>
          </a:ln>
        </p:spPr>
      </p:sp>
      <p:sp>
        <p:nvSpPr>
          <p:cNvPr name="TextBox 8" id="8"/>
          <p:cNvSpPr txBox="true"/>
          <p:nvPr/>
        </p:nvSpPr>
        <p:spPr>
          <a:xfrm rot="0">
            <a:off x="775628" y="6974768"/>
            <a:ext cx="2914372" cy="2745662"/>
          </a:xfrm>
          <a:prstGeom prst="rect">
            <a:avLst/>
          </a:prstGeom>
        </p:spPr>
        <p:txBody>
          <a:bodyPr anchor="t" rtlCol="false" tIns="0" lIns="0" bIns="0" rIns="0">
            <a:spAutoFit/>
          </a:bodyPr>
          <a:lstStyle/>
          <a:p>
            <a:pPr algn="just">
              <a:lnSpc>
                <a:spcPts val="1964"/>
              </a:lnSpc>
            </a:pPr>
            <a:r>
              <a:rPr lang="en-US" sz="1403">
                <a:solidFill>
                  <a:srgbClr val="000001"/>
                </a:solidFill>
                <a:latin typeface="Overpass"/>
                <a:ea typeface="Overpass"/>
                <a:cs typeface="Overpass"/>
                <a:sym typeface="Overpass"/>
              </a:rPr>
              <a:t>Break Bread with the Needy the act of sharing food with those who are hungry or less fortunate, offering not just physical nourishment but also emotional connection and dignity. This gesture transcends mere charity, creating a bond between giver and receiver, reminding us of our shared humanity. By breaking bread together, </a:t>
            </a:r>
          </a:p>
        </p:txBody>
      </p:sp>
      <p:grpSp>
        <p:nvGrpSpPr>
          <p:cNvPr name="Group 9" id="9"/>
          <p:cNvGrpSpPr/>
          <p:nvPr/>
        </p:nvGrpSpPr>
        <p:grpSpPr>
          <a:xfrm rot="0">
            <a:off x="736566" y="5556250"/>
            <a:ext cx="2927599" cy="1242868"/>
            <a:chOff x="0" y="0"/>
            <a:chExt cx="3903466" cy="1657157"/>
          </a:xfrm>
        </p:grpSpPr>
        <p:sp>
          <p:nvSpPr>
            <p:cNvPr name="TextBox 10" id="10"/>
            <p:cNvSpPr txBox="true"/>
            <p:nvPr/>
          </p:nvSpPr>
          <p:spPr>
            <a:xfrm rot="0">
              <a:off x="0" y="0"/>
              <a:ext cx="3903466" cy="1381760"/>
            </a:xfrm>
            <a:prstGeom prst="rect">
              <a:avLst/>
            </a:prstGeom>
          </p:spPr>
          <p:txBody>
            <a:bodyPr anchor="t" rtlCol="false" tIns="0" lIns="0" bIns="0" rIns="0">
              <a:spAutoFit/>
            </a:bodyPr>
            <a:lstStyle/>
            <a:p>
              <a:pPr algn="l" marL="0" indent="0" lvl="0">
                <a:lnSpc>
                  <a:spcPts val="3960"/>
                </a:lnSpc>
                <a:spcBef>
                  <a:spcPct val="0"/>
                </a:spcBef>
              </a:pPr>
              <a:r>
                <a:rPr lang="en-US" b="true" sz="3600">
                  <a:solidFill>
                    <a:srgbClr val="399FAD"/>
                  </a:solidFill>
                  <a:latin typeface="Cloud Condensed Bold"/>
                  <a:ea typeface="Cloud Condensed Bold"/>
                  <a:cs typeface="Cloud Condensed Bold"/>
                  <a:sym typeface="Cloud Condensed Bold"/>
                </a:rPr>
                <a:t>COMBAT</a:t>
              </a:r>
              <a:r>
                <a:rPr lang="en-US" b="true" sz="3600" u="none">
                  <a:solidFill>
                    <a:srgbClr val="399FAD"/>
                  </a:solidFill>
                  <a:latin typeface="Cloud Condensed Bold"/>
                  <a:ea typeface="Cloud Condensed Bold"/>
                  <a:cs typeface="Cloud Condensed Bold"/>
                  <a:sym typeface="Cloud Condensed Bold"/>
                </a:rPr>
                <a:t> </a:t>
              </a:r>
            </a:p>
            <a:p>
              <a:pPr algn="l" marL="0" indent="0" lvl="0">
                <a:lnSpc>
                  <a:spcPts val="3960"/>
                </a:lnSpc>
                <a:spcBef>
                  <a:spcPct val="0"/>
                </a:spcBef>
              </a:pPr>
              <a:r>
                <a:rPr lang="en-US" b="true" sz="3600" u="none">
                  <a:solidFill>
                    <a:srgbClr val="399FAD"/>
                  </a:solidFill>
                  <a:latin typeface="Cloud Condensed Bold"/>
                  <a:ea typeface="Cloud Condensed Bold"/>
                  <a:cs typeface="Cloud Condensed Bold"/>
                  <a:sym typeface="Cloud Condensed Bold"/>
                </a:rPr>
                <a:t>HUNGER</a:t>
              </a:r>
            </a:p>
          </p:txBody>
        </p:sp>
        <p:sp>
          <p:nvSpPr>
            <p:cNvPr name="TextBox 11" id="11"/>
            <p:cNvSpPr txBox="true"/>
            <p:nvPr/>
          </p:nvSpPr>
          <p:spPr>
            <a:xfrm rot="0">
              <a:off x="18924" y="1392889"/>
              <a:ext cx="3884542" cy="264268"/>
            </a:xfrm>
            <a:prstGeom prst="rect">
              <a:avLst/>
            </a:prstGeom>
          </p:spPr>
          <p:txBody>
            <a:bodyPr anchor="t" rtlCol="false" tIns="0" lIns="0" bIns="0" rIns="0">
              <a:spAutoFit/>
            </a:bodyPr>
            <a:lstStyle/>
            <a:p>
              <a:pPr algn="l">
                <a:lnSpc>
                  <a:spcPts val="1544"/>
                </a:lnSpc>
              </a:pPr>
              <a:r>
                <a:rPr lang="en-US" sz="1103" b="true">
                  <a:solidFill>
                    <a:srgbClr val="000001"/>
                  </a:solidFill>
                  <a:latin typeface="Overpass Ultra-Bold"/>
                  <a:ea typeface="Overpass Ultra-Bold"/>
                  <a:cs typeface="Overpass Ultra-Bold"/>
                  <a:sym typeface="Overpass Ultra-Bold"/>
                </a:rPr>
                <a:t>A STEP TOWARDS</a:t>
              </a:r>
              <a:r>
                <a:rPr lang="en-US" sz="1103" b="true">
                  <a:solidFill>
                    <a:srgbClr val="000001"/>
                  </a:solidFill>
                  <a:latin typeface="Overpass Ultra-Bold"/>
                  <a:ea typeface="Overpass Ultra-Bold"/>
                  <a:cs typeface="Overpass Ultra-Bold"/>
                  <a:sym typeface="Overpass Ultra-Bold"/>
                </a:rPr>
                <a:t> HUMANITY</a:t>
              </a:r>
            </a:p>
          </p:txBody>
        </p:sp>
      </p:grpSp>
      <p:sp>
        <p:nvSpPr>
          <p:cNvPr name="TextBox 12" id="12"/>
          <p:cNvSpPr txBox="true"/>
          <p:nvPr/>
        </p:nvSpPr>
        <p:spPr>
          <a:xfrm rot="0">
            <a:off x="3870000" y="6974768"/>
            <a:ext cx="2934034" cy="1507412"/>
          </a:xfrm>
          <a:prstGeom prst="rect">
            <a:avLst/>
          </a:prstGeom>
        </p:spPr>
        <p:txBody>
          <a:bodyPr anchor="t" rtlCol="false" tIns="0" lIns="0" bIns="0" rIns="0">
            <a:spAutoFit/>
          </a:bodyPr>
          <a:lstStyle/>
          <a:p>
            <a:pPr algn="just">
              <a:lnSpc>
                <a:spcPts val="1964"/>
              </a:lnSpc>
            </a:pPr>
            <a:r>
              <a:rPr lang="en-US" sz="1403">
                <a:solidFill>
                  <a:srgbClr val="000001"/>
                </a:solidFill>
                <a:latin typeface="Overpass"/>
                <a:ea typeface="Overpass"/>
                <a:cs typeface="Overpass"/>
                <a:sym typeface="Overpass"/>
              </a:rPr>
              <a:t>we can foster hope, alleviate suffering, and build a more inclusive and caring society. It serves as a powerful reminder that small acts of kindness can make a significant impact in the lives of those in need.</a:t>
            </a:r>
          </a:p>
        </p:txBody>
      </p:sp>
      <p:sp>
        <p:nvSpPr>
          <p:cNvPr name="TextBox 13" id="13"/>
          <p:cNvSpPr txBox="true"/>
          <p:nvPr/>
        </p:nvSpPr>
        <p:spPr>
          <a:xfrm rot="0">
            <a:off x="762401" y="1026066"/>
            <a:ext cx="2114550" cy="210107"/>
          </a:xfrm>
          <a:prstGeom prst="rect">
            <a:avLst/>
          </a:prstGeom>
        </p:spPr>
        <p:txBody>
          <a:bodyPr anchor="t" rtlCol="false" tIns="0" lIns="0" bIns="0" rIns="0">
            <a:spAutoFit/>
          </a:bodyPr>
          <a:lstStyle/>
          <a:p>
            <a:pPr algn="l">
              <a:lnSpc>
                <a:spcPts val="1544"/>
              </a:lnSpc>
            </a:pPr>
            <a:r>
              <a:rPr lang="en-US" sz="1103">
                <a:solidFill>
                  <a:srgbClr val="FFFFFF"/>
                </a:solidFill>
                <a:latin typeface="Overpass"/>
                <a:ea typeface="Overpass"/>
                <a:cs typeface="Overpass"/>
                <a:sym typeface="Overpass"/>
              </a:rPr>
              <a:t>ANNUAL REPORT</a:t>
            </a:r>
          </a:p>
        </p:txBody>
      </p:sp>
      <p:sp>
        <p:nvSpPr>
          <p:cNvPr name="TextBox 14" id="14"/>
          <p:cNvSpPr txBox="true"/>
          <p:nvPr/>
        </p:nvSpPr>
        <p:spPr>
          <a:xfrm rot="0">
            <a:off x="4671131" y="1026066"/>
            <a:ext cx="2114550" cy="210107"/>
          </a:xfrm>
          <a:prstGeom prst="rect">
            <a:avLst/>
          </a:prstGeom>
        </p:spPr>
        <p:txBody>
          <a:bodyPr anchor="t" rtlCol="false" tIns="0" lIns="0" bIns="0" rIns="0">
            <a:spAutoFit/>
          </a:bodyPr>
          <a:lstStyle/>
          <a:p>
            <a:pPr algn="r">
              <a:lnSpc>
                <a:spcPts val="1544"/>
              </a:lnSpc>
            </a:pPr>
            <a:r>
              <a:rPr lang="en-US" sz="1103">
                <a:solidFill>
                  <a:srgbClr val="FFFFFF"/>
                </a:solidFill>
                <a:latin typeface="Overpass"/>
                <a:ea typeface="Overpass"/>
                <a:cs typeface="Overpass"/>
                <a:sym typeface="Overpass"/>
              </a:rPr>
              <a:t>YEAR 2024-25</a:t>
            </a:r>
          </a:p>
        </p:txBody>
      </p:sp>
      <p:sp>
        <p:nvSpPr>
          <p:cNvPr name="Freeform 15" id="15"/>
          <p:cNvSpPr/>
          <p:nvPr/>
        </p:nvSpPr>
        <p:spPr>
          <a:xfrm flipH="false" flipV="false" rot="0">
            <a:off x="6688312" y="9847696"/>
            <a:ext cx="584339" cy="490452"/>
          </a:xfrm>
          <a:custGeom>
            <a:avLst/>
            <a:gdLst/>
            <a:ahLst/>
            <a:cxnLst/>
            <a:rect r="r" b="b" t="t" l="l"/>
            <a:pathLst>
              <a:path h="490452" w="584339">
                <a:moveTo>
                  <a:pt x="0" y="0"/>
                </a:moveTo>
                <a:lnTo>
                  <a:pt x="584340" y="0"/>
                </a:lnTo>
                <a:lnTo>
                  <a:pt x="584340" y="490452"/>
                </a:lnTo>
                <a:lnTo>
                  <a:pt x="0" y="490452"/>
                </a:lnTo>
                <a:lnTo>
                  <a:pt x="0" y="0"/>
                </a:lnTo>
                <a:close/>
              </a:path>
            </a:pathLst>
          </a:custGeom>
          <a:blipFill>
            <a:blip r:embed="rId3"/>
            <a:stretch>
              <a:fillRect l="-6287" t="-6658" r="-8382" b="-29963"/>
            </a:stretch>
          </a:blipFill>
        </p:spPr>
      </p:sp>
      <p:sp>
        <p:nvSpPr>
          <p:cNvPr name="TextBox 16" id="16"/>
          <p:cNvSpPr txBox="true"/>
          <p:nvPr/>
        </p:nvSpPr>
        <p:spPr>
          <a:xfrm rot="0">
            <a:off x="775628" y="471373"/>
            <a:ext cx="5564305" cy="210107"/>
          </a:xfrm>
          <a:prstGeom prst="rect">
            <a:avLst/>
          </a:prstGeom>
        </p:spPr>
        <p:txBody>
          <a:bodyPr anchor="t" rtlCol="false" tIns="0" lIns="0" bIns="0" rIns="0">
            <a:spAutoFit/>
          </a:bodyPr>
          <a:lstStyle/>
          <a:p>
            <a:pPr algn="l">
              <a:lnSpc>
                <a:spcPts val="1544"/>
              </a:lnSpc>
            </a:pPr>
            <a:r>
              <a:rPr lang="en-US" sz="1103">
                <a:solidFill>
                  <a:srgbClr val="FFFFFF"/>
                </a:solidFill>
                <a:latin typeface="Overpass"/>
                <a:ea typeface="Overpass"/>
                <a:cs typeface="Overpass"/>
                <a:sym typeface="Overpass"/>
              </a:rPr>
              <a:t>MUNAWWAR FOUNDATION-"ILLUMINATING HEARTS, TRANSFORMING FUTURES"</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00993" y="-227409"/>
            <a:ext cx="7961986" cy="2379134"/>
            <a:chOff x="0" y="0"/>
            <a:chExt cx="2853396" cy="852628"/>
          </a:xfrm>
        </p:grpSpPr>
        <p:sp>
          <p:nvSpPr>
            <p:cNvPr name="Freeform 3" id="3"/>
            <p:cNvSpPr/>
            <p:nvPr/>
          </p:nvSpPr>
          <p:spPr>
            <a:xfrm flipH="false" flipV="false" rot="0">
              <a:off x="0" y="0"/>
              <a:ext cx="2853396" cy="852628"/>
            </a:xfrm>
            <a:custGeom>
              <a:avLst/>
              <a:gdLst/>
              <a:ahLst/>
              <a:cxnLst/>
              <a:rect r="r" b="b" t="t" l="l"/>
              <a:pathLst>
                <a:path h="852628" w="2853396">
                  <a:moveTo>
                    <a:pt x="0" y="0"/>
                  </a:moveTo>
                  <a:lnTo>
                    <a:pt x="2853396" y="0"/>
                  </a:lnTo>
                  <a:lnTo>
                    <a:pt x="2853396" y="852628"/>
                  </a:lnTo>
                  <a:lnTo>
                    <a:pt x="0" y="852628"/>
                  </a:lnTo>
                  <a:close/>
                </a:path>
              </a:pathLst>
            </a:custGeom>
            <a:solidFill>
              <a:srgbClr val="399FAD"/>
            </a:solidFill>
          </p:spPr>
        </p:sp>
        <p:sp>
          <p:nvSpPr>
            <p:cNvPr name="TextBox 4" id="4"/>
            <p:cNvSpPr txBox="true"/>
            <p:nvPr/>
          </p:nvSpPr>
          <p:spPr>
            <a:xfrm>
              <a:off x="0" y="-47625"/>
              <a:ext cx="2853396" cy="900253"/>
            </a:xfrm>
            <a:prstGeom prst="rect">
              <a:avLst/>
            </a:prstGeom>
          </p:spPr>
          <p:txBody>
            <a:bodyPr anchor="ctr" rtlCol="false" tIns="50800" lIns="50800" bIns="50800" rIns="50800"/>
            <a:lstStyle/>
            <a:p>
              <a:pPr algn="ctr">
                <a:lnSpc>
                  <a:spcPts val="1544"/>
                </a:lnSpc>
              </a:pPr>
            </a:p>
          </p:txBody>
        </p:sp>
      </p:grpSp>
      <p:grpSp>
        <p:nvGrpSpPr>
          <p:cNvPr name="Group 5" id="5"/>
          <p:cNvGrpSpPr/>
          <p:nvPr/>
        </p:nvGrpSpPr>
        <p:grpSpPr>
          <a:xfrm rot="0">
            <a:off x="736566" y="1600533"/>
            <a:ext cx="2953434" cy="3593767"/>
            <a:chOff x="0" y="0"/>
            <a:chExt cx="3937912" cy="4791690"/>
          </a:xfrm>
        </p:grpSpPr>
        <p:pic>
          <p:nvPicPr>
            <p:cNvPr name="Picture 6" id="6"/>
            <p:cNvPicPr>
              <a:picLocks noChangeAspect="true"/>
            </p:cNvPicPr>
            <p:nvPr/>
          </p:nvPicPr>
          <p:blipFill>
            <a:blip r:embed="rId2"/>
            <a:srcRect l="0" t="3887" r="0" b="3887"/>
            <a:stretch>
              <a:fillRect/>
            </a:stretch>
          </p:blipFill>
          <p:spPr>
            <a:xfrm flipH="false" flipV="false">
              <a:off x="0" y="0"/>
              <a:ext cx="3937912" cy="4791690"/>
            </a:xfrm>
            <a:prstGeom prst="rect">
              <a:avLst/>
            </a:prstGeom>
          </p:spPr>
        </p:pic>
      </p:grpSp>
      <p:sp>
        <p:nvSpPr>
          <p:cNvPr name="AutoShape 7" id="7"/>
          <p:cNvSpPr/>
          <p:nvPr/>
        </p:nvSpPr>
        <p:spPr>
          <a:xfrm>
            <a:off x="762401" y="756000"/>
            <a:ext cx="6023281" cy="0"/>
          </a:xfrm>
          <a:prstGeom prst="line">
            <a:avLst/>
          </a:prstGeom>
          <a:ln cap="flat" w="28575">
            <a:solidFill>
              <a:srgbClr val="FFFFFF"/>
            </a:solidFill>
            <a:prstDash val="solid"/>
            <a:headEnd type="none" len="sm" w="sm"/>
            <a:tailEnd type="none" len="sm" w="sm"/>
          </a:ln>
        </p:spPr>
      </p:sp>
      <p:grpSp>
        <p:nvGrpSpPr>
          <p:cNvPr name="Group 8" id="8"/>
          <p:cNvGrpSpPr/>
          <p:nvPr/>
        </p:nvGrpSpPr>
        <p:grpSpPr>
          <a:xfrm rot="0">
            <a:off x="3970924" y="1827928"/>
            <a:ext cx="2814758" cy="3593767"/>
            <a:chOff x="0" y="0"/>
            <a:chExt cx="3753010" cy="4791690"/>
          </a:xfrm>
        </p:grpSpPr>
        <p:pic>
          <p:nvPicPr>
            <p:cNvPr name="Picture 9" id="9"/>
            <p:cNvPicPr>
              <a:picLocks noChangeAspect="true"/>
            </p:cNvPicPr>
            <p:nvPr/>
          </p:nvPicPr>
          <p:blipFill>
            <a:blip r:embed="rId3"/>
            <a:srcRect l="0" t="1616" r="0" b="1616"/>
            <a:stretch>
              <a:fillRect/>
            </a:stretch>
          </p:blipFill>
          <p:spPr>
            <a:xfrm flipH="false" flipV="false">
              <a:off x="0" y="0"/>
              <a:ext cx="3753010" cy="4791690"/>
            </a:xfrm>
            <a:prstGeom prst="rect">
              <a:avLst/>
            </a:prstGeom>
          </p:spPr>
        </p:pic>
      </p:grpSp>
      <p:sp>
        <p:nvSpPr>
          <p:cNvPr name="TextBox 10" id="10"/>
          <p:cNvSpPr txBox="true"/>
          <p:nvPr/>
        </p:nvSpPr>
        <p:spPr>
          <a:xfrm rot="0">
            <a:off x="775628" y="7231746"/>
            <a:ext cx="2914372" cy="2745662"/>
          </a:xfrm>
          <a:prstGeom prst="rect">
            <a:avLst/>
          </a:prstGeom>
        </p:spPr>
        <p:txBody>
          <a:bodyPr anchor="t" rtlCol="false" tIns="0" lIns="0" bIns="0" rIns="0">
            <a:spAutoFit/>
          </a:bodyPr>
          <a:lstStyle/>
          <a:p>
            <a:pPr algn="just">
              <a:lnSpc>
                <a:spcPts val="1964"/>
              </a:lnSpc>
            </a:pPr>
            <a:r>
              <a:rPr lang="en-US" sz="1403">
                <a:solidFill>
                  <a:srgbClr val="000001"/>
                </a:solidFill>
                <a:latin typeface="Overpass"/>
                <a:ea typeface="Overpass"/>
                <a:cs typeface="Overpass"/>
                <a:sym typeface="Overpass"/>
              </a:rPr>
              <a:t>MUNAWAR FOUNDATION continues its noble mission of serving humanity with compassion and care.</a:t>
            </a:r>
          </a:p>
          <a:p>
            <a:pPr algn="just">
              <a:lnSpc>
                <a:spcPts val="1964"/>
              </a:lnSpc>
            </a:pPr>
            <a:r>
              <a:rPr lang="en-US" sz="1403">
                <a:solidFill>
                  <a:srgbClr val="000001"/>
                </a:solidFill>
                <a:latin typeface="Overpass"/>
                <a:ea typeface="Overpass"/>
                <a:cs typeface="Overpass"/>
                <a:sym typeface="Overpass"/>
              </a:rPr>
              <a:t>Every morning, our team reaches out to the roadside beggars and homeless individuals, offering them a nutritious breakfast.</a:t>
            </a:r>
          </a:p>
          <a:p>
            <a:pPr algn="just">
              <a:lnSpc>
                <a:spcPts val="1964"/>
              </a:lnSpc>
            </a:pPr>
            <a:r>
              <a:rPr lang="en-US" sz="1403">
                <a:solidFill>
                  <a:srgbClr val="000001"/>
                </a:solidFill>
                <a:latin typeface="Overpass"/>
                <a:ea typeface="Overpass"/>
                <a:cs typeface="Overpass"/>
                <a:sym typeface="Overpass"/>
              </a:rPr>
              <a:t>This small act of kindness is aimed at bringing nourishment, dignity, and hope to those who often go unnoticed.</a:t>
            </a:r>
          </a:p>
        </p:txBody>
      </p:sp>
      <p:grpSp>
        <p:nvGrpSpPr>
          <p:cNvPr name="Group 11" id="11"/>
          <p:cNvGrpSpPr/>
          <p:nvPr/>
        </p:nvGrpSpPr>
        <p:grpSpPr>
          <a:xfrm rot="0">
            <a:off x="762401" y="5602750"/>
            <a:ext cx="2927599" cy="1242868"/>
            <a:chOff x="0" y="0"/>
            <a:chExt cx="3903466" cy="1657157"/>
          </a:xfrm>
        </p:grpSpPr>
        <p:sp>
          <p:nvSpPr>
            <p:cNvPr name="TextBox 12" id="12"/>
            <p:cNvSpPr txBox="true"/>
            <p:nvPr/>
          </p:nvSpPr>
          <p:spPr>
            <a:xfrm rot="0">
              <a:off x="0" y="0"/>
              <a:ext cx="3903466" cy="1381760"/>
            </a:xfrm>
            <a:prstGeom prst="rect">
              <a:avLst/>
            </a:prstGeom>
          </p:spPr>
          <p:txBody>
            <a:bodyPr anchor="t" rtlCol="false" tIns="0" lIns="0" bIns="0" rIns="0">
              <a:spAutoFit/>
            </a:bodyPr>
            <a:lstStyle/>
            <a:p>
              <a:pPr algn="l" marL="0" indent="0" lvl="0">
                <a:lnSpc>
                  <a:spcPts val="3960"/>
                </a:lnSpc>
                <a:spcBef>
                  <a:spcPct val="0"/>
                </a:spcBef>
              </a:pPr>
              <a:r>
                <a:rPr lang="en-US" b="true" sz="3600">
                  <a:solidFill>
                    <a:srgbClr val="399FAD"/>
                  </a:solidFill>
                  <a:latin typeface="Cloud Condensed Bold"/>
                  <a:ea typeface="Cloud Condensed Bold"/>
                  <a:cs typeface="Cloud Condensed Bold"/>
                  <a:sym typeface="Cloud Condensed Bold"/>
                </a:rPr>
                <a:t>COMBAT</a:t>
              </a:r>
              <a:r>
                <a:rPr lang="en-US" b="true" sz="3600" u="none">
                  <a:solidFill>
                    <a:srgbClr val="399FAD"/>
                  </a:solidFill>
                  <a:latin typeface="Cloud Condensed Bold"/>
                  <a:ea typeface="Cloud Condensed Bold"/>
                  <a:cs typeface="Cloud Condensed Bold"/>
                  <a:sym typeface="Cloud Condensed Bold"/>
                </a:rPr>
                <a:t> </a:t>
              </a:r>
            </a:p>
            <a:p>
              <a:pPr algn="l" marL="0" indent="0" lvl="0">
                <a:lnSpc>
                  <a:spcPts val="3960"/>
                </a:lnSpc>
                <a:spcBef>
                  <a:spcPct val="0"/>
                </a:spcBef>
              </a:pPr>
              <a:r>
                <a:rPr lang="en-US" b="true" sz="3600" u="none">
                  <a:solidFill>
                    <a:srgbClr val="399FAD"/>
                  </a:solidFill>
                  <a:latin typeface="Cloud Condensed Bold"/>
                  <a:ea typeface="Cloud Condensed Bold"/>
                  <a:cs typeface="Cloud Condensed Bold"/>
                  <a:sym typeface="Cloud Condensed Bold"/>
                </a:rPr>
                <a:t>HUNGER</a:t>
              </a:r>
            </a:p>
          </p:txBody>
        </p:sp>
        <p:sp>
          <p:nvSpPr>
            <p:cNvPr name="TextBox 13" id="13"/>
            <p:cNvSpPr txBox="true"/>
            <p:nvPr/>
          </p:nvSpPr>
          <p:spPr>
            <a:xfrm rot="0">
              <a:off x="18924" y="1392889"/>
              <a:ext cx="3884542" cy="264268"/>
            </a:xfrm>
            <a:prstGeom prst="rect">
              <a:avLst/>
            </a:prstGeom>
          </p:spPr>
          <p:txBody>
            <a:bodyPr anchor="t" rtlCol="false" tIns="0" lIns="0" bIns="0" rIns="0">
              <a:spAutoFit/>
            </a:bodyPr>
            <a:lstStyle/>
            <a:p>
              <a:pPr algn="l">
                <a:lnSpc>
                  <a:spcPts val="1544"/>
                </a:lnSpc>
              </a:pPr>
              <a:r>
                <a:rPr lang="en-US" sz="1103" b="true">
                  <a:solidFill>
                    <a:srgbClr val="000001"/>
                  </a:solidFill>
                  <a:latin typeface="Overpass Ultra-Bold"/>
                  <a:ea typeface="Overpass Ultra-Bold"/>
                  <a:cs typeface="Overpass Ultra-Bold"/>
                  <a:sym typeface="Overpass Ultra-Bold"/>
                </a:rPr>
                <a:t>A STEP TOWARDS</a:t>
              </a:r>
              <a:r>
                <a:rPr lang="en-US" sz="1103" b="true">
                  <a:solidFill>
                    <a:srgbClr val="000001"/>
                  </a:solidFill>
                  <a:latin typeface="Overpass Ultra-Bold"/>
                  <a:ea typeface="Overpass Ultra-Bold"/>
                  <a:cs typeface="Overpass Ultra-Bold"/>
                  <a:sym typeface="Overpass Ultra-Bold"/>
                </a:rPr>
                <a:t> HUMANITY</a:t>
              </a:r>
            </a:p>
          </p:txBody>
        </p:sp>
      </p:grpSp>
      <p:sp>
        <p:nvSpPr>
          <p:cNvPr name="TextBox 14" id="14"/>
          <p:cNvSpPr txBox="true"/>
          <p:nvPr/>
        </p:nvSpPr>
        <p:spPr>
          <a:xfrm rot="0">
            <a:off x="3851648" y="5745846"/>
            <a:ext cx="2934034" cy="4231562"/>
          </a:xfrm>
          <a:prstGeom prst="rect">
            <a:avLst/>
          </a:prstGeom>
        </p:spPr>
        <p:txBody>
          <a:bodyPr anchor="t" rtlCol="false" tIns="0" lIns="0" bIns="0" rIns="0">
            <a:spAutoFit/>
          </a:bodyPr>
          <a:lstStyle/>
          <a:p>
            <a:pPr algn="just">
              <a:lnSpc>
                <a:spcPts val="1964"/>
              </a:lnSpc>
            </a:pPr>
            <a:r>
              <a:rPr lang="en-US" sz="1403">
                <a:solidFill>
                  <a:srgbClr val="000001"/>
                </a:solidFill>
                <a:latin typeface="Overpass"/>
                <a:ea typeface="Overpass"/>
                <a:cs typeface="Overpass"/>
                <a:sym typeface="Overpass"/>
              </a:rPr>
              <a:t>We believe that food is not just a necessity — it’s a right every human deserves. Through this initiative, we strive to ensure that no one starts their day hungry or helpless.</a:t>
            </a:r>
          </a:p>
          <a:p>
            <a:pPr algn="just">
              <a:lnSpc>
                <a:spcPts val="1964"/>
              </a:lnSpc>
            </a:pPr>
            <a:r>
              <a:rPr lang="en-US" sz="1403">
                <a:solidFill>
                  <a:srgbClr val="000001"/>
                </a:solidFill>
                <a:latin typeface="Overpass"/>
                <a:ea typeface="Overpass"/>
                <a:cs typeface="Overpass"/>
                <a:sym typeface="Overpass"/>
              </a:rPr>
              <a:t>Our volunteers distribute freshly prepared meals with love and respect, restoring smiles on weary faces. Each breakfast served is a message of empathy, reminding society that kindness still exists.</a:t>
            </a:r>
          </a:p>
          <a:p>
            <a:pPr algn="just">
              <a:lnSpc>
                <a:spcPts val="1964"/>
              </a:lnSpc>
            </a:pPr>
            <a:r>
              <a:rPr lang="en-US" sz="1403">
                <a:solidFill>
                  <a:srgbClr val="000001"/>
                </a:solidFill>
                <a:latin typeface="Overpass"/>
                <a:ea typeface="Overpass"/>
                <a:cs typeface="Overpass"/>
                <a:sym typeface="Overpass"/>
              </a:rPr>
              <a:t>MUNAWAR FOUNDATION stands committed to uplifting lives, one meal at a time.</a:t>
            </a:r>
          </a:p>
          <a:p>
            <a:pPr algn="just">
              <a:lnSpc>
                <a:spcPts val="1964"/>
              </a:lnSpc>
            </a:pPr>
            <a:r>
              <a:rPr lang="en-US" sz="1403">
                <a:solidFill>
                  <a:srgbClr val="000001"/>
                </a:solidFill>
                <a:latin typeface="Overpass"/>
                <a:ea typeface="Overpass"/>
                <a:cs typeface="Overpass"/>
                <a:sym typeface="Overpass"/>
              </a:rPr>
              <a:t>We invite everyone to join hands in this humanitarian cause and help us spread warmth and nourishment.</a:t>
            </a:r>
          </a:p>
        </p:txBody>
      </p:sp>
      <p:sp>
        <p:nvSpPr>
          <p:cNvPr name="TextBox 15" id="15"/>
          <p:cNvSpPr txBox="true"/>
          <p:nvPr/>
        </p:nvSpPr>
        <p:spPr>
          <a:xfrm rot="0">
            <a:off x="762401" y="1026066"/>
            <a:ext cx="2114550" cy="210107"/>
          </a:xfrm>
          <a:prstGeom prst="rect">
            <a:avLst/>
          </a:prstGeom>
        </p:spPr>
        <p:txBody>
          <a:bodyPr anchor="t" rtlCol="false" tIns="0" lIns="0" bIns="0" rIns="0">
            <a:spAutoFit/>
          </a:bodyPr>
          <a:lstStyle/>
          <a:p>
            <a:pPr algn="l">
              <a:lnSpc>
                <a:spcPts val="1544"/>
              </a:lnSpc>
            </a:pPr>
            <a:r>
              <a:rPr lang="en-US" sz="1103">
                <a:solidFill>
                  <a:srgbClr val="FFFFFF"/>
                </a:solidFill>
                <a:latin typeface="Overpass"/>
                <a:ea typeface="Overpass"/>
                <a:cs typeface="Overpass"/>
                <a:sym typeface="Overpass"/>
              </a:rPr>
              <a:t>ANNUAL REPORT</a:t>
            </a:r>
          </a:p>
        </p:txBody>
      </p:sp>
      <p:sp>
        <p:nvSpPr>
          <p:cNvPr name="TextBox 16" id="16"/>
          <p:cNvSpPr txBox="true"/>
          <p:nvPr/>
        </p:nvSpPr>
        <p:spPr>
          <a:xfrm rot="0">
            <a:off x="4671131" y="1026066"/>
            <a:ext cx="2114550" cy="210107"/>
          </a:xfrm>
          <a:prstGeom prst="rect">
            <a:avLst/>
          </a:prstGeom>
        </p:spPr>
        <p:txBody>
          <a:bodyPr anchor="t" rtlCol="false" tIns="0" lIns="0" bIns="0" rIns="0">
            <a:spAutoFit/>
          </a:bodyPr>
          <a:lstStyle/>
          <a:p>
            <a:pPr algn="r">
              <a:lnSpc>
                <a:spcPts val="1544"/>
              </a:lnSpc>
            </a:pPr>
            <a:r>
              <a:rPr lang="en-US" sz="1103">
                <a:solidFill>
                  <a:srgbClr val="FFFFFF"/>
                </a:solidFill>
                <a:latin typeface="Overpass"/>
                <a:ea typeface="Overpass"/>
                <a:cs typeface="Overpass"/>
                <a:sym typeface="Overpass"/>
              </a:rPr>
              <a:t>YEAR 2024-25</a:t>
            </a:r>
          </a:p>
        </p:txBody>
      </p:sp>
      <p:sp>
        <p:nvSpPr>
          <p:cNvPr name="Freeform 17" id="17"/>
          <p:cNvSpPr/>
          <p:nvPr/>
        </p:nvSpPr>
        <p:spPr>
          <a:xfrm flipH="false" flipV="false" rot="0">
            <a:off x="6688312" y="9847696"/>
            <a:ext cx="584339" cy="490452"/>
          </a:xfrm>
          <a:custGeom>
            <a:avLst/>
            <a:gdLst/>
            <a:ahLst/>
            <a:cxnLst/>
            <a:rect r="r" b="b" t="t" l="l"/>
            <a:pathLst>
              <a:path h="490452" w="584339">
                <a:moveTo>
                  <a:pt x="0" y="0"/>
                </a:moveTo>
                <a:lnTo>
                  <a:pt x="584340" y="0"/>
                </a:lnTo>
                <a:lnTo>
                  <a:pt x="584340" y="490452"/>
                </a:lnTo>
                <a:lnTo>
                  <a:pt x="0" y="490452"/>
                </a:lnTo>
                <a:lnTo>
                  <a:pt x="0" y="0"/>
                </a:lnTo>
                <a:close/>
              </a:path>
            </a:pathLst>
          </a:custGeom>
          <a:blipFill>
            <a:blip r:embed="rId4"/>
            <a:stretch>
              <a:fillRect l="-6287" t="-6658" r="-8382" b="-29963"/>
            </a:stretch>
          </a:blipFill>
        </p:spPr>
      </p:sp>
      <p:sp>
        <p:nvSpPr>
          <p:cNvPr name="TextBox 18" id="18"/>
          <p:cNvSpPr txBox="true"/>
          <p:nvPr/>
        </p:nvSpPr>
        <p:spPr>
          <a:xfrm rot="0">
            <a:off x="775628" y="471373"/>
            <a:ext cx="5564305" cy="210107"/>
          </a:xfrm>
          <a:prstGeom prst="rect">
            <a:avLst/>
          </a:prstGeom>
        </p:spPr>
        <p:txBody>
          <a:bodyPr anchor="t" rtlCol="false" tIns="0" lIns="0" bIns="0" rIns="0">
            <a:spAutoFit/>
          </a:bodyPr>
          <a:lstStyle/>
          <a:p>
            <a:pPr algn="l">
              <a:lnSpc>
                <a:spcPts val="1544"/>
              </a:lnSpc>
            </a:pPr>
            <a:r>
              <a:rPr lang="en-US" sz="1103">
                <a:solidFill>
                  <a:srgbClr val="FFFFFF"/>
                </a:solidFill>
                <a:latin typeface="Overpass"/>
                <a:ea typeface="Overpass"/>
                <a:cs typeface="Overpass"/>
                <a:sym typeface="Overpass"/>
              </a:rPr>
              <a:t>MUNAWWAR FOUNDATION-"ILLUMINATING HEARTS, TRANSFORMING FUTURES"</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62401" y="6303134"/>
            <a:ext cx="7033547" cy="4639928"/>
            <a:chOff x="0" y="0"/>
            <a:chExt cx="9378062" cy="6186571"/>
          </a:xfrm>
        </p:grpSpPr>
        <p:pic>
          <p:nvPicPr>
            <p:cNvPr name="Picture 3" id="3"/>
            <p:cNvPicPr>
              <a:picLocks noChangeAspect="true"/>
            </p:cNvPicPr>
            <p:nvPr/>
          </p:nvPicPr>
          <p:blipFill>
            <a:blip r:embed="rId2"/>
            <a:srcRect l="0" t="28740" r="0" b="10308"/>
            <a:stretch>
              <a:fillRect/>
            </a:stretch>
          </p:blipFill>
          <p:spPr>
            <a:xfrm flipH="false" flipV="false">
              <a:off x="0" y="0"/>
              <a:ext cx="9378062" cy="6186571"/>
            </a:xfrm>
            <a:prstGeom prst="rect">
              <a:avLst/>
            </a:prstGeom>
          </p:spPr>
        </p:pic>
      </p:grpSp>
      <p:sp>
        <p:nvSpPr>
          <p:cNvPr name="AutoShape 4" id="4"/>
          <p:cNvSpPr/>
          <p:nvPr/>
        </p:nvSpPr>
        <p:spPr>
          <a:xfrm flipV="true">
            <a:off x="736600" y="756000"/>
            <a:ext cx="6067400" cy="14288"/>
          </a:xfrm>
          <a:prstGeom prst="line">
            <a:avLst/>
          </a:prstGeom>
          <a:ln cap="flat" w="28575">
            <a:solidFill>
              <a:srgbClr val="000001"/>
            </a:solidFill>
            <a:prstDash val="solid"/>
            <a:headEnd type="none" len="sm" w="sm"/>
            <a:tailEnd type="none" len="sm" w="sm"/>
          </a:ln>
        </p:spPr>
      </p:sp>
      <p:sp>
        <p:nvSpPr>
          <p:cNvPr name="TextBox 5" id="5"/>
          <p:cNvSpPr txBox="true"/>
          <p:nvPr/>
        </p:nvSpPr>
        <p:spPr>
          <a:xfrm rot="0">
            <a:off x="756000" y="1623534"/>
            <a:ext cx="5992110" cy="1036320"/>
          </a:xfrm>
          <a:prstGeom prst="rect">
            <a:avLst/>
          </a:prstGeom>
        </p:spPr>
        <p:txBody>
          <a:bodyPr anchor="t" rtlCol="false" tIns="0" lIns="0" bIns="0" rIns="0">
            <a:spAutoFit/>
          </a:bodyPr>
          <a:lstStyle/>
          <a:p>
            <a:pPr algn="l" marL="0" indent="0" lvl="0">
              <a:lnSpc>
                <a:spcPts val="3960"/>
              </a:lnSpc>
              <a:spcBef>
                <a:spcPct val="0"/>
              </a:spcBef>
            </a:pPr>
            <a:r>
              <a:rPr lang="en-US" b="true" sz="3600">
                <a:solidFill>
                  <a:srgbClr val="399FAD"/>
                </a:solidFill>
                <a:latin typeface="Cloud Condensed Bold"/>
                <a:ea typeface="Cloud Condensed Bold"/>
                <a:cs typeface="Cloud Condensed Bold"/>
                <a:sym typeface="Cloud Condensed Bold"/>
              </a:rPr>
              <a:t>AID THE LESS FORTUNATE</a:t>
            </a:r>
          </a:p>
          <a:p>
            <a:pPr algn="l" marL="0" indent="0" lvl="0">
              <a:lnSpc>
                <a:spcPts val="3960"/>
              </a:lnSpc>
              <a:spcBef>
                <a:spcPct val="0"/>
              </a:spcBef>
            </a:pPr>
            <a:r>
              <a:rPr lang="en-US" b="true" sz="3600" u="none">
                <a:solidFill>
                  <a:srgbClr val="399FAD"/>
                </a:solidFill>
                <a:latin typeface="Cloud Condensed Bold"/>
                <a:ea typeface="Cloud Condensed Bold"/>
                <a:cs typeface="Cloud Condensed Bold"/>
                <a:sym typeface="Cloud Condensed Bold"/>
              </a:rPr>
              <a:t>-FOOTWARE DISTRIBUTION</a:t>
            </a:r>
          </a:p>
        </p:txBody>
      </p:sp>
      <p:sp>
        <p:nvSpPr>
          <p:cNvPr name="TextBox 6" id="6"/>
          <p:cNvSpPr txBox="true"/>
          <p:nvPr/>
        </p:nvSpPr>
        <p:spPr>
          <a:xfrm rot="0">
            <a:off x="881935" y="2940672"/>
            <a:ext cx="2898065" cy="2250362"/>
          </a:xfrm>
          <a:prstGeom prst="rect">
            <a:avLst/>
          </a:prstGeom>
        </p:spPr>
        <p:txBody>
          <a:bodyPr anchor="t" rtlCol="false" tIns="0" lIns="0" bIns="0" rIns="0">
            <a:spAutoFit/>
          </a:bodyPr>
          <a:lstStyle/>
          <a:p>
            <a:pPr algn="just">
              <a:lnSpc>
                <a:spcPts val="1964"/>
              </a:lnSpc>
            </a:pPr>
            <a:r>
              <a:rPr lang="en-US" sz="1403">
                <a:solidFill>
                  <a:srgbClr val="000001"/>
                </a:solidFill>
                <a:latin typeface="Overpass"/>
                <a:ea typeface="Overpass"/>
                <a:cs typeface="Overpass"/>
                <a:sym typeface="Overpass"/>
              </a:rPr>
              <a:t>"Aid the less fortunate" refers to offering support and assistance to individuals or groups who are struggling due to poverty, hardship, or lack of resources. I</a:t>
            </a:r>
            <a:r>
              <a:rPr lang="en-US" sz="1403">
                <a:solidFill>
                  <a:srgbClr val="000001"/>
                </a:solidFill>
                <a:latin typeface="Overpass"/>
                <a:ea typeface="Overpass"/>
                <a:cs typeface="Overpass"/>
                <a:sym typeface="Overpass"/>
              </a:rPr>
              <a:t>t involves providing help in various forms, such as financial support, food, shelter, or emotional encouragement. </a:t>
            </a:r>
          </a:p>
        </p:txBody>
      </p:sp>
      <p:sp>
        <p:nvSpPr>
          <p:cNvPr name="TextBox 7" id="7"/>
          <p:cNvSpPr txBox="true"/>
          <p:nvPr/>
        </p:nvSpPr>
        <p:spPr>
          <a:xfrm rot="0">
            <a:off x="762401" y="1026066"/>
            <a:ext cx="2114550" cy="210107"/>
          </a:xfrm>
          <a:prstGeom prst="rect">
            <a:avLst/>
          </a:prstGeom>
        </p:spPr>
        <p:txBody>
          <a:bodyPr anchor="t" rtlCol="false" tIns="0" lIns="0" bIns="0" rIns="0">
            <a:spAutoFit/>
          </a:bodyPr>
          <a:lstStyle/>
          <a:p>
            <a:pPr algn="l">
              <a:lnSpc>
                <a:spcPts val="1544"/>
              </a:lnSpc>
            </a:pPr>
            <a:r>
              <a:rPr lang="en-US" sz="1103">
                <a:solidFill>
                  <a:srgbClr val="000001"/>
                </a:solidFill>
                <a:latin typeface="Overpass"/>
                <a:ea typeface="Overpass"/>
                <a:cs typeface="Overpass"/>
                <a:sym typeface="Overpass"/>
              </a:rPr>
              <a:t>ANNUAL REPORT</a:t>
            </a:r>
          </a:p>
        </p:txBody>
      </p:sp>
      <p:sp>
        <p:nvSpPr>
          <p:cNvPr name="TextBox 8" id="8"/>
          <p:cNvSpPr txBox="true"/>
          <p:nvPr/>
        </p:nvSpPr>
        <p:spPr>
          <a:xfrm rot="0">
            <a:off x="4671131" y="1026066"/>
            <a:ext cx="2114550" cy="210107"/>
          </a:xfrm>
          <a:prstGeom prst="rect">
            <a:avLst/>
          </a:prstGeom>
        </p:spPr>
        <p:txBody>
          <a:bodyPr anchor="t" rtlCol="false" tIns="0" lIns="0" bIns="0" rIns="0">
            <a:spAutoFit/>
          </a:bodyPr>
          <a:lstStyle/>
          <a:p>
            <a:pPr algn="r">
              <a:lnSpc>
                <a:spcPts val="1544"/>
              </a:lnSpc>
            </a:pPr>
            <a:r>
              <a:rPr lang="en-US" sz="1103">
                <a:solidFill>
                  <a:srgbClr val="000001"/>
                </a:solidFill>
                <a:latin typeface="Overpass"/>
                <a:ea typeface="Overpass"/>
                <a:cs typeface="Overpass"/>
                <a:sym typeface="Overpass"/>
              </a:rPr>
              <a:t>YEAR 2024-25</a:t>
            </a:r>
          </a:p>
        </p:txBody>
      </p:sp>
      <p:sp>
        <p:nvSpPr>
          <p:cNvPr name="TextBox 9" id="9"/>
          <p:cNvSpPr txBox="true"/>
          <p:nvPr/>
        </p:nvSpPr>
        <p:spPr>
          <a:xfrm rot="0">
            <a:off x="3994785" y="3343288"/>
            <a:ext cx="2898065" cy="2002712"/>
          </a:xfrm>
          <a:prstGeom prst="rect">
            <a:avLst/>
          </a:prstGeom>
        </p:spPr>
        <p:txBody>
          <a:bodyPr anchor="t" rtlCol="false" tIns="0" lIns="0" bIns="0" rIns="0">
            <a:spAutoFit/>
          </a:bodyPr>
          <a:lstStyle/>
          <a:p>
            <a:pPr algn="just">
              <a:lnSpc>
                <a:spcPts val="1964"/>
              </a:lnSpc>
            </a:pPr>
            <a:r>
              <a:rPr lang="en-US" sz="1403">
                <a:solidFill>
                  <a:srgbClr val="000001"/>
                </a:solidFill>
                <a:latin typeface="Overpass"/>
                <a:ea typeface="Overpass"/>
                <a:cs typeface="Overpass"/>
                <a:sym typeface="Overpass"/>
              </a:rPr>
              <a:t>This act aims to improve the living conditions and well-being of those who are vulnerable. Such assistance often comes from charitable organizations, communities, or</a:t>
            </a:r>
            <a:r>
              <a:rPr lang="en-US" sz="1403">
                <a:solidFill>
                  <a:srgbClr val="000001"/>
                </a:solidFill>
                <a:latin typeface="Overpass"/>
                <a:ea typeface="Overpass"/>
                <a:cs typeface="Overpass"/>
                <a:sym typeface="Overpass"/>
              </a:rPr>
              <a:t> individuals. Ultimately, it promotes equality and helps lift people out of difficult circumstances.</a:t>
            </a:r>
          </a:p>
        </p:txBody>
      </p:sp>
      <p:sp>
        <p:nvSpPr>
          <p:cNvPr name="Freeform 10" id="10"/>
          <p:cNvSpPr/>
          <p:nvPr/>
        </p:nvSpPr>
        <p:spPr>
          <a:xfrm flipH="false" flipV="false" rot="0">
            <a:off x="6688312" y="9847696"/>
            <a:ext cx="584339" cy="490452"/>
          </a:xfrm>
          <a:custGeom>
            <a:avLst/>
            <a:gdLst/>
            <a:ahLst/>
            <a:cxnLst/>
            <a:rect r="r" b="b" t="t" l="l"/>
            <a:pathLst>
              <a:path h="490452" w="584339">
                <a:moveTo>
                  <a:pt x="0" y="0"/>
                </a:moveTo>
                <a:lnTo>
                  <a:pt x="584340" y="0"/>
                </a:lnTo>
                <a:lnTo>
                  <a:pt x="584340" y="490452"/>
                </a:lnTo>
                <a:lnTo>
                  <a:pt x="0" y="490452"/>
                </a:lnTo>
                <a:lnTo>
                  <a:pt x="0" y="0"/>
                </a:lnTo>
                <a:close/>
              </a:path>
            </a:pathLst>
          </a:custGeom>
          <a:blipFill>
            <a:blip r:embed="rId3"/>
            <a:stretch>
              <a:fillRect l="-6287" t="-6658" r="-8382" b="-29963"/>
            </a:stretch>
          </a:blipFill>
        </p:spPr>
      </p:sp>
      <p:sp>
        <p:nvSpPr>
          <p:cNvPr name="TextBox 11" id="11"/>
          <p:cNvSpPr txBox="true"/>
          <p:nvPr/>
        </p:nvSpPr>
        <p:spPr>
          <a:xfrm rot="0">
            <a:off x="775628" y="471373"/>
            <a:ext cx="5564305" cy="210107"/>
          </a:xfrm>
          <a:prstGeom prst="rect">
            <a:avLst/>
          </a:prstGeom>
        </p:spPr>
        <p:txBody>
          <a:bodyPr anchor="t" rtlCol="false" tIns="0" lIns="0" bIns="0" rIns="0">
            <a:spAutoFit/>
          </a:bodyPr>
          <a:lstStyle/>
          <a:p>
            <a:pPr algn="l">
              <a:lnSpc>
                <a:spcPts val="1544"/>
              </a:lnSpc>
            </a:pPr>
            <a:r>
              <a:rPr lang="en-US" sz="1103">
                <a:solidFill>
                  <a:srgbClr val="000001"/>
                </a:solidFill>
                <a:latin typeface="Overpass"/>
                <a:ea typeface="Overpass"/>
                <a:cs typeface="Overpass"/>
                <a:sym typeface="Overpass"/>
              </a:rPr>
              <a:t>MUNAWWAR FOUNDATION-"ILLUMINATING HEARTS, TRANSFORMING FUTURES"</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399FAD"/>
        </a:solidFill>
      </p:bgPr>
    </p:bg>
    <p:spTree>
      <p:nvGrpSpPr>
        <p:cNvPr id="1" name=""/>
        <p:cNvGrpSpPr/>
        <p:nvPr/>
      </p:nvGrpSpPr>
      <p:grpSpPr>
        <a:xfrm>
          <a:off x="0" y="0"/>
          <a:ext cx="0" cy="0"/>
          <a:chOff x="0" y="0"/>
          <a:chExt cx="0" cy="0"/>
        </a:xfrm>
      </p:grpSpPr>
      <p:grpSp>
        <p:nvGrpSpPr>
          <p:cNvPr name="Group 2" id="2"/>
          <p:cNvGrpSpPr/>
          <p:nvPr/>
        </p:nvGrpSpPr>
        <p:grpSpPr>
          <a:xfrm rot="0">
            <a:off x="-238533" y="4576824"/>
            <a:ext cx="5966940" cy="6354157"/>
            <a:chOff x="0" y="0"/>
            <a:chExt cx="7955920" cy="8472209"/>
          </a:xfrm>
        </p:grpSpPr>
        <p:pic>
          <p:nvPicPr>
            <p:cNvPr name="Picture 3" id="3"/>
            <p:cNvPicPr>
              <a:picLocks noChangeAspect="true"/>
            </p:cNvPicPr>
            <p:nvPr/>
          </p:nvPicPr>
          <p:blipFill>
            <a:blip r:embed="rId2"/>
            <a:srcRect l="0" t="520" r="0" b="520"/>
            <a:stretch>
              <a:fillRect/>
            </a:stretch>
          </p:blipFill>
          <p:spPr>
            <a:xfrm flipH="false" flipV="false">
              <a:off x="0" y="0"/>
              <a:ext cx="7955920" cy="8472209"/>
            </a:xfrm>
            <a:prstGeom prst="rect">
              <a:avLst/>
            </a:prstGeom>
          </p:spPr>
        </p:pic>
      </p:grpSp>
      <p:sp>
        <p:nvSpPr>
          <p:cNvPr name="AutoShape 4" id="4"/>
          <p:cNvSpPr/>
          <p:nvPr/>
        </p:nvSpPr>
        <p:spPr>
          <a:xfrm>
            <a:off x="762401" y="756000"/>
            <a:ext cx="6023281" cy="0"/>
          </a:xfrm>
          <a:prstGeom prst="line">
            <a:avLst/>
          </a:prstGeom>
          <a:ln cap="flat" w="28575">
            <a:solidFill>
              <a:srgbClr val="FFFFFF"/>
            </a:solidFill>
            <a:prstDash val="solid"/>
            <a:headEnd type="none" len="sm" w="sm"/>
            <a:tailEnd type="none" len="sm" w="sm"/>
          </a:ln>
        </p:spPr>
      </p:sp>
      <p:sp>
        <p:nvSpPr>
          <p:cNvPr name="TextBox 5" id="5"/>
          <p:cNvSpPr txBox="true"/>
          <p:nvPr/>
        </p:nvSpPr>
        <p:spPr>
          <a:xfrm rot="0">
            <a:off x="787037" y="1665574"/>
            <a:ext cx="2902963" cy="2745662"/>
          </a:xfrm>
          <a:prstGeom prst="rect">
            <a:avLst/>
          </a:prstGeom>
        </p:spPr>
        <p:txBody>
          <a:bodyPr anchor="t" rtlCol="false" tIns="0" lIns="0" bIns="0" rIns="0">
            <a:spAutoFit/>
          </a:bodyPr>
          <a:lstStyle/>
          <a:p>
            <a:pPr algn="just">
              <a:lnSpc>
                <a:spcPts val="1964"/>
              </a:lnSpc>
            </a:pPr>
            <a:r>
              <a:rPr lang="en-US" sz="1403">
                <a:solidFill>
                  <a:srgbClr val="FFFFFF"/>
                </a:solidFill>
                <a:latin typeface="Overpass"/>
                <a:ea typeface="Overpass"/>
                <a:cs typeface="Overpass"/>
                <a:sym typeface="Overpass"/>
              </a:rPr>
              <a:t>MUNAWWAR FOUNDATION </a:t>
            </a:r>
          </a:p>
          <a:p>
            <a:pPr algn="just">
              <a:lnSpc>
                <a:spcPts val="1964"/>
              </a:lnSpc>
            </a:pPr>
            <a:r>
              <a:rPr lang="en-US" sz="1403">
                <a:solidFill>
                  <a:srgbClr val="FFFFFF"/>
                </a:solidFill>
                <a:latin typeface="Overpass"/>
                <a:ea typeface="Overpass"/>
                <a:cs typeface="Overpass"/>
                <a:sym typeface="Overpass"/>
              </a:rPr>
              <a:t> continues its journey of compassion through its initiative “Aid the Less</a:t>
            </a:r>
            <a:r>
              <a:rPr lang="en-US" sz="1403">
                <a:solidFill>
                  <a:srgbClr val="FFFFFF"/>
                </a:solidFill>
                <a:latin typeface="Overpass"/>
                <a:ea typeface="Overpass"/>
                <a:cs typeface="Overpass"/>
                <a:sym typeface="Overpass"/>
              </a:rPr>
              <a:t> Fortunate.”</a:t>
            </a:r>
          </a:p>
          <a:p>
            <a:pPr algn="just">
              <a:lnSpc>
                <a:spcPts val="1964"/>
              </a:lnSpc>
            </a:pPr>
            <a:r>
              <a:rPr lang="en-US" sz="1403">
                <a:solidFill>
                  <a:srgbClr val="FFFFFF"/>
                </a:solidFill>
                <a:latin typeface="Overpass"/>
                <a:ea typeface="Overpass"/>
                <a:cs typeface="Overpass"/>
                <a:sym typeface="Overpass"/>
              </a:rPr>
              <a:t>A</a:t>
            </a:r>
            <a:r>
              <a:rPr lang="en-US" sz="1403">
                <a:solidFill>
                  <a:srgbClr val="FFFFFF"/>
                </a:solidFill>
                <a:latin typeface="Overpass"/>
                <a:ea typeface="Overpass"/>
                <a:cs typeface="Overpass"/>
                <a:sym typeface="Overpass"/>
              </a:rPr>
              <a:t>s part of this noble effort, the Foundation organized a footwear distribution drive for the underprivileged and homeless. Each pair symbolizes care, dignity, and protection for those who need it most.</a:t>
            </a:r>
          </a:p>
        </p:txBody>
      </p:sp>
      <p:sp>
        <p:nvSpPr>
          <p:cNvPr name="TextBox 6" id="6"/>
          <p:cNvSpPr txBox="true"/>
          <p:nvPr/>
        </p:nvSpPr>
        <p:spPr>
          <a:xfrm rot="0">
            <a:off x="3870000" y="1665575"/>
            <a:ext cx="2934000" cy="2250362"/>
          </a:xfrm>
          <a:prstGeom prst="rect">
            <a:avLst/>
          </a:prstGeom>
        </p:spPr>
        <p:txBody>
          <a:bodyPr anchor="t" rtlCol="false" tIns="0" lIns="0" bIns="0" rIns="0">
            <a:spAutoFit/>
          </a:bodyPr>
          <a:lstStyle/>
          <a:p>
            <a:pPr algn="just">
              <a:lnSpc>
                <a:spcPts val="1964"/>
              </a:lnSpc>
            </a:pPr>
            <a:r>
              <a:rPr lang="en-US" sz="1403">
                <a:solidFill>
                  <a:srgbClr val="FFFFFF"/>
                </a:solidFill>
                <a:latin typeface="Overpass"/>
                <a:ea typeface="Overpass"/>
                <a:cs typeface="Overpass"/>
                <a:sym typeface="Overpass"/>
              </a:rPr>
              <a:t>This initiative reflects our belief that small acts of kindness can make a big difference in someone’s life. </a:t>
            </a:r>
            <a:r>
              <a:rPr lang="en-US" sz="1403">
                <a:solidFill>
                  <a:srgbClr val="FFFFFF"/>
                </a:solidFill>
                <a:latin typeface="Overpass"/>
                <a:ea typeface="Overpass"/>
                <a:cs typeface="Overpass"/>
                <a:sym typeface="Overpass"/>
              </a:rPr>
              <a:t>The smiles </a:t>
            </a:r>
            <a:r>
              <a:rPr lang="en-US" sz="1403">
                <a:solidFill>
                  <a:srgbClr val="FFFFFF"/>
                </a:solidFill>
                <a:latin typeface="Overpass"/>
                <a:ea typeface="Overpass"/>
                <a:cs typeface="Overpass"/>
                <a:sym typeface="Overpass"/>
              </a:rPr>
              <a:t>and gratitude received from beneficiaries inspire us to continue serving with greater dedication.</a:t>
            </a:r>
          </a:p>
          <a:p>
            <a:pPr algn="l">
              <a:lnSpc>
                <a:spcPts val="1964"/>
              </a:lnSpc>
            </a:pPr>
            <a:r>
              <a:rPr lang="en-US" sz="1403">
                <a:solidFill>
                  <a:srgbClr val="FFFFFF"/>
                </a:solidFill>
                <a:latin typeface="Overpass"/>
                <a:ea typeface="Overpass"/>
                <a:cs typeface="Overpass"/>
                <a:sym typeface="Overpass"/>
              </a:rPr>
              <a:t> Every step we take together brings us closer to a more compassionate world.</a:t>
            </a:r>
          </a:p>
        </p:txBody>
      </p:sp>
      <p:sp>
        <p:nvSpPr>
          <p:cNvPr name="TextBox 7" id="7"/>
          <p:cNvSpPr txBox="true"/>
          <p:nvPr/>
        </p:nvSpPr>
        <p:spPr>
          <a:xfrm rot="0">
            <a:off x="762401" y="1026066"/>
            <a:ext cx="2114550" cy="210107"/>
          </a:xfrm>
          <a:prstGeom prst="rect">
            <a:avLst/>
          </a:prstGeom>
        </p:spPr>
        <p:txBody>
          <a:bodyPr anchor="t" rtlCol="false" tIns="0" lIns="0" bIns="0" rIns="0">
            <a:spAutoFit/>
          </a:bodyPr>
          <a:lstStyle/>
          <a:p>
            <a:pPr algn="l">
              <a:lnSpc>
                <a:spcPts val="1544"/>
              </a:lnSpc>
            </a:pPr>
            <a:r>
              <a:rPr lang="en-US" sz="1103">
                <a:solidFill>
                  <a:srgbClr val="FFFFFF"/>
                </a:solidFill>
                <a:latin typeface="Overpass"/>
                <a:ea typeface="Overpass"/>
                <a:cs typeface="Overpass"/>
                <a:sym typeface="Overpass"/>
              </a:rPr>
              <a:t>ANNUAL REPORT</a:t>
            </a:r>
          </a:p>
        </p:txBody>
      </p:sp>
      <p:sp>
        <p:nvSpPr>
          <p:cNvPr name="TextBox 8" id="8"/>
          <p:cNvSpPr txBox="true"/>
          <p:nvPr/>
        </p:nvSpPr>
        <p:spPr>
          <a:xfrm rot="0">
            <a:off x="4671131" y="1026066"/>
            <a:ext cx="2114550" cy="210107"/>
          </a:xfrm>
          <a:prstGeom prst="rect">
            <a:avLst/>
          </a:prstGeom>
        </p:spPr>
        <p:txBody>
          <a:bodyPr anchor="t" rtlCol="false" tIns="0" lIns="0" bIns="0" rIns="0">
            <a:spAutoFit/>
          </a:bodyPr>
          <a:lstStyle/>
          <a:p>
            <a:pPr algn="r">
              <a:lnSpc>
                <a:spcPts val="1544"/>
              </a:lnSpc>
            </a:pPr>
            <a:r>
              <a:rPr lang="en-US" sz="1103">
                <a:solidFill>
                  <a:srgbClr val="FFFFFF"/>
                </a:solidFill>
                <a:latin typeface="Overpass"/>
                <a:ea typeface="Overpass"/>
                <a:cs typeface="Overpass"/>
                <a:sym typeface="Overpass"/>
              </a:rPr>
              <a:t>YEAR 2024-25</a:t>
            </a:r>
          </a:p>
        </p:txBody>
      </p:sp>
      <p:sp>
        <p:nvSpPr>
          <p:cNvPr name="Freeform 9" id="9"/>
          <p:cNvSpPr/>
          <p:nvPr/>
        </p:nvSpPr>
        <p:spPr>
          <a:xfrm flipH="false" flipV="false" rot="0">
            <a:off x="6688312" y="9847696"/>
            <a:ext cx="584339" cy="490452"/>
          </a:xfrm>
          <a:custGeom>
            <a:avLst/>
            <a:gdLst/>
            <a:ahLst/>
            <a:cxnLst/>
            <a:rect r="r" b="b" t="t" l="l"/>
            <a:pathLst>
              <a:path h="490452" w="584339">
                <a:moveTo>
                  <a:pt x="0" y="0"/>
                </a:moveTo>
                <a:lnTo>
                  <a:pt x="584340" y="0"/>
                </a:lnTo>
                <a:lnTo>
                  <a:pt x="584340" y="490452"/>
                </a:lnTo>
                <a:lnTo>
                  <a:pt x="0" y="490452"/>
                </a:lnTo>
                <a:lnTo>
                  <a:pt x="0" y="0"/>
                </a:lnTo>
                <a:close/>
              </a:path>
            </a:pathLst>
          </a:custGeom>
          <a:blipFill>
            <a:blip r:embed="rId3"/>
            <a:stretch>
              <a:fillRect l="-6287" t="-6658" r="-8382" b="-29963"/>
            </a:stretch>
          </a:blipFill>
        </p:spPr>
      </p:sp>
      <p:sp>
        <p:nvSpPr>
          <p:cNvPr name="TextBox 10" id="10"/>
          <p:cNvSpPr txBox="true"/>
          <p:nvPr/>
        </p:nvSpPr>
        <p:spPr>
          <a:xfrm rot="0">
            <a:off x="775628" y="471373"/>
            <a:ext cx="5564305" cy="210107"/>
          </a:xfrm>
          <a:prstGeom prst="rect">
            <a:avLst/>
          </a:prstGeom>
        </p:spPr>
        <p:txBody>
          <a:bodyPr anchor="t" rtlCol="false" tIns="0" lIns="0" bIns="0" rIns="0">
            <a:spAutoFit/>
          </a:bodyPr>
          <a:lstStyle/>
          <a:p>
            <a:pPr algn="l">
              <a:lnSpc>
                <a:spcPts val="1544"/>
              </a:lnSpc>
            </a:pPr>
            <a:r>
              <a:rPr lang="en-US" sz="1103">
                <a:solidFill>
                  <a:srgbClr val="FFFFFF"/>
                </a:solidFill>
                <a:latin typeface="Overpass"/>
                <a:ea typeface="Overpass"/>
                <a:cs typeface="Overpass"/>
                <a:sym typeface="Overpass"/>
              </a:rPr>
              <a:t>MUNAWWAR FOUNDATION-"ILLUMINATING HEARTS, TRANSFORMING FUTURES"</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399FAD"/>
        </a:solidFill>
      </p:bgPr>
    </p:bg>
    <p:spTree>
      <p:nvGrpSpPr>
        <p:cNvPr id="1" name=""/>
        <p:cNvGrpSpPr/>
        <p:nvPr/>
      </p:nvGrpSpPr>
      <p:grpSpPr>
        <a:xfrm>
          <a:off x="0" y="0"/>
          <a:ext cx="0" cy="0"/>
          <a:chOff x="0" y="0"/>
          <a:chExt cx="0" cy="0"/>
        </a:xfrm>
      </p:grpSpPr>
      <p:grpSp>
        <p:nvGrpSpPr>
          <p:cNvPr name="Group 2" id="2"/>
          <p:cNvGrpSpPr/>
          <p:nvPr/>
        </p:nvGrpSpPr>
        <p:grpSpPr>
          <a:xfrm rot="0">
            <a:off x="-276458" y="5604086"/>
            <a:ext cx="8121505" cy="5376300"/>
            <a:chOff x="0" y="0"/>
            <a:chExt cx="2910564" cy="1926745"/>
          </a:xfrm>
        </p:grpSpPr>
        <p:sp>
          <p:nvSpPr>
            <p:cNvPr name="Freeform 3" id="3"/>
            <p:cNvSpPr/>
            <p:nvPr/>
          </p:nvSpPr>
          <p:spPr>
            <a:xfrm flipH="false" flipV="false" rot="0">
              <a:off x="0" y="0"/>
              <a:ext cx="2910564" cy="1926745"/>
            </a:xfrm>
            <a:custGeom>
              <a:avLst/>
              <a:gdLst/>
              <a:ahLst/>
              <a:cxnLst/>
              <a:rect r="r" b="b" t="t" l="l"/>
              <a:pathLst>
                <a:path h="1926745" w="2910564">
                  <a:moveTo>
                    <a:pt x="0" y="0"/>
                  </a:moveTo>
                  <a:lnTo>
                    <a:pt x="2910564" y="0"/>
                  </a:lnTo>
                  <a:lnTo>
                    <a:pt x="2910564" y="1926745"/>
                  </a:lnTo>
                  <a:lnTo>
                    <a:pt x="0" y="1926745"/>
                  </a:lnTo>
                  <a:close/>
                </a:path>
              </a:pathLst>
            </a:custGeom>
            <a:solidFill>
              <a:srgbClr val="FFFFFF"/>
            </a:solidFill>
          </p:spPr>
        </p:sp>
        <p:sp>
          <p:nvSpPr>
            <p:cNvPr name="TextBox 4" id="4"/>
            <p:cNvSpPr txBox="true"/>
            <p:nvPr/>
          </p:nvSpPr>
          <p:spPr>
            <a:xfrm>
              <a:off x="0" y="-47625"/>
              <a:ext cx="2910564" cy="1974370"/>
            </a:xfrm>
            <a:prstGeom prst="rect">
              <a:avLst/>
            </a:prstGeom>
          </p:spPr>
          <p:txBody>
            <a:bodyPr anchor="ctr" rtlCol="false" tIns="50800" lIns="50800" bIns="50800" rIns="50800"/>
            <a:lstStyle/>
            <a:p>
              <a:pPr algn="ctr">
                <a:lnSpc>
                  <a:spcPts val="1544"/>
                </a:lnSpc>
              </a:pPr>
            </a:p>
          </p:txBody>
        </p:sp>
      </p:grpSp>
      <p:sp>
        <p:nvSpPr>
          <p:cNvPr name="AutoShape 5" id="5"/>
          <p:cNvSpPr/>
          <p:nvPr/>
        </p:nvSpPr>
        <p:spPr>
          <a:xfrm>
            <a:off x="762401" y="756000"/>
            <a:ext cx="6023281" cy="0"/>
          </a:xfrm>
          <a:prstGeom prst="line">
            <a:avLst/>
          </a:prstGeom>
          <a:ln cap="flat" w="28575">
            <a:solidFill>
              <a:srgbClr val="FFFFFF"/>
            </a:solidFill>
            <a:prstDash val="solid"/>
            <a:headEnd type="none" len="sm" w="sm"/>
            <a:tailEnd type="none" len="sm" w="sm"/>
          </a:ln>
        </p:spPr>
      </p:sp>
      <p:sp>
        <p:nvSpPr>
          <p:cNvPr name="Freeform 6" id="6"/>
          <p:cNvSpPr/>
          <p:nvPr/>
        </p:nvSpPr>
        <p:spPr>
          <a:xfrm flipH="false" flipV="false" rot="0">
            <a:off x="1819676" y="1474341"/>
            <a:ext cx="5740324" cy="4462027"/>
          </a:xfrm>
          <a:custGeom>
            <a:avLst/>
            <a:gdLst/>
            <a:ahLst/>
            <a:cxnLst/>
            <a:rect r="r" b="b" t="t" l="l"/>
            <a:pathLst>
              <a:path h="4462027" w="5740324">
                <a:moveTo>
                  <a:pt x="0" y="0"/>
                </a:moveTo>
                <a:lnTo>
                  <a:pt x="5740324" y="0"/>
                </a:lnTo>
                <a:lnTo>
                  <a:pt x="5740324" y="4462027"/>
                </a:lnTo>
                <a:lnTo>
                  <a:pt x="0" y="4462027"/>
                </a:lnTo>
                <a:lnTo>
                  <a:pt x="0" y="0"/>
                </a:lnTo>
                <a:close/>
              </a:path>
            </a:pathLst>
          </a:custGeom>
          <a:blipFill>
            <a:blip r:embed="rId2"/>
            <a:stretch>
              <a:fillRect l="-1083" t="-8043" r="0" b="-23833"/>
            </a:stretch>
          </a:blipFill>
        </p:spPr>
      </p:sp>
      <p:sp>
        <p:nvSpPr>
          <p:cNvPr name="TextBox 7" id="7"/>
          <p:cNvSpPr txBox="true"/>
          <p:nvPr/>
        </p:nvSpPr>
        <p:spPr>
          <a:xfrm rot="0">
            <a:off x="3870000" y="7206086"/>
            <a:ext cx="2934000" cy="2498012"/>
          </a:xfrm>
          <a:prstGeom prst="rect">
            <a:avLst/>
          </a:prstGeom>
        </p:spPr>
        <p:txBody>
          <a:bodyPr anchor="t" rtlCol="false" tIns="0" lIns="0" bIns="0" rIns="0">
            <a:spAutoFit/>
          </a:bodyPr>
          <a:lstStyle/>
          <a:p>
            <a:pPr algn="just">
              <a:lnSpc>
                <a:spcPts val="1964"/>
              </a:lnSpc>
            </a:pPr>
            <a:r>
              <a:rPr lang="en-US" sz="1403">
                <a:solidFill>
                  <a:srgbClr val="000001"/>
                </a:solidFill>
                <a:latin typeface="Overpass"/>
                <a:ea typeface="Overpass"/>
                <a:cs typeface="Overpass"/>
                <a:sym typeface="Overpass"/>
              </a:rPr>
              <a:t>Through this adoption, the Foundation ensures regular aid in the form of food, healthcare, education, and basic necessities.</a:t>
            </a:r>
          </a:p>
          <a:p>
            <a:pPr algn="just">
              <a:lnSpc>
                <a:spcPts val="1964"/>
              </a:lnSpc>
            </a:pPr>
            <a:r>
              <a:rPr lang="en-US" sz="1403">
                <a:solidFill>
                  <a:srgbClr val="000001"/>
                </a:solidFill>
                <a:latin typeface="Overpass"/>
                <a:ea typeface="Overpass"/>
                <a:cs typeface="Overpass"/>
                <a:sym typeface="Overpass"/>
              </a:rPr>
              <a:t>The goal is not just temporary relief, but long-term empowerment and stability for the family. Our team remains in close contact to monitor their needs and provide ongoing guidance and care.</a:t>
            </a:r>
          </a:p>
        </p:txBody>
      </p:sp>
      <p:sp>
        <p:nvSpPr>
          <p:cNvPr name="TextBox 8" id="8"/>
          <p:cNvSpPr txBox="true"/>
          <p:nvPr/>
        </p:nvSpPr>
        <p:spPr>
          <a:xfrm rot="0">
            <a:off x="762401" y="7205364"/>
            <a:ext cx="2927599" cy="2993312"/>
          </a:xfrm>
          <a:prstGeom prst="rect">
            <a:avLst/>
          </a:prstGeom>
        </p:spPr>
        <p:txBody>
          <a:bodyPr anchor="t" rtlCol="false" tIns="0" lIns="0" bIns="0" rIns="0">
            <a:spAutoFit/>
          </a:bodyPr>
          <a:lstStyle/>
          <a:p>
            <a:pPr algn="just">
              <a:lnSpc>
                <a:spcPts val="1964"/>
              </a:lnSpc>
            </a:pPr>
            <a:r>
              <a:rPr lang="en-US" sz="1403">
                <a:solidFill>
                  <a:srgbClr val="000001"/>
                </a:solidFill>
                <a:latin typeface="Overpass"/>
                <a:ea typeface="Overpass"/>
                <a:cs typeface="Overpass"/>
                <a:sym typeface="Overpass"/>
              </a:rPr>
              <a:t>Abdullah, a poor boy, sells tea door to door to fulfill his family’s needs. After his father passed away due to illness, Abdullah became the sole provider for his f</a:t>
            </a:r>
            <a:r>
              <a:rPr lang="en-US" sz="1403">
                <a:solidFill>
                  <a:srgbClr val="000001"/>
                </a:solidFill>
                <a:latin typeface="Overpass"/>
                <a:ea typeface="Overpass"/>
                <a:cs typeface="Overpass"/>
                <a:sym typeface="Overpass"/>
              </a:rPr>
              <a:t>amily, which includes his mother and younger brother. To support them in their difficult times. </a:t>
            </a:r>
          </a:p>
          <a:p>
            <a:pPr algn="just">
              <a:lnSpc>
                <a:spcPts val="1964"/>
              </a:lnSpc>
            </a:pPr>
            <a:r>
              <a:rPr lang="en-US" sz="1403">
                <a:solidFill>
                  <a:srgbClr val="000001"/>
                </a:solidFill>
                <a:latin typeface="Overpass"/>
                <a:ea typeface="Overpass"/>
                <a:cs typeface="Overpass"/>
                <a:sym typeface="Overpass"/>
              </a:rPr>
              <a:t>MUNAWWAR FOUNDATION has adopted the family of Mr. Abdullah under its “Sustained Assistance – Recurring Help Initiative.”</a:t>
            </a:r>
          </a:p>
        </p:txBody>
      </p:sp>
      <p:sp>
        <p:nvSpPr>
          <p:cNvPr name="TextBox 9" id="9"/>
          <p:cNvSpPr txBox="true"/>
          <p:nvPr/>
        </p:nvSpPr>
        <p:spPr>
          <a:xfrm rot="0">
            <a:off x="659484" y="6083319"/>
            <a:ext cx="4461911" cy="1036320"/>
          </a:xfrm>
          <a:prstGeom prst="rect">
            <a:avLst/>
          </a:prstGeom>
        </p:spPr>
        <p:txBody>
          <a:bodyPr anchor="t" rtlCol="false" tIns="0" lIns="0" bIns="0" rIns="0">
            <a:spAutoFit/>
          </a:bodyPr>
          <a:lstStyle/>
          <a:p>
            <a:pPr algn="l" marL="0" indent="0" lvl="0">
              <a:lnSpc>
                <a:spcPts val="3960"/>
              </a:lnSpc>
              <a:spcBef>
                <a:spcPct val="0"/>
              </a:spcBef>
            </a:pPr>
            <a:r>
              <a:rPr lang="en-US" b="true" sz="3600" u="none">
                <a:solidFill>
                  <a:srgbClr val="399FAD"/>
                </a:solidFill>
                <a:latin typeface="Cloud Condensed Bold"/>
                <a:ea typeface="Cloud Condensed Bold"/>
                <a:cs typeface="Cloud Condensed Bold"/>
                <a:sym typeface="Cloud Condensed Bold"/>
              </a:rPr>
              <a:t>SUSTAINED ASSISTANCE</a:t>
            </a:r>
          </a:p>
          <a:p>
            <a:pPr algn="l" marL="0" indent="0" lvl="0">
              <a:lnSpc>
                <a:spcPts val="3960"/>
              </a:lnSpc>
              <a:spcBef>
                <a:spcPct val="0"/>
              </a:spcBef>
            </a:pPr>
            <a:r>
              <a:rPr lang="en-US" b="true" sz="3600" u="none">
                <a:solidFill>
                  <a:srgbClr val="399FAD"/>
                </a:solidFill>
                <a:latin typeface="Cloud Condensed Bold"/>
                <a:ea typeface="Cloud Condensed Bold"/>
                <a:cs typeface="Cloud Condensed Bold"/>
                <a:sym typeface="Cloud Condensed Bold"/>
              </a:rPr>
              <a:t>-RECURRING HELP</a:t>
            </a:r>
          </a:p>
        </p:txBody>
      </p:sp>
      <p:sp>
        <p:nvSpPr>
          <p:cNvPr name="TextBox 10" id="10"/>
          <p:cNvSpPr txBox="true"/>
          <p:nvPr/>
        </p:nvSpPr>
        <p:spPr>
          <a:xfrm rot="0">
            <a:off x="762401" y="1026066"/>
            <a:ext cx="2114550" cy="210107"/>
          </a:xfrm>
          <a:prstGeom prst="rect">
            <a:avLst/>
          </a:prstGeom>
        </p:spPr>
        <p:txBody>
          <a:bodyPr anchor="t" rtlCol="false" tIns="0" lIns="0" bIns="0" rIns="0">
            <a:spAutoFit/>
          </a:bodyPr>
          <a:lstStyle/>
          <a:p>
            <a:pPr algn="l">
              <a:lnSpc>
                <a:spcPts val="1544"/>
              </a:lnSpc>
            </a:pPr>
            <a:r>
              <a:rPr lang="en-US" sz="1103">
                <a:solidFill>
                  <a:srgbClr val="FFFFFF"/>
                </a:solidFill>
                <a:latin typeface="Overpass"/>
                <a:ea typeface="Overpass"/>
                <a:cs typeface="Overpass"/>
                <a:sym typeface="Overpass"/>
              </a:rPr>
              <a:t>ANNUAL REPORT</a:t>
            </a:r>
          </a:p>
        </p:txBody>
      </p:sp>
      <p:sp>
        <p:nvSpPr>
          <p:cNvPr name="TextBox 11" id="11"/>
          <p:cNvSpPr txBox="true"/>
          <p:nvPr/>
        </p:nvSpPr>
        <p:spPr>
          <a:xfrm rot="0">
            <a:off x="4671131" y="1026066"/>
            <a:ext cx="2114550" cy="210107"/>
          </a:xfrm>
          <a:prstGeom prst="rect">
            <a:avLst/>
          </a:prstGeom>
        </p:spPr>
        <p:txBody>
          <a:bodyPr anchor="t" rtlCol="false" tIns="0" lIns="0" bIns="0" rIns="0">
            <a:spAutoFit/>
          </a:bodyPr>
          <a:lstStyle/>
          <a:p>
            <a:pPr algn="r">
              <a:lnSpc>
                <a:spcPts val="1544"/>
              </a:lnSpc>
            </a:pPr>
            <a:r>
              <a:rPr lang="en-US" sz="1103">
                <a:solidFill>
                  <a:srgbClr val="FFFFFF"/>
                </a:solidFill>
                <a:latin typeface="Overpass"/>
                <a:ea typeface="Overpass"/>
                <a:cs typeface="Overpass"/>
                <a:sym typeface="Overpass"/>
              </a:rPr>
              <a:t>YEAR 2024-25</a:t>
            </a:r>
          </a:p>
        </p:txBody>
      </p:sp>
      <p:sp>
        <p:nvSpPr>
          <p:cNvPr name="Freeform 12" id="12"/>
          <p:cNvSpPr/>
          <p:nvPr/>
        </p:nvSpPr>
        <p:spPr>
          <a:xfrm flipH="false" flipV="false" rot="0">
            <a:off x="6688312" y="9847696"/>
            <a:ext cx="584339" cy="490452"/>
          </a:xfrm>
          <a:custGeom>
            <a:avLst/>
            <a:gdLst/>
            <a:ahLst/>
            <a:cxnLst/>
            <a:rect r="r" b="b" t="t" l="l"/>
            <a:pathLst>
              <a:path h="490452" w="584339">
                <a:moveTo>
                  <a:pt x="0" y="0"/>
                </a:moveTo>
                <a:lnTo>
                  <a:pt x="584340" y="0"/>
                </a:lnTo>
                <a:lnTo>
                  <a:pt x="584340" y="490452"/>
                </a:lnTo>
                <a:lnTo>
                  <a:pt x="0" y="490452"/>
                </a:lnTo>
                <a:lnTo>
                  <a:pt x="0" y="0"/>
                </a:lnTo>
                <a:close/>
              </a:path>
            </a:pathLst>
          </a:custGeom>
          <a:blipFill>
            <a:blip r:embed="rId3"/>
            <a:stretch>
              <a:fillRect l="-6287" t="-6658" r="-8382" b="-29963"/>
            </a:stretch>
          </a:blipFill>
        </p:spPr>
      </p:sp>
      <p:sp>
        <p:nvSpPr>
          <p:cNvPr name="TextBox 13" id="13"/>
          <p:cNvSpPr txBox="true"/>
          <p:nvPr/>
        </p:nvSpPr>
        <p:spPr>
          <a:xfrm rot="0">
            <a:off x="775628" y="471373"/>
            <a:ext cx="5564305" cy="210107"/>
          </a:xfrm>
          <a:prstGeom prst="rect">
            <a:avLst/>
          </a:prstGeom>
        </p:spPr>
        <p:txBody>
          <a:bodyPr anchor="t" rtlCol="false" tIns="0" lIns="0" bIns="0" rIns="0">
            <a:spAutoFit/>
          </a:bodyPr>
          <a:lstStyle/>
          <a:p>
            <a:pPr algn="l">
              <a:lnSpc>
                <a:spcPts val="1544"/>
              </a:lnSpc>
            </a:pPr>
            <a:r>
              <a:rPr lang="en-US" sz="1103">
                <a:solidFill>
                  <a:srgbClr val="FFFFFF"/>
                </a:solidFill>
                <a:latin typeface="Overpass"/>
                <a:ea typeface="Overpass"/>
                <a:cs typeface="Overpass"/>
                <a:sym typeface="Overpass"/>
              </a:rPr>
              <a:t>MUNAWWAR FOUNDATION-"ILLUMINATING HEARTS, TRANSFORMING FUTURES"</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399FAD"/>
        </a:solidFill>
      </p:bgPr>
    </p:bg>
    <p:spTree>
      <p:nvGrpSpPr>
        <p:cNvPr id="1" name=""/>
        <p:cNvGrpSpPr/>
        <p:nvPr/>
      </p:nvGrpSpPr>
      <p:grpSpPr>
        <a:xfrm>
          <a:off x="0" y="0"/>
          <a:ext cx="0" cy="0"/>
          <a:chOff x="0" y="0"/>
          <a:chExt cx="0" cy="0"/>
        </a:xfrm>
      </p:grpSpPr>
      <p:grpSp>
        <p:nvGrpSpPr>
          <p:cNvPr name="Group 2" id="2"/>
          <p:cNvGrpSpPr/>
          <p:nvPr/>
        </p:nvGrpSpPr>
        <p:grpSpPr>
          <a:xfrm rot="0">
            <a:off x="-276458" y="5604086"/>
            <a:ext cx="8121505" cy="5376300"/>
            <a:chOff x="0" y="0"/>
            <a:chExt cx="2910564" cy="1926745"/>
          </a:xfrm>
        </p:grpSpPr>
        <p:sp>
          <p:nvSpPr>
            <p:cNvPr name="Freeform 3" id="3"/>
            <p:cNvSpPr/>
            <p:nvPr/>
          </p:nvSpPr>
          <p:spPr>
            <a:xfrm flipH="false" flipV="false" rot="0">
              <a:off x="0" y="0"/>
              <a:ext cx="2910564" cy="1926745"/>
            </a:xfrm>
            <a:custGeom>
              <a:avLst/>
              <a:gdLst/>
              <a:ahLst/>
              <a:cxnLst/>
              <a:rect r="r" b="b" t="t" l="l"/>
              <a:pathLst>
                <a:path h="1926745" w="2910564">
                  <a:moveTo>
                    <a:pt x="0" y="0"/>
                  </a:moveTo>
                  <a:lnTo>
                    <a:pt x="2910564" y="0"/>
                  </a:lnTo>
                  <a:lnTo>
                    <a:pt x="2910564" y="1926745"/>
                  </a:lnTo>
                  <a:lnTo>
                    <a:pt x="0" y="1926745"/>
                  </a:lnTo>
                  <a:close/>
                </a:path>
              </a:pathLst>
            </a:custGeom>
            <a:solidFill>
              <a:srgbClr val="FFFFFF"/>
            </a:solidFill>
          </p:spPr>
        </p:sp>
        <p:sp>
          <p:nvSpPr>
            <p:cNvPr name="TextBox 4" id="4"/>
            <p:cNvSpPr txBox="true"/>
            <p:nvPr/>
          </p:nvSpPr>
          <p:spPr>
            <a:xfrm>
              <a:off x="0" y="-47625"/>
              <a:ext cx="2910564" cy="1974370"/>
            </a:xfrm>
            <a:prstGeom prst="rect">
              <a:avLst/>
            </a:prstGeom>
          </p:spPr>
          <p:txBody>
            <a:bodyPr anchor="ctr" rtlCol="false" tIns="50800" lIns="50800" bIns="50800" rIns="50800"/>
            <a:lstStyle/>
            <a:p>
              <a:pPr algn="ctr">
                <a:lnSpc>
                  <a:spcPts val="1544"/>
                </a:lnSpc>
              </a:pPr>
            </a:p>
          </p:txBody>
        </p:sp>
      </p:grpSp>
      <p:sp>
        <p:nvSpPr>
          <p:cNvPr name="AutoShape 5" id="5"/>
          <p:cNvSpPr/>
          <p:nvPr/>
        </p:nvSpPr>
        <p:spPr>
          <a:xfrm>
            <a:off x="762401" y="756000"/>
            <a:ext cx="6023281" cy="0"/>
          </a:xfrm>
          <a:prstGeom prst="line">
            <a:avLst/>
          </a:prstGeom>
          <a:ln cap="flat" w="28575">
            <a:solidFill>
              <a:srgbClr val="FFFFFF"/>
            </a:solidFill>
            <a:prstDash val="solid"/>
            <a:headEnd type="none" len="sm" w="sm"/>
            <a:tailEnd type="none" len="sm" w="sm"/>
          </a:ln>
        </p:spPr>
      </p:sp>
      <p:sp>
        <p:nvSpPr>
          <p:cNvPr name="Freeform 6" id="6"/>
          <p:cNvSpPr/>
          <p:nvPr/>
        </p:nvSpPr>
        <p:spPr>
          <a:xfrm flipH="false" flipV="false" rot="0">
            <a:off x="756000" y="1540973"/>
            <a:ext cx="2964999" cy="5139853"/>
          </a:xfrm>
          <a:custGeom>
            <a:avLst/>
            <a:gdLst/>
            <a:ahLst/>
            <a:cxnLst/>
            <a:rect r="r" b="b" t="t" l="l"/>
            <a:pathLst>
              <a:path h="5139853" w="2964999">
                <a:moveTo>
                  <a:pt x="0" y="0"/>
                </a:moveTo>
                <a:lnTo>
                  <a:pt x="2964999" y="0"/>
                </a:lnTo>
                <a:lnTo>
                  <a:pt x="2964999" y="5139853"/>
                </a:lnTo>
                <a:lnTo>
                  <a:pt x="0" y="5139853"/>
                </a:lnTo>
                <a:lnTo>
                  <a:pt x="0" y="0"/>
                </a:lnTo>
                <a:close/>
              </a:path>
            </a:pathLst>
          </a:custGeom>
          <a:blipFill>
            <a:blip r:embed="rId2"/>
            <a:stretch>
              <a:fillRect l="0" t="0" r="0" b="0"/>
            </a:stretch>
          </a:blipFill>
        </p:spPr>
      </p:sp>
      <p:sp>
        <p:nvSpPr>
          <p:cNvPr name="TextBox 7" id="7"/>
          <p:cNvSpPr txBox="true"/>
          <p:nvPr/>
        </p:nvSpPr>
        <p:spPr>
          <a:xfrm rot="0">
            <a:off x="3987849" y="7685638"/>
            <a:ext cx="2934000" cy="2250362"/>
          </a:xfrm>
          <a:prstGeom prst="rect">
            <a:avLst/>
          </a:prstGeom>
        </p:spPr>
        <p:txBody>
          <a:bodyPr anchor="t" rtlCol="false" tIns="0" lIns="0" bIns="0" rIns="0">
            <a:spAutoFit/>
          </a:bodyPr>
          <a:lstStyle/>
          <a:p>
            <a:pPr algn="just">
              <a:lnSpc>
                <a:spcPts val="1964"/>
              </a:lnSpc>
            </a:pPr>
            <a:r>
              <a:rPr lang="en-US" sz="1403">
                <a:solidFill>
                  <a:srgbClr val="000001"/>
                </a:solidFill>
                <a:latin typeface="Overpass"/>
                <a:ea typeface="Overpass"/>
                <a:cs typeface="Overpass"/>
                <a:sym typeface="Overpass"/>
              </a:rPr>
              <a:t>MUNAWWAR FOUNDATION has adopted Abdullah’s family under its “Sustained Assistance- Recurring Help” initiative.</a:t>
            </a:r>
          </a:p>
          <a:p>
            <a:pPr algn="just">
              <a:lnSpc>
                <a:spcPts val="1964"/>
              </a:lnSpc>
            </a:pPr>
            <a:r>
              <a:rPr lang="en-US" sz="1403">
                <a:solidFill>
                  <a:srgbClr val="000001"/>
                </a:solidFill>
                <a:latin typeface="Overpass"/>
                <a:ea typeface="Overpass"/>
                <a:cs typeface="Overpass"/>
                <a:sym typeface="Overpass"/>
              </a:rPr>
              <a:t>A step beyond charity — it’s a promise of continuous care, dignity, and hope. Together, we strive to rebuild lives… not for a day, but for a lifetime. </a:t>
            </a:r>
          </a:p>
        </p:txBody>
      </p:sp>
      <p:sp>
        <p:nvSpPr>
          <p:cNvPr name="Freeform 8" id="8"/>
          <p:cNvSpPr/>
          <p:nvPr/>
        </p:nvSpPr>
        <p:spPr>
          <a:xfrm flipH="false" flipV="false" rot="0">
            <a:off x="6688312" y="9847696"/>
            <a:ext cx="584339" cy="490452"/>
          </a:xfrm>
          <a:custGeom>
            <a:avLst/>
            <a:gdLst/>
            <a:ahLst/>
            <a:cxnLst/>
            <a:rect r="r" b="b" t="t" l="l"/>
            <a:pathLst>
              <a:path h="490452" w="584339">
                <a:moveTo>
                  <a:pt x="0" y="0"/>
                </a:moveTo>
                <a:lnTo>
                  <a:pt x="584340" y="0"/>
                </a:lnTo>
                <a:lnTo>
                  <a:pt x="584340" y="490452"/>
                </a:lnTo>
                <a:lnTo>
                  <a:pt x="0" y="490452"/>
                </a:lnTo>
                <a:lnTo>
                  <a:pt x="0" y="0"/>
                </a:lnTo>
                <a:close/>
              </a:path>
            </a:pathLst>
          </a:custGeom>
          <a:blipFill>
            <a:blip r:embed="rId3"/>
            <a:stretch>
              <a:fillRect l="-6287" t="-6658" r="-8382" b="-29963"/>
            </a:stretch>
          </a:blipFill>
        </p:spPr>
      </p:sp>
      <p:sp>
        <p:nvSpPr>
          <p:cNvPr name="Freeform 9" id="9"/>
          <p:cNvSpPr/>
          <p:nvPr/>
        </p:nvSpPr>
        <p:spPr>
          <a:xfrm flipH="false" flipV="false" rot="0">
            <a:off x="1010786" y="6831531"/>
            <a:ext cx="2773509" cy="3331140"/>
          </a:xfrm>
          <a:custGeom>
            <a:avLst/>
            <a:gdLst/>
            <a:ahLst/>
            <a:cxnLst/>
            <a:rect r="r" b="b" t="t" l="l"/>
            <a:pathLst>
              <a:path h="3331140" w="2773509">
                <a:moveTo>
                  <a:pt x="0" y="0"/>
                </a:moveTo>
                <a:lnTo>
                  <a:pt x="2773509" y="0"/>
                </a:lnTo>
                <a:lnTo>
                  <a:pt x="2773509" y="3331140"/>
                </a:lnTo>
                <a:lnTo>
                  <a:pt x="0" y="3331140"/>
                </a:lnTo>
                <a:lnTo>
                  <a:pt x="0" y="0"/>
                </a:lnTo>
                <a:close/>
              </a:path>
            </a:pathLst>
          </a:custGeom>
          <a:blipFill>
            <a:blip r:embed="rId4"/>
            <a:stretch>
              <a:fillRect l="0" t="-6477" r="0" b="-6477"/>
            </a:stretch>
          </a:blipFill>
        </p:spPr>
      </p:sp>
      <p:sp>
        <p:nvSpPr>
          <p:cNvPr name="Freeform 10" id="10"/>
          <p:cNvSpPr/>
          <p:nvPr/>
        </p:nvSpPr>
        <p:spPr>
          <a:xfrm flipH="false" flipV="false" rot="0">
            <a:off x="3987849" y="1888086"/>
            <a:ext cx="3350470" cy="5697933"/>
          </a:xfrm>
          <a:custGeom>
            <a:avLst/>
            <a:gdLst/>
            <a:ahLst/>
            <a:cxnLst/>
            <a:rect r="r" b="b" t="t" l="l"/>
            <a:pathLst>
              <a:path h="5697933" w="3350470">
                <a:moveTo>
                  <a:pt x="0" y="0"/>
                </a:moveTo>
                <a:lnTo>
                  <a:pt x="3350470" y="0"/>
                </a:lnTo>
                <a:lnTo>
                  <a:pt x="3350470" y="5697933"/>
                </a:lnTo>
                <a:lnTo>
                  <a:pt x="0" y="5697933"/>
                </a:lnTo>
                <a:lnTo>
                  <a:pt x="0" y="0"/>
                </a:lnTo>
                <a:close/>
              </a:path>
            </a:pathLst>
          </a:custGeom>
          <a:blipFill>
            <a:blip r:embed="rId5"/>
            <a:stretch>
              <a:fillRect l="0" t="0" r="0" b="0"/>
            </a:stretch>
          </a:blipFill>
        </p:spPr>
      </p:sp>
      <p:sp>
        <p:nvSpPr>
          <p:cNvPr name="TextBox 11" id="11"/>
          <p:cNvSpPr txBox="true"/>
          <p:nvPr/>
        </p:nvSpPr>
        <p:spPr>
          <a:xfrm rot="0">
            <a:off x="762401" y="1026066"/>
            <a:ext cx="2114550" cy="210107"/>
          </a:xfrm>
          <a:prstGeom prst="rect">
            <a:avLst/>
          </a:prstGeom>
        </p:spPr>
        <p:txBody>
          <a:bodyPr anchor="t" rtlCol="false" tIns="0" lIns="0" bIns="0" rIns="0">
            <a:spAutoFit/>
          </a:bodyPr>
          <a:lstStyle/>
          <a:p>
            <a:pPr algn="l">
              <a:lnSpc>
                <a:spcPts val="1544"/>
              </a:lnSpc>
            </a:pPr>
            <a:r>
              <a:rPr lang="en-US" sz="1103">
                <a:solidFill>
                  <a:srgbClr val="FFFFFF"/>
                </a:solidFill>
                <a:latin typeface="Overpass"/>
                <a:ea typeface="Overpass"/>
                <a:cs typeface="Overpass"/>
                <a:sym typeface="Overpass"/>
              </a:rPr>
              <a:t>ANNUAL REPORT</a:t>
            </a:r>
          </a:p>
        </p:txBody>
      </p:sp>
      <p:sp>
        <p:nvSpPr>
          <p:cNvPr name="TextBox 12" id="12"/>
          <p:cNvSpPr txBox="true"/>
          <p:nvPr/>
        </p:nvSpPr>
        <p:spPr>
          <a:xfrm rot="0">
            <a:off x="4671131" y="1026066"/>
            <a:ext cx="2114550" cy="210107"/>
          </a:xfrm>
          <a:prstGeom prst="rect">
            <a:avLst/>
          </a:prstGeom>
        </p:spPr>
        <p:txBody>
          <a:bodyPr anchor="t" rtlCol="false" tIns="0" lIns="0" bIns="0" rIns="0">
            <a:spAutoFit/>
          </a:bodyPr>
          <a:lstStyle/>
          <a:p>
            <a:pPr algn="r">
              <a:lnSpc>
                <a:spcPts val="1544"/>
              </a:lnSpc>
            </a:pPr>
            <a:r>
              <a:rPr lang="en-US" sz="1103">
                <a:solidFill>
                  <a:srgbClr val="FFFFFF"/>
                </a:solidFill>
                <a:latin typeface="Overpass"/>
                <a:ea typeface="Overpass"/>
                <a:cs typeface="Overpass"/>
                <a:sym typeface="Overpass"/>
              </a:rPr>
              <a:t>YEAR 2024-25</a:t>
            </a:r>
          </a:p>
        </p:txBody>
      </p:sp>
      <p:sp>
        <p:nvSpPr>
          <p:cNvPr name="TextBox 13" id="13"/>
          <p:cNvSpPr txBox="true"/>
          <p:nvPr/>
        </p:nvSpPr>
        <p:spPr>
          <a:xfrm rot="0">
            <a:off x="775628" y="471373"/>
            <a:ext cx="5564305" cy="210107"/>
          </a:xfrm>
          <a:prstGeom prst="rect">
            <a:avLst/>
          </a:prstGeom>
        </p:spPr>
        <p:txBody>
          <a:bodyPr anchor="t" rtlCol="false" tIns="0" lIns="0" bIns="0" rIns="0">
            <a:spAutoFit/>
          </a:bodyPr>
          <a:lstStyle/>
          <a:p>
            <a:pPr algn="l">
              <a:lnSpc>
                <a:spcPts val="1544"/>
              </a:lnSpc>
            </a:pPr>
            <a:r>
              <a:rPr lang="en-US" sz="1103">
                <a:solidFill>
                  <a:srgbClr val="FFFFFF"/>
                </a:solidFill>
                <a:latin typeface="Overpass"/>
                <a:ea typeface="Overpass"/>
                <a:cs typeface="Overpass"/>
                <a:sym typeface="Overpass"/>
              </a:rPr>
              <a:t>MUNAWWAR FOUNDATION-"ILLUMINATING HEARTS, TRANSFORMING FUTURES"</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62401" y="7069462"/>
            <a:ext cx="7033547" cy="3873599"/>
            <a:chOff x="0" y="0"/>
            <a:chExt cx="9378062" cy="5164799"/>
          </a:xfrm>
        </p:grpSpPr>
        <p:pic>
          <p:nvPicPr>
            <p:cNvPr name="Picture 3" id="3"/>
            <p:cNvPicPr>
              <a:picLocks noChangeAspect="true"/>
            </p:cNvPicPr>
            <p:nvPr/>
          </p:nvPicPr>
          <p:blipFill>
            <a:blip r:embed="rId2"/>
            <a:srcRect l="9088" t="0" r="9088" b="0"/>
            <a:stretch>
              <a:fillRect/>
            </a:stretch>
          </p:blipFill>
          <p:spPr>
            <a:xfrm flipH="false" flipV="false">
              <a:off x="0" y="0"/>
              <a:ext cx="9378062" cy="5164799"/>
            </a:xfrm>
            <a:prstGeom prst="rect">
              <a:avLst/>
            </a:prstGeom>
          </p:spPr>
        </p:pic>
      </p:grpSp>
      <p:sp>
        <p:nvSpPr>
          <p:cNvPr name="AutoShape 4" id="4"/>
          <p:cNvSpPr/>
          <p:nvPr/>
        </p:nvSpPr>
        <p:spPr>
          <a:xfrm flipV="true">
            <a:off x="736600" y="756000"/>
            <a:ext cx="6067400" cy="14288"/>
          </a:xfrm>
          <a:prstGeom prst="line">
            <a:avLst/>
          </a:prstGeom>
          <a:ln cap="flat" w="28575">
            <a:solidFill>
              <a:srgbClr val="000001"/>
            </a:solidFill>
            <a:prstDash val="solid"/>
            <a:headEnd type="none" len="sm" w="sm"/>
            <a:tailEnd type="none" len="sm" w="sm"/>
          </a:ln>
        </p:spPr>
      </p:sp>
      <p:sp>
        <p:nvSpPr>
          <p:cNvPr name="Freeform 5" id="5"/>
          <p:cNvSpPr/>
          <p:nvPr/>
        </p:nvSpPr>
        <p:spPr>
          <a:xfrm flipH="false" flipV="false" rot="0">
            <a:off x="6748110" y="9847696"/>
            <a:ext cx="566938" cy="631218"/>
          </a:xfrm>
          <a:custGeom>
            <a:avLst/>
            <a:gdLst/>
            <a:ahLst/>
            <a:cxnLst/>
            <a:rect r="r" b="b" t="t" l="l"/>
            <a:pathLst>
              <a:path h="631218" w="566938">
                <a:moveTo>
                  <a:pt x="0" y="0"/>
                </a:moveTo>
                <a:lnTo>
                  <a:pt x="566937" y="0"/>
                </a:lnTo>
                <a:lnTo>
                  <a:pt x="566937" y="631218"/>
                </a:lnTo>
                <a:lnTo>
                  <a:pt x="0" y="631218"/>
                </a:lnTo>
                <a:lnTo>
                  <a:pt x="0" y="0"/>
                </a:lnTo>
                <a:close/>
              </a:path>
            </a:pathLst>
          </a:custGeom>
          <a:blipFill>
            <a:blip r:embed="rId3"/>
            <a:stretch>
              <a:fillRect l="-2834" t="0" r="-8503" b="0"/>
            </a:stretch>
          </a:blipFill>
        </p:spPr>
      </p:sp>
      <p:sp>
        <p:nvSpPr>
          <p:cNvPr name="TextBox 6" id="6"/>
          <p:cNvSpPr txBox="true"/>
          <p:nvPr/>
        </p:nvSpPr>
        <p:spPr>
          <a:xfrm rot="0">
            <a:off x="756000" y="1623534"/>
            <a:ext cx="5992110" cy="1036320"/>
          </a:xfrm>
          <a:prstGeom prst="rect">
            <a:avLst/>
          </a:prstGeom>
        </p:spPr>
        <p:txBody>
          <a:bodyPr anchor="t" rtlCol="false" tIns="0" lIns="0" bIns="0" rIns="0">
            <a:spAutoFit/>
          </a:bodyPr>
          <a:lstStyle/>
          <a:p>
            <a:pPr algn="l">
              <a:lnSpc>
                <a:spcPts val="3960"/>
              </a:lnSpc>
            </a:pPr>
            <a:r>
              <a:rPr lang="en-US" sz="3600" b="true">
                <a:solidFill>
                  <a:srgbClr val="399FAD"/>
                </a:solidFill>
                <a:latin typeface="Cloud Condensed Bold"/>
                <a:ea typeface="Cloud Condensed Bold"/>
                <a:cs typeface="Cloud Condensed Bold"/>
                <a:sym typeface="Cloud Condensed Bold"/>
              </a:rPr>
              <a:t>COMPUTER TRAINING</a:t>
            </a:r>
          </a:p>
          <a:p>
            <a:pPr algn="l" marL="0" indent="0" lvl="0">
              <a:lnSpc>
                <a:spcPts val="3960"/>
              </a:lnSpc>
              <a:spcBef>
                <a:spcPct val="0"/>
              </a:spcBef>
            </a:pPr>
            <a:r>
              <a:rPr lang="en-US" b="true" sz="3600">
                <a:solidFill>
                  <a:srgbClr val="399FAD"/>
                </a:solidFill>
                <a:latin typeface="Cloud Condensed Bold"/>
                <a:ea typeface="Cloud Condensed Bold"/>
                <a:cs typeface="Cloud Condensed Bold"/>
                <a:sym typeface="Cloud Condensed Bold"/>
              </a:rPr>
              <a:t>-DIGITAL LITERACY INITIATIVE</a:t>
            </a:r>
          </a:p>
        </p:txBody>
      </p:sp>
      <p:sp>
        <p:nvSpPr>
          <p:cNvPr name="TextBox 7" id="7"/>
          <p:cNvSpPr txBox="true"/>
          <p:nvPr/>
        </p:nvSpPr>
        <p:spPr>
          <a:xfrm rot="0">
            <a:off x="762401" y="2888454"/>
            <a:ext cx="2927599" cy="3736262"/>
          </a:xfrm>
          <a:prstGeom prst="rect">
            <a:avLst/>
          </a:prstGeom>
        </p:spPr>
        <p:txBody>
          <a:bodyPr anchor="t" rtlCol="false" tIns="0" lIns="0" bIns="0" rIns="0">
            <a:spAutoFit/>
          </a:bodyPr>
          <a:lstStyle/>
          <a:p>
            <a:pPr algn="just">
              <a:lnSpc>
                <a:spcPts val="1964"/>
              </a:lnSpc>
            </a:pPr>
            <a:r>
              <a:rPr lang="en-US" sz="1403">
                <a:solidFill>
                  <a:srgbClr val="000001"/>
                </a:solidFill>
                <a:latin typeface="Overpass"/>
                <a:ea typeface="Overpass"/>
                <a:cs typeface="Overpass"/>
                <a:sym typeface="Overpass"/>
              </a:rPr>
              <a:t>MUNAWWAR FOUNDATION proudly launches its Computer Training Program under the “Digital Literacy Initiati</a:t>
            </a:r>
            <a:r>
              <a:rPr lang="en-US" sz="1403">
                <a:solidFill>
                  <a:srgbClr val="000001"/>
                </a:solidFill>
                <a:latin typeface="Overpass"/>
                <a:ea typeface="Overpass"/>
                <a:cs typeface="Overpass"/>
                <a:sym typeface="Overpass"/>
              </a:rPr>
              <a:t>ve.”</a:t>
            </a:r>
          </a:p>
          <a:p>
            <a:pPr algn="just">
              <a:lnSpc>
                <a:spcPts val="1964"/>
              </a:lnSpc>
            </a:pPr>
            <a:r>
              <a:rPr lang="en-US" sz="1403">
                <a:solidFill>
                  <a:srgbClr val="000001"/>
                </a:solidFill>
                <a:latin typeface="Overpass"/>
                <a:ea typeface="Overpass"/>
                <a:cs typeface="Overpass"/>
                <a:sym typeface="Overpass"/>
              </a:rPr>
              <a:t>In today’s world, digital knowledge is no longer a privilege — it’s a necessity.</a:t>
            </a:r>
          </a:p>
          <a:p>
            <a:pPr algn="just">
              <a:lnSpc>
                <a:spcPts val="1964"/>
              </a:lnSpc>
            </a:pPr>
            <a:r>
              <a:rPr lang="en-US" sz="1403">
                <a:solidFill>
                  <a:srgbClr val="000001"/>
                </a:solidFill>
                <a:latin typeface="Overpass"/>
                <a:ea typeface="Overpass"/>
                <a:cs typeface="Overpass"/>
                <a:sym typeface="Overpass"/>
              </a:rPr>
              <a:t>This program aims to empower underprivileged youth, women, and job seekers by equipping them with essential computer skills.</a:t>
            </a:r>
          </a:p>
          <a:p>
            <a:pPr algn="just">
              <a:lnSpc>
                <a:spcPts val="1964"/>
              </a:lnSpc>
            </a:pPr>
            <a:r>
              <a:rPr lang="en-US" sz="1403">
                <a:solidFill>
                  <a:srgbClr val="000001"/>
                </a:solidFill>
                <a:latin typeface="Overpass"/>
                <a:ea typeface="Overpass"/>
                <a:cs typeface="Overpass"/>
                <a:sym typeface="Overpass"/>
              </a:rPr>
              <a:t>From basic computer operations to digital communication and online awareness, participants gain practical, career-ready training.</a:t>
            </a:r>
          </a:p>
        </p:txBody>
      </p:sp>
      <p:sp>
        <p:nvSpPr>
          <p:cNvPr name="TextBox 8" id="8"/>
          <p:cNvSpPr txBox="true"/>
          <p:nvPr/>
        </p:nvSpPr>
        <p:spPr>
          <a:xfrm rot="0">
            <a:off x="3870000" y="3410424"/>
            <a:ext cx="2934034" cy="2745662"/>
          </a:xfrm>
          <a:prstGeom prst="rect">
            <a:avLst/>
          </a:prstGeom>
        </p:spPr>
        <p:txBody>
          <a:bodyPr anchor="t" rtlCol="false" tIns="0" lIns="0" bIns="0" rIns="0">
            <a:spAutoFit/>
          </a:bodyPr>
          <a:lstStyle/>
          <a:p>
            <a:pPr algn="just">
              <a:lnSpc>
                <a:spcPts val="1964"/>
              </a:lnSpc>
            </a:pPr>
            <a:r>
              <a:rPr lang="en-US" sz="1403">
                <a:solidFill>
                  <a:srgbClr val="000001"/>
                </a:solidFill>
                <a:latin typeface="Overpass"/>
                <a:ea typeface="Overpass"/>
                <a:cs typeface="Overpass"/>
                <a:sym typeface="Overpass"/>
              </a:rPr>
              <a:t>The initiative focuses on creating opportunities for employment and self-reliance through technology.</a:t>
            </a:r>
          </a:p>
          <a:p>
            <a:pPr algn="just">
              <a:lnSpc>
                <a:spcPts val="1964"/>
              </a:lnSpc>
            </a:pPr>
            <a:r>
              <a:rPr lang="en-US" sz="1403">
                <a:solidFill>
                  <a:srgbClr val="000001"/>
                </a:solidFill>
                <a:latin typeface="Overpass"/>
                <a:ea typeface="Overpass"/>
                <a:cs typeface="Overpass"/>
                <a:sym typeface="Overpass"/>
              </a:rPr>
              <a:t>Our trained instructors </a:t>
            </a:r>
            <a:r>
              <a:rPr lang="en-US" sz="1403">
                <a:solidFill>
                  <a:srgbClr val="000001"/>
                </a:solidFill>
                <a:latin typeface="Overpass"/>
                <a:ea typeface="Overpass"/>
                <a:cs typeface="Overpass"/>
                <a:sym typeface="Overpass"/>
              </a:rPr>
              <a:t>ensure that every learner, regardless of background, feels confident in using digital tools.</a:t>
            </a:r>
          </a:p>
          <a:p>
            <a:pPr algn="just">
              <a:lnSpc>
                <a:spcPts val="1964"/>
              </a:lnSpc>
            </a:pPr>
            <a:r>
              <a:rPr lang="en-US" sz="1403">
                <a:solidFill>
                  <a:srgbClr val="000001"/>
                </a:solidFill>
                <a:latin typeface="Overpass"/>
                <a:ea typeface="Overpass"/>
                <a:cs typeface="Overpass"/>
                <a:sym typeface="Overpass"/>
              </a:rPr>
              <a:t>By bridging the digital divide, MUNAWWAR FOUNDATION strives to build a more informed and connected community.</a:t>
            </a:r>
          </a:p>
        </p:txBody>
      </p:sp>
      <p:sp>
        <p:nvSpPr>
          <p:cNvPr name="TextBox 9" id="9"/>
          <p:cNvSpPr txBox="true"/>
          <p:nvPr/>
        </p:nvSpPr>
        <p:spPr>
          <a:xfrm rot="0">
            <a:off x="762401" y="1026066"/>
            <a:ext cx="2114550" cy="210107"/>
          </a:xfrm>
          <a:prstGeom prst="rect">
            <a:avLst/>
          </a:prstGeom>
        </p:spPr>
        <p:txBody>
          <a:bodyPr anchor="t" rtlCol="false" tIns="0" lIns="0" bIns="0" rIns="0">
            <a:spAutoFit/>
          </a:bodyPr>
          <a:lstStyle/>
          <a:p>
            <a:pPr algn="l">
              <a:lnSpc>
                <a:spcPts val="1544"/>
              </a:lnSpc>
            </a:pPr>
            <a:r>
              <a:rPr lang="en-US" sz="1103">
                <a:solidFill>
                  <a:srgbClr val="000001"/>
                </a:solidFill>
                <a:latin typeface="Overpass"/>
                <a:ea typeface="Overpass"/>
                <a:cs typeface="Overpass"/>
                <a:sym typeface="Overpass"/>
              </a:rPr>
              <a:t>ANNUAL REPORT</a:t>
            </a:r>
          </a:p>
        </p:txBody>
      </p:sp>
      <p:sp>
        <p:nvSpPr>
          <p:cNvPr name="TextBox 10" id="10"/>
          <p:cNvSpPr txBox="true"/>
          <p:nvPr/>
        </p:nvSpPr>
        <p:spPr>
          <a:xfrm rot="0">
            <a:off x="4671131" y="1026066"/>
            <a:ext cx="2114550" cy="210107"/>
          </a:xfrm>
          <a:prstGeom prst="rect">
            <a:avLst/>
          </a:prstGeom>
        </p:spPr>
        <p:txBody>
          <a:bodyPr anchor="t" rtlCol="false" tIns="0" lIns="0" bIns="0" rIns="0">
            <a:spAutoFit/>
          </a:bodyPr>
          <a:lstStyle/>
          <a:p>
            <a:pPr algn="r">
              <a:lnSpc>
                <a:spcPts val="1544"/>
              </a:lnSpc>
            </a:pPr>
            <a:r>
              <a:rPr lang="en-US" sz="1103">
                <a:solidFill>
                  <a:srgbClr val="000001"/>
                </a:solidFill>
                <a:latin typeface="Overpass"/>
                <a:ea typeface="Overpass"/>
                <a:cs typeface="Overpass"/>
                <a:sym typeface="Overpass"/>
              </a:rPr>
              <a:t>YEAR 2024-25</a:t>
            </a:r>
          </a:p>
        </p:txBody>
      </p:sp>
      <p:sp>
        <p:nvSpPr>
          <p:cNvPr name="TextBox 11" id="11"/>
          <p:cNvSpPr txBox="true"/>
          <p:nvPr/>
        </p:nvSpPr>
        <p:spPr>
          <a:xfrm rot="0">
            <a:off x="775628" y="471373"/>
            <a:ext cx="5564305" cy="210107"/>
          </a:xfrm>
          <a:prstGeom prst="rect">
            <a:avLst/>
          </a:prstGeom>
        </p:spPr>
        <p:txBody>
          <a:bodyPr anchor="t" rtlCol="false" tIns="0" lIns="0" bIns="0" rIns="0">
            <a:spAutoFit/>
          </a:bodyPr>
          <a:lstStyle/>
          <a:p>
            <a:pPr algn="l">
              <a:lnSpc>
                <a:spcPts val="1544"/>
              </a:lnSpc>
            </a:pPr>
            <a:r>
              <a:rPr lang="en-US" sz="1103">
                <a:solidFill>
                  <a:srgbClr val="000001"/>
                </a:solidFill>
                <a:latin typeface="Overpass"/>
                <a:ea typeface="Overpass"/>
                <a:cs typeface="Overpass"/>
                <a:sym typeface="Overpass"/>
              </a:rPr>
              <a:t>MUNAWWAR FOUNDATION-"ILLUMINATING HEARTS, TRANSFORMING FUTURES"</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flipV="true">
            <a:off x="736600" y="756000"/>
            <a:ext cx="6067400" cy="14288"/>
          </a:xfrm>
          <a:prstGeom prst="line">
            <a:avLst/>
          </a:prstGeom>
          <a:ln cap="flat" w="28575">
            <a:solidFill>
              <a:srgbClr val="000001"/>
            </a:solidFill>
            <a:prstDash val="solid"/>
            <a:headEnd type="none" len="sm" w="sm"/>
            <a:tailEnd type="none" len="sm" w="sm"/>
          </a:ln>
        </p:spPr>
      </p:sp>
      <p:sp>
        <p:nvSpPr>
          <p:cNvPr name="Freeform 3" id="3"/>
          <p:cNvSpPr/>
          <p:nvPr/>
        </p:nvSpPr>
        <p:spPr>
          <a:xfrm flipH="false" flipV="false" rot="0">
            <a:off x="723266" y="4582418"/>
            <a:ext cx="3056734" cy="2932851"/>
          </a:xfrm>
          <a:custGeom>
            <a:avLst/>
            <a:gdLst/>
            <a:ahLst/>
            <a:cxnLst/>
            <a:rect r="r" b="b" t="t" l="l"/>
            <a:pathLst>
              <a:path h="2932851" w="3056734">
                <a:moveTo>
                  <a:pt x="0" y="0"/>
                </a:moveTo>
                <a:lnTo>
                  <a:pt x="3056734" y="0"/>
                </a:lnTo>
                <a:lnTo>
                  <a:pt x="3056734" y="2932851"/>
                </a:lnTo>
                <a:lnTo>
                  <a:pt x="0" y="2932851"/>
                </a:lnTo>
                <a:lnTo>
                  <a:pt x="0" y="0"/>
                </a:lnTo>
                <a:close/>
              </a:path>
            </a:pathLst>
          </a:custGeom>
          <a:blipFill>
            <a:blip r:embed="rId2"/>
            <a:stretch>
              <a:fillRect l="0" t="0" r="0" b="0"/>
            </a:stretch>
          </a:blipFill>
        </p:spPr>
      </p:sp>
      <p:sp>
        <p:nvSpPr>
          <p:cNvPr name="Freeform 4" id="4"/>
          <p:cNvSpPr/>
          <p:nvPr/>
        </p:nvSpPr>
        <p:spPr>
          <a:xfrm flipH="false" flipV="false" rot="0">
            <a:off x="3945508" y="4420257"/>
            <a:ext cx="3099634" cy="2722548"/>
          </a:xfrm>
          <a:custGeom>
            <a:avLst/>
            <a:gdLst/>
            <a:ahLst/>
            <a:cxnLst/>
            <a:rect r="r" b="b" t="t" l="l"/>
            <a:pathLst>
              <a:path h="2722548" w="3099634">
                <a:moveTo>
                  <a:pt x="0" y="0"/>
                </a:moveTo>
                <a:lnTo>
                  <a:pt x="3099634" y="0"/>
                </a:lnTo>
                <a:lnTo>
                  <a:pt x="3099634" y="2722548"/>
                </a:lnTo>
                <a:lnTo>
                  <a:pt x="0" y="2722548"/>
                </a:lnTo>
                <a:lnTo>
                  <a:pt x="0" y="0"/>
                </a:lnTo>
                <a:close/>
              </a:path>
            </a:pathLst>
          </a:custGeom>
          <a:blipFill>
            <a:blip r:embed="rId3"/>
            <a:stretch>
              <a:fillRect l="-278914" t="-63231" r="0" b="-30896"/>
            </a:stretch>
          </a:blipFill>
        </p:spPr>
      </p:sp>
      <p:sp>
        <p:nvSpPr>
          <p:cNvPr name="Freeform 5" id="5"/>
          <p:cNvSpPr/>
          <p:nvPr/>
        </p:nvSpPr>
        <p:spPr>
          <a:xfrm flipH="false" flipV="false" rot="0">
            <a:off x="960857" y="1626698"/>
            <a:ext cx="5843177" cy="2669970"/>
          </a:xfrm>
          <a:custGeom>
            <a:avLst/>
            <a:gdLst/>
            <a:ahLst/>
            <a:cxnLst/>
            <a:rect r="r" b="b" t="t" l="l"/>
            <a:pathLst>
              <a:path h="2669970" w="5843177">
                <a:moveTo>
                  <a:pt x="0" y="0"/>
                </a:moveTo>
                <a:lnTo>
                  <a:pt x="5843177" y="0"/>
                </a:lnTo>
                <a:lnTo>
                  <a:pt x="5843177" y="2669970"/>
                </a:lnTo>
                <a:lnTo>
                  <a:pt x="0" y="2669970"/>
                </a:lnTo>
                <a:lnTo>
                  <a:pt x="0" y="0"/>
                </a:lnTo>
                <a:close/>
              </a:path>
            </a:pathLst>
          </a:custGeom>
          <a:blipFill>
            <a:blip r:embed="rId4"/>
            <a:stretch>
              <a:fillRect l="-154" t="0" r="-1387" b="0"/>
            </a:stretch>
          </a:blipFill>
        </p:spPr>
      </p:sp>
      <p:sp>
        <p:nvSpPr>
          <p:cNvPr name="TextBox 6" id="6"/>
          <p:cNvSpPr txBox="true"/>
          <p:nvPr/>
        </p:nvSpPr>
        <p:spPr>
          <a:xfrm rot="0">
            <a:off x="723266" y="8018546"/>
            <a:ext cx="3340992" cy="1755062"/>
          </a:xfrm>
          <a:prstGeom prst="rect">
            <a:avLst/>
          </a:prstGeom>
        </p:spPr>
        <p:txBody>
          <a:bodyPr anchor="t" rtlCol="false" tIns="0" lIns="0" bIns="0" rIns="0">
            <a:spAutoFit/>
          </a:bodyPr>
          <a:lstStyle/>
          <a:p>
            <a:pPr algn="just">
              <a:lnSpc>
                <a:spcPts val="1964"/>
              </a:lnSpc>
            </a:pPr>
            <a:r>
              <a:rPr lang="en-US" sz="1403">
                <a:solidFill>
                  <a:srgbClr val="000001"/>
                </a:solidFill>
                <a:latin typeface="Overpass"/>
                <a:ea typeface="Overpass"/>
                <a:cs typeface="Overpass"/>
                <a:sym typeface="Overpass"/>
              </a:rPr>
              <a:t>We believe that digital literacy opens doors to education, employment, and empowerment.</a:t>
            </a:r>
          </a:p>
          <a:p>
            <a:pPr algn="just">
              <a:lnSpc>
                <a:spcPts val="1964"/>
              </a:lnSpc>
            </a:pPr>
            <a:r>
              <a:rPr lang="en-US" sz="1403">
                <a:solidFill>
                  <a:srgbClr val="000001"/>
                </a:solidFill>
                <a:latin typeface="Overpass"/>
                <a:ea typeface="Overpass"/>
                <a:cs typeface="Overpass"/>
                <a:sym typeface="Overpass"/>
              </a:rPr>
              <a:t>Through this initiative, we are shaping a future where knowledge and opportunity go hand in hand.</a:t>
            </a:r>
          </a:p>
          <a:p>
            <a:pPr algn="just">
              <a:lnSpc>
                <a:spcPts val="1964"/>
              </a:lnSpc>
            </a:pPr>
          </a:p>
        </p:txBody>
      </p:sp>
      <p:sp>
        <p:nvSpPr>
          <p:cNvPr name="TextBox 7" id="7"/>
          <p:cNvSpPr txBox="true"/>
          <p:nvPr/>
        </p:nvSpPr>
        <p:spPr>
          <a:xfrm rot="0">
            <a:off x="762401" y="1026066"/>
            <a:ext cx="2114550" cy="210107"/>
          </a:xfrm>
          <a:prstGeom prst="rect">
            <a:avLst/>
          </a:prstGeom>
        </p:spPr>
        <p:txBody>
          <a:bodyPr anchor="t" rtlCol="false" tIns="0" lIns="0" bIns="0" rIns="0">
            <a:spAutoFit/>
          </a:bodyPr>
          <a:lstStyle/>
          <a:p>
            <a:pPr algn="l">
              <a:lnSpc>
                <a:spcPts val="1544"/>
              </a:lnSpc>
            </a:pPr>
            <a:r>
              <a:rPr lang="en-US" sz="1103">
                <a:solidFill>
                  <a:srgbClr val="000001"/>
                </a:solidFill>
                <a:latin typeface="Overpass"/>
                <a:ea typeface="Overpass"/>
                <a:cs typeface="Overpass"/>
                <a:sym typeface="Overpass"/>
              </a:rPr>
              <a:t>ANNUAL REPORT</a:t>
            </a:r>
          </a:p>
        </p:txBody>
      </p:sp>
      <p:sp>
        <p:nvSpPr>
          <p:cNvPr name="TextBox 8" id="8"/>
          <p:cNvSpPr txBox="true"/>
          <p:nvPr/>
        </p:nvSpPr>
        <p:spPr>
          <a:xfrm rot="0">
            <a:off x="4671131" y="1026066"/>
            <a:ext cx="2114550" cy="210107"/>
          </a:xfrm>
          <a:prstGeom prst="rect">
            <a:avLst/>
          </a:prstGeom>
        </p:spPr>
        <p:txBody>
          <a:bodyPr anchor="t" rtlCol="false" tIns="0" lIns="0" bIns="0" rIns="0">
            <a:spAutoFit/>
          </a:bodyPr>
          <a:lstStyle/>
          <a:p>
            <a:pPr algn="r">
              <a:lnSpc>
                <a:spcPts val="1544"/>
              </a:lnSpc>
            </a:pPr>
            <a:r>
              <a:rPr lang="en-US" sz="1103">
                <a:solidFill>
                  <a:srgbClr val="000001"/>
                </a:solidFill>
                <a:latin typeface="Overpass"/>
                <a:ea typeface="Overpass"/>
                <a:cs typeface="Overpass"/>
                <a:sym typeface="Overpass"/>
              </a:rPr>
              <a:t>YEAR 2024-25</a:t>
            </a:r>
          </a:p>
        </p:txBody>
      </p:sp>
      <p:sp>
        <p:nvSpPr>
          <p:cNvPr name="TextBox 9" id="9"/>
          <p:cNvSpPr txBox="true"/>
          <p:nvPr/>
        </p:nvSpPr>
        <p:spPr>
          <a:xfrm rot="0">
            <a:off x="775628" y="471373"/>
            <a:ext cx="5564305" cy="210107"/>
          </a:xfrm>
          <a:prstGeom prst="rect">
            <a:avLst/>
          </a:prstGeom>
        </p:spPr>
        <p:txBody>
          <a:bodyPr anchor="t" rtlCol="false" tIns="0" lIns="0" bIns="0" rIns="0">
            <a:spAutoFit/>
          </a:bodyPr>
          <a:lstStyle/>
          <a:p>
            <a:pPr algn="l">
              <a:lnSpc>
                <a:spcPts val="1544"/>
              </a:lnSpc>
            </a:pPr>
            <a:r>
              <a:rPr lang="en-US" sz="1103">
                <a:solidFill>
                  <a:srgbClr val="000001"/>
                </a:solidFill>
                <a:latin typeface="Overpass"/>
                <a:ea typeface="Overpass"/>
                <a:cs typeface="Overpass"/>
                <a:sym typeface="Overpass"/>
              </a:rPr>
              <a:t>MUNAWWAR FOUNDATION-"ILLUMINATING HEARTS, TRANSFORMING FUTURES"</a:t>
            </a:r>
          </a:p>
        </p:txBody>
      </p:sp>
      <p:sp>
        <p:nvSpPr>
          <p:cNvPr name="Freeform 10" id="10"/>
          <p:cNvSpPr/>
          <p:nvPr/>
        </p:nvSpPr>
        <p:spPr>
          <a:xfrm flipH="false" flipV="false" rot="0">
            <a:off x="6688312" y="9847696"/>
            <a:ext cx="584339" cy="490452"/>
          </a:xfrm>
          <a:custGeom>
            <a:avLst/>
            <a:gdLst/>
            <a:ahLst/>
            <a:cxnLst/>
            <a:rect r="r" b="b" t="t" l="l"/>
            <a:pathLst>
              <a:path h="490452" w="584339">
                <a:moveTo>
                  <a:pt x="0" y="0"/>
                </a:moveTo>
                <a:lnTo>
                  <a:pt x="584340" y="0"/>
                </a:lnTo>
                <a:lnTo>
                  <a:pt x="584340" y="490452"/>
                </a:lnTo>
                <a:lnTo>
                  <a:pt x="0" y="490452"/>
                </a:lnTo>
                <a:lnTo>
                  <a:pt x="0" y="0"/>
                </a:lnTo>
                <a:close/>
              </a:path>
            </a:pathLst>
          </a:custGeom>
          <a:blipFill>
            <a:blip r:embed="rId5"/>
            <a:stretch>
              <a:fillRect l="-6287" t="-6658" r="-8382" b="-29963"/>
            </a:stretch>
          </a:blipFill>
        </p:spPr>
      </p:sp>
      <p:sp>
        <p:nvSpPr>
          <p:cNvPr name="TextBox 11" id="11"/>
          <p:cNvSpPr txBox="true"/>
          <p:nvPr/>
        </p:nvSpPr>
        <p:spPr>
          <a:xfrm rot="0">
            <a:off x="4246097" y="8332029"/>
            <a:ext cx="2799045" cy="764462"/>
          </a:xfrm>
          <a:prstGeom prst="rect">
            <a:avLst/>
          </a:prstGeom>
        </p:spPr>
        <p:txBody>
          <a:bodyPr anchor="t" rtlCol="false" tIns="0" lIns="0" bIns="0" rIns="0">
            <a:spAutoFit/>
          </a:bodyPr>
          <a:lstStyle/>
          <a:p>
            <a:pPr algn="just">
              <a:lnSpc>
                <a:spcPts val="1964"/>
              </a:lnSpc>
            </a:pPr>
            <a:r>
              <a:rPr lang="en-US" sz="1403">
                <a:solidFill>
                  <a:srgbClr val="000001"/>
                </a:solidFill>
                <a:latin typeface="Overpass"/>
                <a:ea typeface="Overpass"/>
                <a:cs typeface="Overpass"/>
                <a:sym typeface="Overpass"/>
              </a:rPr>
              <a:t>Every keystroke is a step toward </a:t>
            </a:r>
          </a:p>
          <a:p>
            <a:pPr algn="just">
              <a:lnSpc>
                <a:spcPts val="1964"/>
              </a:lnSpc>
            </a:pPr>
            <a:r>
              <a:rPr lang="en-US" sz="1403">
                <a:solidFill>
                  <a:srgbClr val="000001"/>
                </a:solidFill>
                <a:latin typeface="Overpass"/>
                <a:ea typeface="Overpass"/>
                <a:cs typeface="Overpass"/>
                <a:sym typeface="Overpass"/>
              </a:rPr>
              <a:t>progress, dignity, and independence.</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399FAD"/>
        </a:solidFill>
      </p:bgPr>
    </p:bg>
    <p:spTree>
      <p:nvGrpSpPr>
        <p:cNvPr id="1" name=""/>
        <p:cNvGrpSpPr/>
        <p:nvPr/>
      </p:nvGrpSpPr>
      <p:grpSpPr>
        <a:xfrm>
          <a:off x="0" y="0"/>
          <a:ext cx="0" cy="0"/>
          <a:chOff x="0" y="0"/>
          <a:chExt cx="0" cy="0"/>
        </a:xfrm>
      </p:grpSpPr>
      <p:grpSp>
        <p:nvGrpSpPr>
          <p:cNvPr name="Group 2" id="2"/>
          <p:cNvGrpSpPr/>
          <p:nvPr/>
        </p:nvGrpSpPr>
        <p:grpSpPr>
          <a:xfrm rot="0">
            <a:off x="-276458" y="5604086"/>
            <a:ext cx="8121505" cy="5376300"/>
            <a:chOff x="0" y="0"/>
            <a:chExt cx="2910564" cy="1926745"/>
          </a:xfrm>
        </p:grpSpPr>
        <p:sp>
          <p:nvSpPr>
            <p:cNvPr name="Freeform 3" id="3"/>
            <p:cNvSpPr/>
            <p:nvPr/>
          </p:nvSpPr>
          <p:spPr>
            <a:xfrm flipH="false" flipV="false" rot="0">
              <a:off x="0" y="0"/>
              <a:ext cx="2910564" cy="1926745"/>
            </a:xfrm>
            <a:custGeom>
              <a:avLst/>
              <a:gdLst/>
              <a:ahLst/>
              <a:cxnLst/>
              <a:rect r="r" b="b" t="t" l="l"/>
              <a:pathLst>
                <a:path h="1926745" w="2910564">
                  <a:moveTo>
                    <a:pt x="0" y="0"/>
                  </a:moveTo>
                  <a:lnTo>
                    <a:pt x="2910564" y="0"/>
                  </a:lnTo>
                  <a:lnTo>
                    <a:pt x="2910564" y="1926745"/>
                  </a:lnTo>
                  <a:lnTo>
                    <a:pt x="0" y="1926745"/>
                  </a:lnTo>
                  <a:close/>
                </a:path>
              </a:pathLst>
            </a:custGeom>
            <a:solidFill>
              <a:srgbClr val="FFFFFF"/>
            </a:solidFill>
          </p:spPr>
        </p:sp>
        <p:sp>
          <p:nvSpPr>
            <p:cNvPr name="TextBox 4" id="4"/>
            <p:cNvSpPr txBox="true"/>
            <p:nvPr/>
          </p:nvSpPr>
          <p:spPr>
            <a:xfrm>
              <a:off x="0" y="-47625"/>
              <a:ext cx="2910564" cy="1974370"/>
            </a:xfrm>
            <a:prstGeom prst="rect">
              <a:avLst/>
            </a:prstGeom>
          </p:spPr>
          <p:txBody>
            <a:bodyPr anchor="ctr" rtlCol="false" tIns="50800" lIns="50800" bIns="50800" rIns="50800"/>
            <a:lstStyle/>
            <a:p>
              <a:pPr algn="ctr">
                <a:lnSpc>
                  <a:spcPts val="1544"/>
                </a:lnSpc>
              </a:pPr>
            </a:p>
          </p:txBody>
        </p:sp>
      </p:grpSp>
      <p:sp>
        <p:nvSpPr>
          <p:cNvPr name="AutoShape 5" id="5"/>
          <p:cNvSpPr/>
          <p:nvPr/>
        </p:nvSpPr>
        <p:spPr>
          <a:xfrm>
            <a:off x="762401" y="756000"/>
            <a:ext cx="6023281" cy="0"/>
          </a:xfrm>
          <a:prstGeom prst="line">
            <a:avLst/>
          </a:prstGeom>
          <a:ln cap="flat" w="28575">
            <a:solidFill>
              <a:srgbClr val="FFFFFF"/>
            </a:solidFill>
            <a:prstDash val="solid"/>
            <a:headEnd type="none" len="sm" w="sm"/>
            <a:tailEnd type="none" len="sm" w="sm"/>
          </a:ln>
        </p:spPr>
      </p:sp>
      <p:sp>
        <p:nvSpPr>
          <p:cNvPr name="Freeform 6" id="6"/>
          <p:cNvSpPr/>
          <p:nvPr/>
        </p:nvSpPr>
        <p:spPr>
          <a:xfrm flipH="false" flipV="false" rot="0">
            <a:off x="810431" y="2032059"/>
            <a:ext cx="6749569" cy="3934165"/>
          </a:xfrm>
          <a:custGeom>
            <a:avLst/>
            <a:gdLst/>
            <a:ahLst/>
            <a:cxnLst/>
            <a:rect r="r" b="b" t="t" l="l"/>
            <a:pathLst>
              <a:path h="3934165" w="6749569">
                <a:moveTo>
                  <a:pt x="0" y="0"/>
                </a:moveTo>
                <a:lnTo>
                  <a:pt x="6749569" y="0"/>
                </a:lnTo>
                <a:lnTo>
                  <a:pt x="6749569" y="3934166"/>
                </a:lnTo>
                <a:lnTo>
                  <a:pt x="0" y="3934166"/>
                </a:lnTo>
                <a:lnTo>
                  <a:pt x="0" y="0"/>
                </a:lnTo>
                <a:close/>
              </a:path>
            </a:pathLst>
          </a:custGeom>
          <a:blipFill>
            <a:blip r:embed="rId2"/>
            <a:stretch>
              <a:fillRect l="-4211" t="-20147" r="-8468" b="0"/>
            </a:stretch>
          </a:blipFill>
        </p:spPr>
      </p:sp>
      <p:grpSp>
        <p:nvGrpSpPr>
          <p:cNvPr name="Group 7" id="7"/>
          <p:cNvGrpSpPr/>
          <p:nvPr/>
        </p:nvGrpSpPr>
        <p:grpSpPr>
          <a:xfrm rot="0">
            <a:off x="762401" y="7316803"/>
            <a:ext cx="6041599" cy="2688512"/>
            <a:chOff x="0" y="0"/>
            <a:chExt cx="8055466" cy="3584683"/>
          </a:xfrm>
        </p:grpSpPr>
        <p:sp>
          <p:nvSpPr>
            <p:cNvPr name="TextBox 8" id="8"/>
            <p:cNvSpPr txBox="true"/>
            <p:nvPr/>
          </p:nvSpPr>
          <p:spPr>
            <a:xfrm rot="0">
              <a:off x="4143466" y="-57150"/>
              <a:ext cx="3912000" cy="3641833"/>
            </a:xfrm>
            <a:prstGeom prst="rect">
              <a:avLst/>
            </a:prstGeom>
          </p:spPr>
          <p:txBody>
            <a:bodyPr anchor="t" rtlCol="false" tIns="0" lIns="0" bIns="0" rIns="0">
              <a:spAutoFit/>
            </a:bodyPr>
            <a:lstStyle/>
            <a:p>
              <a:pPr algn="just">
                <a:lnSpc>
                  <a:spcPts val="1964"/>
                </a:lnSpc>
              </a:pPr>
              <a:r>
                <a:rPr lang="en-US" sz="1403">
                  <a:solidFill>
                    <a:srgbClr val="000001"/>
                  </a:solidFill>
                  <a:latin typeface="Overpass"/>
                  <a:ea typeface="Overpass"/>
                  <a:cs typeface="Overpass"/>
                  <a:sym typeface="Overpass"/>
                </a:rPr>
                <a:t>Through this initiative, trainees learn diagnosis, troubleshooting, component replacement, and software repair techniques. Our expert trainers ensure that every participant gains real-world knowledge and confidence to start their own career. The goal is to empower individuals to become self-reliant entrepreneurs and contribute to their family’s income.</a:t>
              </a:r>
            </a:p>
          </p:txBody>
        </p:sp>
        <p:sp>
          <p:nvSpPr>
            <p:cNvPr name="TextBox 9" id="9"/>
            <p:cNvSpPr txBox="true"/>
            <p:nvPr/>
          </p:nvSpPr>
          <p:spPr>
            <a:xfrm rot="0">
              <a:off x="0" y="-57150"/>
              <a:ext cx="3903466" cy="3641833"/>
            </a:xfrm>
            <a:prstGeom prst="rect">
              <a:avLst/>
            </a:prstGeom>
          </p:spPr>
          <p:txBody>
            <a:bodyPr anchor="t" rtlCol="false" tIns="0" lIns="0" bIns="0" rIns="0">
              <a:spAutoFit/>
            </a:bodyPr>
            <a:lstStyle/>
            <a:p>
              <a:pPr algn="just">
                <a:lnSpc>
                  <a:spcPts val="1964"/>
                </a:lnSpc>
              </a:pPr>
              <a:r>
                <a:rPr lang="en-US" sz="1403">
                  <a:solidFill>
                    <a:srgbClr val="000001"/>
                  </a:solidFill>
                  <a:latin typeface="Overpass"/>
                  <a:ea typeface="Overpass"/>
                  <a:cs typeface="Overpass"/>
                  <a:sym typeface="Overpass"/>
                </a:rPr>
                <a:t>MUNAWWAR FOUNDATION</a:t>
              </a:r>
            </a:p>
            <a:p>
              <a:pPr algn="just">
                <a:lnSpc>
                  <a:spcPts val="1964"/>
                </a:lnSpc>
              </a:pPr>
              <a:r>
                <a:rPr lang="en-US" sz="1403">
                  <a:solidFill>
                    <a:srgbClr val="000001"/>
                  </a:solidFill>
                  <a:latin typeface="Overpass"/>
                  <a:ea typeface="Overpass"/>
                  <a:cs typeface="Overpass"/>
                  <a:sym typeface="Overpass"/>
                </a:rPr>
                <a:t>introduces the Cell Phone Repair Training Program under its skill development initiatives.</a:t>
              </a:r>
            </a:p>
            <a:p>
              <a:pPr algn="just">
                <a:lnSpc>
                  <a:spcPts val="1964"/>
                </a:lnSpc>
              </a:pPr>
              <a:r>
                <a:rPr lang="en-US" sz="1403">
                  <a:solidFill>
                    <a:srgbClr val="000001"/>
                  </a:solidFill>
                  <a:latin typeface="Overpass"/>
                  <a:ea typeface="Overpass"/>
                  <a:cs typeface="Overpass"/>
                  <a:sym typeface="Overpass"/>
                </a:rPr>
                <a:t>This program is designed to equip unemployed youth and aspiring technicians with practic</a:t>
              </a:r>
              <a:r>
                <a:rPr lang="en-US" sz="1403">
                  <a:solidFill>
                    <a:srgbClr val="000001"/>
                  </a:solidFill>
                  <a:latin typeface="Overpass"/>
                  <a:ea typeface="Overpass"/>
                  <a:cs typeface="Overpass"/>
                  <a:sym typeface="Overpass"/>
                </a:rPr>
                <a:t>al, hands-on training in mobile repair. In today’s digital age, mobile technology is essential — and skilled repair professionals are always in demand.</a:t>
              </a:r>
            </a:p>
          </p:txBody>
        </p:sp>
      </p:grpSp>
      <p:sp>
        <p:nvSpPr>
          <p:cNvPr name="TextBox 10" id="10"/>
          <p:cNvSpPr txBox="true"/>
          <p:nvPr/>
        </p:nvSpPr>
        <p:spPr>
          <a:xfrm rot="0">
            <a:off x="762401" y="1026066"/>
            <a:ext cx="2114550" cy="210107"/>
          </a:xfrm>
          <a:prstGeom prst="rect">
            <a:avLst/>
          </a:prstGeom>
        </p:spPr>
        <p:txBody>
          <a:bodyPr anchor="t" rtlCol="false" tIns="0" lIns="0" bIns="0" rIns="0">
            <a:spAutoFit/>
          </a:bodyPr>
          <a:lstStyle/>
          <a:p>
            <a:pPr algn="l">
              <a:lnSpc>
                <a:spcPts val="1544"/>
              </a:lnSpc>
            </a:pPr>
            <a:r>
              <a:rPr lang="en-US" sz="1103">
                <a:solidFill>
                  <a:srgbClr val="FFFFFF"/>
                </a:solidFill>
                <a:latin typeface="Overpass"/>
                <a:ea typeface="Overpass"/>
                <a:cs typeface="Overpass"/>
                <a:sym typeface="Overpass"/>
              </a:rPr>
              <a:t>ANNUAL REPORT</a:t>
            </a:r>
          </a:p>
        </p:txBody>
      </p:sp>
      <p:sp>
        <p:nvSpPr>
          <p:cNvPr name="TextBox 11" id="11"/>
          <p:cNvSpPr txBox="true"/>
          <p:nvPr/>
        </p:nvSpPr>
        <p:spPr>
          <a:xfrm rot="0">
            <a:off x="4671131" y="1026066"/>
            <a:ext cx="2114550" cy="210107"/>
          </a:xfrm>
          <a:prstGeom prst="rect">
            <a:avLst/>
          </a:prstGeom>
        </p:spPr>
        <p:txBody>
          <a:bodyPr anchor="t" rtlCol="false" tIns="0" lIns="0" bIns="0" rIns="0">
            <a:spAutoFit/>
          </a:bodyPr>
          <a:lstStyle/>
          <a:p>
            <a:pPr algn="r">
              <a:lnSpc>
                <a:spcPts val="1544"/>
              </a:lnSpc>
            </a:pPr>
            <a:r>
              <a:rPr lang="en-US" sz="1103">
                <a:solidFill>
                  <a:srgbClr val="FFFFFF"/>
                </a:solidFill>
                <a:latin typeface="Overpass"/>
                <a:ea typeface="Overpass"/>
                <a:cs typeface="Overpass"/>
                <a:sym typeface="Overpass"/>
              </a:rPr>
              <a:t>YEAR 2024-25</a:t>
            </a:r>
          </a:p>
        </p:txBody>
      </p:sp>
      <p:sp>
        <p:nvSpPr>
          <p:cNvPr name="TextBox 12" id="12"/>
          <p:cNvSpPr txBox="true"/>
          <p:nvPr/>
        </p:nvSpPr>
        <p:spPr>
          <a:xfrm rot="0">
            <a:off x="775628" y="471373"/>
            <a:ext cx="5564305" cy="210107"/>
          </a:xfrm>
          <a:prstGeom prst="rect">
            <a:avLst/>
          </a:prstGeom>
        </p:spPr>
        <p:txBody>
          <a:bodyPr anchor="t" rtlCol="false" tIns="0" lIns="0" bIns="0" rIns="0">
            <a:spAutoFit/>
          </a:bodyPr>
          <a:lstStyle/>
          <a:p>
            <a:pPr algn="l">
              <a:lnSpc>
                <a:spcPts val="1544"/>
              </a:lnSpc>
            </a:pPr>
            <a:r>
              <a:rPr lang="en-US" sz="1103">
                <a:solidFill>
                  <a:srgbClr val="FFFFFF"/>
                </a:solidFill>
                <a:latin typeface="Overpass"/>
                <a:ea typeface="Overpass"/>
                <a:cs typeface="Overpass"/>
                <a:sym typeface="Overpass"/>
              </a:rPr>
              <a:t>MUNAWWAR FOUNDATION-"ILLUMINATING HEARTS, TRANSFORMING FUTURES"</a:t>
            </a:r>
          </a:p>
        </p:txBody>
      </p:sp>
      <p:sp>
        <p:nvSpPr>
          <p:cNvPr name="TextBox 13" id="13"/>
          <p:cNvSpPr txBox="true"/>
          <p:nvPr/>
        </p:nvSpPr>
        <p:spPr>
          <a:xfrm rot="0">
            <a:off x="561726" y="6221658"/>
            <a:ext cx="6223955" cy="936625"/>
          </a:xfrm>
          <a:prstGeom prst="rect">
            <a:avLst/>
          </a:prstGeom>
        </p:spPr>
        <p:txBody>
          <a:bodyPr anchor="t" rtlCol="false" tIns="0" lIns="0" bIns="0" rIns="0">
            <a:spAutoFit/>
          </a:bodyPr>
          <a:lstStyle/>
          <a:p>
            <a:pPr algn="l">
              <a:lnSpc>
                <a:spcPts val="3960"/>
              </a:lnSpc>
            </a:pPr>
            <a:r>
              <a:rPr lang="en-US" sz="3600" b="true">
                <a:solidFill>
                  <a:srgbClr val="399FAD"/>
                </a:solidFill>
                <a:latin typeface="Cloud Condensed Bold"/>
                <a:ea typeface="Cloud Condensed Bold"/>
                <a:cs typeface="Cloud Condensed Bold"/>
                <a:sym typeface="Cloud Condensed Bold"/>
              </a:rPr>
              <a:t>CELL PHONE REPAIR TRAINING</a:t>
            </a:r>
          </a:p>
          <a:p>
            <a:pPr algn="l" marL="0" indent="0" lvl="0">
              <a:lnSpc>
                <a:spcPts val="3190"/>
              </a:lnSpc>
              <a:spcBef>
                <a:spcPct val="0"/>
              </a:spcBef>
            </a:pPr>
            <a:r>
              <a:rPr lang="en-US" b="true" sz="2900">
                <a:solidFill>
                  <a:srgbClr val="399FAD"/>
                </a:solidFill>
                <a:latin typeface="Cloud Condensed Bold"/>
                <a:ea typeface="Cloud Condensed Bold"/>
                <a:cs typeface="Cloud Condensed Bold"/>
                <a:sym typeface="Cloud Condensed Bold"/>
              </a:rPr>
              <a:t>-HARNESS SKILLS TO SHAPE YOUR DESTINY</a:t>
            </a:r>
          </a:p>
        </p:txBody>
      </p:sp>
      <p:sp>
        <p:nvSpPr>
          <p:cNvPr name="Freeform 14" id="14"/>
          <p:cNvSpPr/>
          <p:nvPr/>
        </p:nvSpPr>
        <p:spPr>
          <a:xfrm flipH="false" flipV="false" rot="0">
            <a:off x="6688312" y="9847696"/>
            <a:ext cx="584339" cy="490452"/>
          </a:xfrm>
          <a:custGeom>
            <a:avLst/>
            <a:gdLst/>
            <a:ahLst/>
            <a:cxnLst/>
            <a:rect r="r" b="b" t="t" l="l"/>
            <a:pathLst>
              <a:path h="490452" w="584339">
                <a:moveTo>
                  <a:pt x="0" y="0"/>
                </a:moveTo>
                <a:lnTo>
                  <a:pt x="584340" y="0"/>
                </a:lnTo>
                <a:lnTo>
                  <a:pt x="584340" y="490452"/>
                </a:lnTo>
                <a:lnTo>
                  <a:pt x="0" y="490452"/>
                </a:lnTo>
                <a:lnTo>
                  <a:pt x="0" y="0"/>
                </a:lnTo>
                <a:close/>
              </a:path>
            </a:pathLst>
          </a:custGeom>
          <a:blipFill>
            <a:blip r:embed="rId3"/>
            <a:stretch>
              <a:fillRect l="-6287" t="-6658" r="-8382" b="-29963"/>
            </a:stretch>
          </a:blipFill>
        </p:spPr>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399FAD"/>
        </a:solidFill>
      </p:bgPr>
    </p:bg>
    <p:spTree>
      <p:nvGrpSpPr>
        <p:cNvPr id="1" name=""/>
        <p:cNvGrpSpPr/>
        <p:nvPr/>
      </p:nvGrpSpPr>
      <p:grpSpPr>
        <a:xfrm>
          <a:off x="0" y="0"/>
          <a:ext cx="0" cy="0"/>
          <a:chOff x="0" y="0"/>
          <a:chExt cx="0" cy="0"/>
        </a:xfrm>
      </p:grpSpPr>
      <p:grpSp>
        <p:nvGrpSpPr>
          <p:cNvPr name="Group 2" id="2"/>
          <p:cNvGrpSpPr/>
          <p:nvPr/>
        </p:nvGrpSpPr>
        <p:grpSpPr>
          <a:xfrm rot="0">
            <a:off x="-276458" y="5604086"/>
            <a:ext cx="8121505" cy="5376300"/>
            <a:chOff x="0" y="0"/>
            <a:chExt cx="2910564" cy="1926745"/>
          </a:xfrm>
        </p:grpSpPr>
        <p:sp>
          <p:nvSpPr>
            <p:cNvPr name="Freeform 3" id="3"/>
            <p:cNvSpPr/>
            <p:nvPr/>
          </p:nvSpPr>
          <p:spPr>
            <a:xfrm flipH="false" flipV="false" rot="0">
              <a:off x="0" y="0"/>
              <a:ext cx="2910564" cy="1926745"/>
            </a:xfrm>
            <a:custGeom>
              <a:avLst/>
              <a:gdLst/>
              <a:ahLst/>
              <a:cxnLst/>
              <a:rect r="r" b="b" t="t" l="l"/>
              <a:pathLst>
                <a:path h="1926745" w="2910564">
                  <a:moveTo>
                    <a:pt x="0" y="0"/>
                  </a:moveTo>
                  <a:lnTo>
                    <a:pt x="2910564" y="0"/>
                  </a:lnTo>
                  <a:lnTo>
                    <a:pt x="2910564" y="1926745"/>
                  </a:lnTo>
                  <a:lnTo>
                    <a:pt x="0" y="1926745"/>
                  </a:lnTo>
                  <a:close/>
                </a:path>
              </a:pathLst>
            </a:custGeom>
            <a:solidFill>
              <a:srgbClr val="FFFFFF"/>
            </a:solidFill>
          </p:spPr>
        </p:sp>
        <p:sp>
          <p:nvSpPr>
            <p:cNvPr name="TextBox 4" id="4"/>
            <p:cNvSpPr txBox="true"/>
            <p:nvPr/>
          </p:nvSpPr>
          <p:spPr>
            <a:xfrm>
              <a:off x="0" y="-47625"/>
              <a:ext cx="2910564" cy="1974370"/>
            </a:xfrm>
            <a:prstGeom prst="rect">
              <a:avLst/>
            </a:prstGeom>
          </p:spPr>
          <p:txBody>
            <a:bodyPr anchor="ctr" rtlCol="false" tIns="50800" lIns="50800" bIns="50800" rIns="50800"/>
            <a:lstStyle/>
            <a:p>
              <a:pPr algn="ctr">
                <a:lnSpc>
                  <a:spcPts val="1544"/>
                </a:lnSpc>
              </a:pPr>
            </a:p>
          </p:txBody>
        </p:sp>
      </p:grpSp>
      <p:sp>
        <p:nvSpPr>
          <p:cNvPr name="AutoShape 5" id="5"/>
          <p:cNvSpPr/>
          <p:nvPr/>
        </p:nvSpPr>
        <p:spPr>
          <a:xfrm>
            <a:off x="762401" y="756000"/>
            <a:ext cx="6023281" cy="0"/>
          </a:xfrm>
          <a:prstGeom prst="line">
            <a:avLst/>
          </a:prstGeom>
          <a:ln cap="flat" w="28575">
            <a:solidFill>
              <a:srgbClr val="FFFFFF"/>
            </a:solidFill>
            <a:prstDash val="solid"/>
            <a:headEnd type="none" len="sm" w="sm"/>
            <a:tailEnd type="none" len="sm" w="sm"/>
          </a:ln>
        </p:spPr>
      </p:sp>
      <p:sp>
        <p:nvSpPr>
          <p:cNvPr name="TextBox 6" id="6"/>
          <p:cNvSpPr txBox="true"/>
          <p:nvPr/>
        </p:nvSpPr>
        <p:spPr>
          <a:xfrm rot="0">
            <a:off x="3870000" y="6767005"/>
            <a:ext cx="2934000" cy="2250362"/>
          </a:xfrm>
          <a:prstGeom prst="rect">
            <a:avLst/>
          </a:prstGeom>
        </p:spPr>
        <p:txBody>
          <a:bodyPr anchor="t" rtlCol="false" tIns="0" lIns="0" bIns="0" rIns="0">
            <a:spAutoFit/>
          </a:bodyPr>
          <a:lstStyle/>
          <a:p>
            <a:pPr algn="just">
              <a:lnSpc>
                <a:spcPts val="1964"/>
              </a:lnSpc>
            </a:pPr>
            <a:r>
              <a:rPr lang="en-US" sz="1403">
                <a:solidFill>
                  <a:srgbClr val="000001"/>
                </a:solidFill>
                <a:latin typeface="Overpass"/>
                <a:ea typeface="Overpass"/>
                <a:cs typeface="Overpass"/>
                <a:sym typeface="Overpass"/>
              </a:rPr>
              <a:t>This program reflects MUNAWWAR FOUNDATION’s commitment to skill-based education and sustainable growth. Every trained youth is a step toward building a stronger, self-sufficient society. </a:t>
            </a:r>
          </a:p>
          <a:p>
            <a:pPr algn="just">
              <a:lnSpc>
                <a:spcPts val="1964"/>
              </a:lnSpc>
            </a:pPr>
            <a:r>
              <a:rPr lang="en-US" sz="1403">
                <a:solidFill>
                  <a:srgbClr val="000001"/>
                </a:solidFill>
                <a:latin typeface="Overpass"/>
                <a:ea typeface="Overpass"/>
                <a:cs typeface="Overpass"/>
                <a:sym typeface="Overpass"/>
              </a:rPr>
              <a:t>With the right skills, determination, and guidance — anyone can shape their own destiny.</a:t>
            </a:r>
          </a:p>
        </p:txBody>
      </p:sp>
      <p:sp>
        <p:nvSpPr>
          <p:cNvPr name="Freeform 7" id="7"/>
          <p:cNvSpPr/>
          <p:nvPr/>
        </p:nvSpPr>
        <p:spPr>
          <a:xfrm flipH="false" flipV="false" rot="0">
            <a:off x="6688312" y="9847696"/>
            <a:ext cx="584339" cy="490452"/>
          </a:xfrm>
          <a:custGeom>
            <a:avLst/>
            <a:gdLst/>
            <a:ahLst/>
            <a:cxnLst/>
            <a:rect r="r" b="b" t="t" l="l"/>
            <a:pathLst>
              <a:path h="490452" w="584339">
                <a:moveTo>
                  <a:pt x="0" y="0"/>
                </a:moveTo>
                <a:lnTo>
                  <a:pt x="584340" y="0"/>
                </a:lnTo>
                <a:lnTo>
                  <a:pt x="584340" y="490452"/>
                </a:lnTo>
                <a:lnTo>
                  <a:pt x="0" y="490452"/>
                </a:lnTo>
                <a:lnTo>
                  <a:pt x="0" y="0"/>
                </a:lnTo>
                <a:close/>
              </a:path>
            </a:pathLst>
          </a:custGeom>
          <a:blipFill>
            <a:blip r:embed="rId2"/>
            <a:stretch>
              <a:fillRect l="-6287" t="-6658" r="-8382" b="-29963"/>
            </a:stretch>
          </a:blipFill>
        </p:spPr>
      </p:sp>
      <p:sp>
        <p:nvSpPr>
          <p:cNvPr name="Freeform 8" id="8"/>
          <p:cNvSpPr/>
          <p:nvPr/>
        </p:nvSpPr>
        <p:spPr>
          <a:xfrm flipH="false" flipV="false" rot="0">
            <a:off x="973482" y="2056718"/>
            <a:ext cx="6697887" cy="3946892"/>
          </a:xfrm>
          <a:custGeom>
            <a:avLst/>
            <a:gdLst/>
            <a:ahLst/>
            <a:cxnLst/>
            <a:rect r="r" b="b" t="t" l="l"/>
            <a:pathLst>
              <a:path h="3946892" w="6697887">
                <a:moveTo>
                  <a:pt x="0" y="0"/>
                </a:moveTo>
                <a:lnTo>
                  <a:pt x="6697887" y="0"/>
                </a:lnTo>
                <a:lnTo>
                  <a:pt x="6697887" y="3946892"/>
                </a:lnTo>
                <a:lnTo>
                  <a:pt x="0" y="3946892"/>
                </a:lnTo>
                <a:lnTo>
                  <a:pt x="0" y="0"/>
                </a:lnTo>
                <a:close/>
              </a:path>
            </a:pathLst>
          </a:custGeom>
          <a:blipFill>
            <a:blip r:embed="rId3"/>
            <a:stretch>
              <a:fillRect l="-19364" t="-14884" r="-10404" b="-7134"/>
            </a:stretch>
          </a:blipFill>
        </p:spPr>
      </p:sp>
      <p:sp>
        <p:nvSpPr>
          <p:cNvPr name="Freeform 9" id="9"/>
          <p:cNvSpPr/>
          <p:nvPr/>
        </p:nvSpPr>
        <p:spPr>
          <a:xfrm flipH="false" flipV="false" rot="0">
            <a:off x="374797" y="6322908"/>
            <a:ext cx="3318118" cy="1969328"/>
          </a:xfrm>
          <a:custGeom>
            <a:avLst/>
            <a:gdLst/>
            <a:ahLst/>
            <a:cxnLst/>
            <a:rect r="r" b="b" t="t" l="l"/>
            <a:pathLst>
              <a:path h="1969328" w="3318118">
                <a:moveTo>
                  <a:pt x="0" y="0"/>
                </a:moveTo>
                <a:lnTo>
                  <a:pt x="3318119" y="0"/>
                </a:lnTo>
                <a:lnTo>
                  <a:pt x="3318119" y="1969328"/>
                </a:lnTo>
                <a:lnTo>
                  <a:pt x="0" y="1969328"/>
                </a:lnTo>
                <a:lnTo>
                  <a:pt x="0" y="0"/>
                </a:lnTo>
                <a:close/>
              </a:path>
            </a:pathLst>
          </a:custGeom>
          <a:blipFill>
            <a:blip r:embed="rId4"/>
            <a:stretch>
              <a:fillRect l="-2736" t="0" r="-2736" b="0"/>
            </a:stretch>
          </a:blipFill>
        </p:spPr>
      </p:sp>
      <p:sp>
        <p:nvSpPr>
          <p:cNvPr name="TextBox 10" id="10"/>
          <p:cNvSpPr txBox="true"/>
          <p:nvPr/>
        </p:nvSpPr>
        <p:spPr>
          <a:xfrm rot="0">
            <a:off x="762401" y="1026066"/>
            <a:ext cx="2114550" cy="210107"/>
          </a:xfrm>
          <a:prstGeom prst="rect">
            <a:avLst/>
          </a:prstGeom>
        </p:spPr>
        <p:txBody>
          <a:bodyPr anchor="t" rtlCol="false" tIns="0" lIns="0" bIns="0" rIns="0">
            <a:spAutoFit/>
          </a:bodyPr>
          <a:lstStyle/>
          <a:p>
            <a:pPr algn="l">
              <a:lnSpc>
                <a:spcPts val="1544"/>
              </a:lnSpc>
            </a:pPr>
            <a:r>
              <a:rPr lang="en-US" sz="1103">
                <a:solidFill>
                  <a:srgbClr val="FFFFFF"/>
                </a:solidFill>
                <a:latin typeface="Overpass"/>
                <a:ea typeface="Overpass"/>
                <a:cs typeface="Overpass"/>
                <a:sym typeface="Overpass"/>
              </a:rPr>
              <a:t>ANNUAL REPORT</a:t>
            </a:r>
          </a:p>
        </p:txBody>
      </p:sp>
      <p:sp>
        <p:nvSpPr>
          <p:cNvPr name="TextBox 11" id="11"/>
          <p:cNvSpPr txBox="true"/>
          <p:nvPr/>
        </p:nvSpPr>
        <p:spPr>
          <a:xfrm rot="0">
            <a:off x="4671131" y="1026066"/>
            <a:ext cx="2114550" cy="210107"/>
          </a:xfrm>
          <a:prstGeom prst="rect">
            <a:avLst/>
          </a:prstGeom>
        </p:spPr>
        <p:txBody>
          <a:bodyPr anchor="t" rtlCol="false" tIns="0" lIns="0" bIns="0" rIns="0">
            <a:spAutoFit/>
          </a:bodyPr>
          <a:lstStyle/>
          <a:p>
            <a:pPr algn="r">
              <a:lnSpc>
                <a:spcPts val="1544"/>
              </a:lnSpc>
            </a:pPr>
            <a:r>
              <a:rPr lang="en-US" sz="1103">
                <a:solidFill>
                  <a:srgbClr val="FFFFFF"/>
                </a:solidFill>
                <a:latin typeface="Overpass"/>
                <a:ea typeface="Overpass"/>
                <a:cs typeface="Overpass"/>
                <a:sym typeface="Overpass"/>
              </a:rPr>
              <a:t>YEAR 2024-25</a:t>
            </a:r>
          </a:p>
        </p:txBody>
      </p:sp>
      <p:sp>
        <p:nvSpPr>
          <p:cNvPr name="TextBox 12" id="12"/>
          <p:cNvSpPr txBox="true"/>
          <p:nvPr/>
        </p:nvSpPr>
        <p:spPr>
          <a:xfrm rot="0">
            <a:off x="775628" y="471373"/>
            <a:ext cx="5564305" cy="210107"/>
          </a:xfrm>
          <a:prstGeom prst="rect">
            <a:avLst/>
          </a:prstGeom>
        </p:spPr>
        <p:txBody>
          <a:bodyPr anchor="t" rtlCol="false" tIns="0" lIns="0" bIns="0" rIns="0">
            <a:spAutoFit/>
          </a:bodyPr>
          <a:lstStyle/>
          <a:p>
            <a:pPr algn="l">
              <a:lnSpc>
                <a:spcPts val="1544"/>
              </a:lnSpc>
            </a:pPr>
            <a:r>
              <a:rPr lang="en-US" sz="1103">
                <a:solidFill>
                  <a:srgbClr val="FFFFFF"/>
                </a:solidFill>
                <a:latin typeface="Overpass"/>
                <a:ea typeface="Overpass"/>
                <a:cs typeface="Overpass"/>
                <a:sym typeface="Overpass"/>
              </a:rPr>
              <a:t>MUNAWWAR FOUNDATION-"ILLUMINATING HEARTS, TRANSFORMING FUTURES"</a:t>
            </a:r>
          </a:p>
        </p:txBody>
      </p:sp>
      <p:sp>
        <p:nvSpPr>
          <p:cNvPr name="TextBox 13" id="13"/>
          <p:cNvSpPr txBox="true"/>
          <p:nvPr/>
        </p:nvSpPr>
        <p:spPr>
          <a:xfrm rot="0">
            <a:off x="762401" y="8543499"/>
            <a:ext cx="2934000" cy="764462"/>
          </a:xfrm>
          <a:prstGeom prst="rect">
            <a:avLst/>
          </a:prstGeom>
        </p:spPr>
        <p:txBody>
          <a:bodyPr anchor="t" rtlCol="false" tIns="0" lIns="0" bIns="0" rIns="0">
            <a:spAutoFit/>
          </a:bodyPr>
          <a:lstStyle/>
          <a:p>
            <a:pPr algn="just">
              <a:lnSpc>
                <a:spcPts val="1964"/>
              </a:lnSpc>
            </a:pPr>
            <a:r>
              <a:rPr lang="en-US" sz="1403">
                <a:solidFill>
                  <a:srgbClr val="000001"/>
                </a:solidFill>
                <a:latin typeface="Overpass"/>
                <a:ea typeface="Overpass"/>
                <a:cs typeface="Overpass"/>
                <a:sym typeface="Overpass"/>
              </a:rPr>
              <a:t>By harnessing skills, we help transform potential into livelihood and dreams into achievements.</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399FAD"/>
        </a:solidFill>
      </p:bgPr>
    </p:bg>
    <p:spTree>
      <p:nvGrpSpPr>
        <p:cNvPr id="1" name=""/>
        <p:cNvGrpSpPr/>
        <p:nvPr/>
      </p:nvGrpSpPr>
      <p:grpSpPr>
        <a:xfrm>
          <a:off x="0" y="0"/>
          <a:ext cx="0" cy="0"/>
          <a:chOff x="0" y="0"/>
          <a:chExt cx="0" cy="0"/>
        </a:xfrm>
      </p:grpSpPr>
      <p:grpSp>
        <p:nvGrpSpPr>
          <p:cNvPr name="Group 2" id="2"/>
          <p:cNvGrpSpPr/>
          <p:nvPr/>
        </p:nvGrpSpPr>
        <p:grpSpPr>
          <a:xfrm rot="0">
            <a:off x="-276458" y="5604086"/>
            <a:ext cx="8121505" cy="5376300"/>
            <a:chOff x="0" y="0"/>
            <a:chExt cx="2910564" cy="1926745"/>
          </a:xfrm>
        </p:grpSpPr>
        <p:sp>
          <p:nvSpPr>
            <p:cNvPr name="Freeform 3" id="3"/>
            <p:cNvSpPr/>
            <p:nvPr/>
          </p:nvSpPr>
          <p:spPr>
            <a:xfrm flipH="false" flipV="false" rot="0">
              <a:off x="0" y="0"/>
              <a:ext cx="2910564" cy="1926745"/>
            </a:xfrm>
            <a:custGeom>
              <a:avLst/>
              <a:gdLst/>
              <a:ahLst/>
              <a:cxnLst/>
              <a:rect r="r" b="b" t="t" l="l"/>
              <a:pathLst>
                <a:path h="1926745" w="2910564">
                  <a:moveTo>
                    <a:pt x="0" y="0"/>
                  </a:moveTo>
                  <a:lnTo>
                    <a:pt x="2910564" y="0"/>
                  </a:lnTo>
                  <a:lnTo>
                    <a:pt x="2910564" y="1926745"/>
                  </a:lnTo>
                  <a:lnTo>
                    <a:pt x="0" y="1926745"/>
                  </a:lnTo>
                  <a:close/>
                </a:path>
              </a:pathLst>
            </a:custGeom>
            <a:solidFill>
              <a:srgbClr val="FFFFFF"/>
            </a:solidFill>
          </p:spPr>
        </p:sp>
        <p:sp>
          <p:nvSpPr>
            <p:cNvPr name="TextBox 4" id="4"/>
            <p:cNvSpPr txBox="true"/>
            <p:nvPr/>
          </p:nvSpPr>
          <p:spPr>
            <a:xfrm>
              <a:off x="0" y="-47625"/>
              <a:ext cx="2910564" cy="1974370"/>
            </a:xfrm>
            <a:prstGeom prst="rect">
              <a:avLst/>
            </a:prstGeom>
          </p:spPr>
          <p:txBody>
            <a:bodyPr anchor="ctr" rtlCol="false" tIns="50800" lIns="50800" bIns="50800" rIns="50800"/>
            <a:lstStyle/>
            <a:p>
              <a:pPr algn="ctr">
                <a:lnSpc>
                  <a:spcPts val="1544"/>
                </a:lnSpc>
              </a:pPr>
            </a:p>
          </p:txBody>
        </p:sp>
      </p:grpSp>
      <p:sp>
        <p:nvSpPr>
          <p:cNvPr name="AutoShape 5" id="5"/>
          <p:cNvSpPr/>
          <p:nvPr/>
        </p:nvSpPr>
        <p:spPr>
          <a:xfrm>
            <a:off x="762401" y="756000"/>
            <a:ext cx="6023281" cy="0"/>
          </a:xfrm>
          <a:prstGeom prst="line">
            <a:avLst/>
          </a:prstGeom>
          <a:ln cap="flat" w="28575">
            <a:solidFill>
              <a:srgbClr val="FFFFFF"/>
            </a:solidFill>
            <a:prstDash val="solid"/>
            <a:headEnd type="none" len="sm" w="sm"/>
            <a:tailEnd type="none" len="sm" w="sm"/>
          </a:ln>
        </p:spPr>
      </p:sp>
      <p:sp>
        <p:nvSpPr>
          <p:cNvPr name="TextBox 6" id="6"/>
          <p:cNvSpPr txBox="true"/>
          <p:nvPr/>
        </p:nvSpPr>
        <p:spPr>
          <a:xfrm rot="0">
            <a:off x="3870000" y="7721638"/>
            <a:ext cx="2934000" cy="2002712"/>
          </a:xfrm>
          <a:prstGeom prst="rect">
            <a:avLst/>
          </a:prstGeom>
        </p:spPr>
        <p:txBody>
          <a:bodyPr anchor="t" rtlCol="false" tIns="0" lIns="0" bIns="0" rIns="0">
            <a:spAutoFit/>
          </a:bodyPr>
          <a:lstStyle/>
          <a:p>
            <a:pPr algn="just">
              <a:lnSpc>
                <a:spcPts val="1964"/>
              </a:lnSpc>
            </a:pPr>
            <a:r>
              <a:rPr lang="en-US" sz="1403">
                <a:solidFill>
                  <a:srgbClr val="000001"/>
                </a:solidFill>
                <a:latin typeface="Overpass"/>
                <a:ea typeface="Overpass"/>
                <a:cs typeface="Overpass"/>
                <a:sym typeface="Overpass"/>
              </a:rPr>
              <a:t>The training includes sewing techniques, fabric cutting, stitching, embroidery, and basic fashion design.</a:t>
            </a:r>
          </a:p>
          <a:p>
            <a:pPr algn="just">
              <a:lnSpc>
                <a:spcPts val="1964"/>
              </a:lnSpc>
            </a:pPr>
            <a:r>
              <a:rPr lang="en-US" sz="1403">
                <a:solidFill>
                  <a:srgbClr val="000001"/>
                </a:solidFill>
                <a:latin typeface="Overpass"/>
                <a:ea typeface="Overpass"/>
                <a:cs typeface="Overpass"/>
                <a:sym typeface="Overpass"/>
              </a:rPr>
              <a:t>Participants are guided by skilled instructors who help them learn both traditional and modern styles of garment making.</a:t>
            </a:r>
          </a:p>
        </p:txBody>
      </p:sp>
      <p:sp>
        <p:nvSpPr>
          <p:cNvPr name="Freeform 7" id="7"/>
          <p:cNvSpPr/>
          <p:nvPr/>
        </p:nvSpPr>
        <p:spPr>
          <a:xfrm flipH="false" flipV="false" rot="0">
            <a:off x="6688312" y="9847696"/>
            <a:ext cx="584339" cy="490452"/>
          </a:xfrm>
          <a:custGeom>
            <a:avLst/>
            <a:gdLst/>
            <a:ahLst/>
            <a:cxnLst/>
            <a:rect r="r" b="b" t="t" l="l"/>
            <a:pathLst>
              <a:path h="490452" w="584339">
                <a:moveTo>
                  <a:pt x="0" y="0"/>
                </a:moveTo>
                <a:lnTo>
                  <a:pt x="584340" y="0"/>
                </a:lnTo>
                <a:lnTo>
                  <a:pt x="584340" y="490452"/>
                </a:lnTo>
                <a:lnTo>
                  <a:pt x="0" y="490452"/>
                </a:lnTo>
                <a:lnTo>
                  <a:pt x="0" y="0"/>
                </a:lnTo>
                <a:close/>
              </a:path>
            </a:pathLst>
          </a:custGeom>
          <a:blipFill>
            <a:blip r:embed="rId2"/>
            <a:stretch>
              <a:fillRect l="-6287" t="-6658" r="-8382" b="-29963"/>
            </a:stretch>
          </a:blipFill>
        </p:spPr>
      </p:sp>
      <p:sp>
        <p:nvSpPr>
          <p:cNvPr name="Freeform 8" id="8"/>
          <p:cNvSpPr/>
          <p:nvPr/>
        </p:nvSpPr>
        <p:spPr>
          <a:xfrm flipH="false" flipV="false" rot="0">
            <a:off x="871688" y="1974691"/>
            <a:ext cx="6688312" cy="3941665"/>
          </a:xfrm>
          <a:custGeom>
            <a:avLst/>
            <a:gdLst/>
            <a:ahLst/>
            <a:cxnLst/>
            <a:rect r="r" b="b" t="t" l="l"/>
            <a:pathLst>
              <a:path h="3941665" w="6688312">
                <a:moveTo>
                  <a:pt x="0" y="0"/>
                </a:moveTo>
                <a:lnTo>
                  <a:pt x="6688312" y="0"/>
                </a:lnTo>
                <a:lnTo>
                  <a:pt x="6688312" y="3941665"/>
                </a:lnTo>
                <a:lnTo>
                  <a:pt x="0" y="3941665"/>
                </a:lnTo>
                <a:lnTo>
                  <a:pt x="0" y="0"/>
                </a:lnTo>
                <a:close/>
              </a:path>
            </a:pathLst>
          </a:custGeom>
          <a:blipFill>
            <a:blip r:embed="rId3"/>
            <a:stretch>
              <a:fillRect l="-9041" t="0" r="-9041" b="0"/>
            </a:stretch>
          </a:blipFill>
        </p:spPr>
      </p:sp>
      <p:sp>
        <p:nvSpPr>
          <p:cNvPr name="TextBox 9" id="9"/>
          <p:cNvSpPr txBox="true"/>
          <p:nvPr/>
        </p:nvSpPr>
        <p:spPr>
          <a:xfrm rot="0">
            <a:off x="762401" y="1026066"/>
            <a:ext cx="2114550" cy="210107"/>
          </a:xfrm>
          <a:prstGeom prst="rect">
            <a:avLst/>
          </a:prstGeom>
        </p:spPr>
        <p:txBody>
          <a:bodyPr anchor="t" rtlCol="false" tIns="0" lIns="0" bIns="0" rIns="0">
            <a:spAutoFit/>
          </a:bodyPr>
          <a:lstStyle/>
          <a:p>
            <a:pPr algn="l">
              <a:lnSpc>
                <a:spcPts val="1544"/>
              </a:lnSpc>
            </a:pPr>
            <a:r>
              <a:rPr lang="en-US" sz="1103">
                <a:solidFill>
                  <a:srgbClr val="FFFFFF"/>
                </a:solidFill>
                <a:latin typeface="Overpass"/>
                <a:ea typeface="Overpass"/>
                <a:cs typeface="Overpass"/>
                <a:sym typeface="Overpass"/>
              </a:rPr>
              <a:t>ANNUAL REPORT</a:t>
            </a:r>
          </a:p>
        </p:txBody>
      </p:sp>
      <p:sp>
        <p:nvSpPr>
          <p:cNvPr name="TextBox 10" id="10"/>
          <p:cNvSpPr txBox="true"/>
          <p:nvPr/>
        </p:nvSpPr>
        <p:spPr>
          <a:xfrm rot="0">
            <a:off x="4671131" y="1026066"/>
            <a:ext cx="2114550" cy="210107"/>
          </a:xfrm>
          <a:prstGeom prst="rect">
            <a:avLst/>
          </a:prstGeom>
        </p:spPr>
        <p:txBody>
          <a:bodyPr anchor="t" rtlCol="false" tIns="0" lIns="0" bIns="0" rIns="0">
            <a:spAutoFit/>
          </a:bodyPr>
          <a:lstStyle/>
          <a:p>
            <a:pPr algn="r">
              <a:lnSpc>
                <a:spcPts val="1544"/>
              </a:lnSpc>
            </a:pPr>
            <a:r>
              <a:rPr lang="en-US" sz="1103">
                <a:solidFill>
                  <a:srgbClr val="FFFFFF"/>
                </a:solidFill>
                <a:latin typeface="Overpass"/>
                <a:ea typeface="Overpass"/>
                <a:cs typeface="Overpass"/>
                <a:sym typeface="Overpass"/>
              </a:rPr>
              <a:t>YEAR 2024-25</a:t>
            </a:r>
          </a:p>
        </p:txBody>
      </p:sp>
      <p:sp>
        <p:nvSpPr>
          <p:cNvPr name="TextBox 11" id="11"/>
          <p:cNvSpPr txBox="true"/>
          <p:nvPr/>
        </p:nvSpPr>
        <p:spPr>
          <a:xfrm rot="0">
            <a:off x="775628" y="471373"/>
            <a:ext cx="5564305" cy="210107"/>
          </a:xfrm>
          <a:prstGeom prst="rect">
            <a:avLst/>
          </a:prstGeom>
        </p:spPr>
        <p:txBody>
          <a:bodyPr anchor="t" rtlCol="false" tIns="0" lIns="0" bIns="0" rIns="0">
            <a:spAutoFit/>
          </a:bodyPr>
          <a:lstStyle/>
          <a:p>
            <a:pPr algn="l">
              <a:lnSpc>
                <a:spcPts val="1544"/>
              </a:lnSpc>
            </a:pPr>
            <a:r>
              <a:rPr lang="en-US" sz="1103">
                <a:solidFill>
                  <a:srgbClr val="FFFFFF"/>
                </a:solidFill>
                <a:latin typeface="Overpass"/>
                <a:ea typeface="Overpass"/>
                <a:cs typeface="Overpass"/>
                <a:sym typeface="Overpass"/>
              </a:rPr>
              <a:t>MUNAWWAR FOUNDATION-"ILLUMINATING HEARTS, TRANSFORMING FUTURES"</a:t>
            </a:r>
          </a:p>
        </p:txBody>
      </p:sp>
      <p:sp>
        <p:nvSpPr>
          <p:cNvPr name="TextBox 12" id="12"/>
          <p:cNvSpPr txBox="true"/>
          <p:nvPr/>
        </p:nvSpPr>
        <p:spPr>
          <a:xfrm rot="0">
            <a:off x="668022" y="6076588"/>
            <a:ext cx="6223955" cy="1431925"/>
          </a:xfrm>
          <a:prstGeom prst="rect">
            <a:avLst/>
          </a:prstGeom>
        </p:spPr>
        <p:txBody>
          <a:bodyPr anchor="t" rtlCol="false" tIns="0" lIns="0" bIns="0" rIns="0">
            <a:spAutoFit/>
          </a:bodyPr>
          <a:lstStyle/>
          <a:p>
            <a:pPr algn="l">
              <a:lnSpc>
                <a:spcPts val="3960"/>
              </a:lnSpc>
            </a:pPr>
            <a:r>
              <a:rPr lang="en-US" sz="3600" b="true">
                <a:solidFill>
                  <a:srgbClr val="399FAD"/>
                </a:solidFill>
                <a:latin typeface="Cloud Condensed Bold"/>
                <a:ea typeface="Cloud Condensed Bold"/>
                <a:cs typeface="Cloud Condensed Bold"/>
                <a:sym typeface="Cloud Condensed Bold"/>
              </a:rPr>
              <a:t>FEMALE-FOCUSED SEWING AND DESIGN INITIATIVE</a:t>
            </a:r>
          </a:p>
          <a:p>
            <a:pPr algn="l" marL="0" indent="0" lvl="0">
              <a:lnSpc>
                <a:spcPts val="3190"/>
              </a:lnSpc>
              <a:spcBef>
                <a:spcPct val="0"/>
              </a:spcBef>
            </a:pPr>
            <a:r>
              <a:rPr lang="en-US" b="true" sz="2900">
                <a:solidFill>
                  <a:srgbClr val="399FAD"/>
                </a:solidFill>
                <a:latin typeface="Cloud Condensed Bold"/>
                <a:ea typeface="Cloud Condensed Bold"/>
                <a:cs typeface="Cloud Condensed Bold"/>
                <a:sym typeface="Cloud Condensed Bold"/>
              </a:rPr>
              <a:t>-SEWING SKILL DEVELOPMENT PROGRAM</a:t>
            </a:r>
          </a:p>
        </p:txBody>
      </p:sp>
      <p:sp>
        <p:nvSpPr>
          <p:cNvPr name="TextBox 13" id="13"/>
          <p:cNvSpPr txBox="true"/>
          <p:nvPr/>
        </p:nvSpPr>
        <p:spPr>
          <a:xfrm rot="0">
            <a:off x="756000" y="7721638"/>
            <a:ext cx="2934000" cy="2250362"/>
          </a:xfrm>
          <a:prstGeom prst="rect">
            <a:avLst/>
          </a:prstGeom>
        </p:spPr>
        <p:txBody>
          <a:bodyPr anchor="t" rtlCol="false" tIns="0" lIns="0" bIns="0" rIns="0">
            <a:spAutoFit/>
          </a:bodyPr>
          <a:lstStyle/>
          <a:p>
            <a:pPr algn="just">
              <a:lnSpc>
                <a:spcPts val="1964"/>
              </a:lnSpc>
            </a:pPr>
            <a:r>
              <a:rPr lang="en-US" sz="1403">
                <a:solidFill>
                  <a:srgbClr val="000001"/>
                </a:solidFill>
                <a:latin typeface="Overpass"/>
                <a:ea typeface="Overpass"/>
                <a:cs typeface="Overpass"/>
                <a:sym typeface="Overpass"/>
              </a:rPr>
              <a:t>MUNAWWAR FOUNDATION proudly introduces the Women’s Sewing Skill Development Program under its Female-Focused Sewing and Design Initiative. This initiative is specially designed to empower women from underprivileged backgrounds by providing them with practical tailoring and design skills.</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399FAD"/>
        </a:solidFill>
      </p:bgPr>
    </p:bg>
    <p:spTree>
      <p:nvGrpSpPr>
        <p:cNvPr id="1" name=""/>
        <p:cNvGrpSpPr/>
        <p:nvPr/>
      </p:nvGrpSpPr>
      <p:grpSpPr>
        <a:xfrm>
          <a:off x="0" y="0"/>
          <a:ext cx="0" cy="0"/>
          <a:chOff x="0" y="0"/>
          <a:chExt cx="0" cy="0"/>
        </a:xfrm>
      </p:grpSpPr>
      <p:grpSp>
        <p:nvGrpSpPr>
          <p:cNvPr name="Group 2" id="2"/>
          <p:cNvGrpSpPr/>
          <p:nvPr/>
        </p:nvGrpSpPr>
        <p:grpSpPr>
          <a:xfrm rot="0">
            <a:off x="-276458" y="5604086"/>
            <a:ext cx="8121505" cy="5376300"/>
            <a:chOff x="0" y="0"/>
            <a:chExt cx="2910564" cy="1926745"/>
          </a:xfrm>
        </p:grpSpPr>
        <p:sp>
          <p:nvSpPr>
            <p:cNvPr name="Freeform 3" id="3"/>
            <p:cNvSpPr/>
            <p:nvPr/>
          </p:nvSpPr>
          <p:spPr>
            <a:xfrm flipH="false" flipV="false" rot="0">
              <a:off x="0" y="0"/>
              <a:ext cx="2910564" cy="1926745"/>
            </a:xfrm>
            <a:custGeom>
              <a:avLst/>
              <a:gdLst/>
              <a:ahLst/>
              <a:cxnLst/>
              <a:rect r="r" b="b" t="t" l="l"/>
              <a:pathLst>
                <a:path h="1926745" w="2910564">
                  <a:moveTo>
                    <a:pt x="0" y="0"/>
                  </a:moveTo>
                  <a:lnTo>
                    <a:pt x="2910564" y="0"/>
                  </a:lnTo>
                  <a:lnTo>
                    <a:pt x="2910564" y="1926745"/>
                  </a:lnTo>
                  <a:lnTo>
                    <a:pt x="0" y="1926745"/>
                  </a:lnTo>
                  <a:close/>
                </a:path>
              </a:pathLst>
            </a:custGeom>
            <a:solidFill>
              <a:srgbClr val="FFFFFF"/>
            </a:solidFill>
          </p:spPr>
        </p:sp>
        <p:sp>
          <p:nvSpPr>
            <p:cNvPr name="TextBox 4" id="4"/>
            <p:cNvSpPr txBox="true"/>
            <p:nvPr/>
          </p:nvSpPr>
          <p:spPr>
            <a:xfrm>
              <a:off x="0" y="-47625"/>
              <a:ext cx="2910564" cy="1974370"/>
            </a:xfrm>
            <a:prstGeom prst="rect">
              <a:avLst/>
            </a:prstGeom>
          </p:spPr>
          <p:txBody>
            <a:bodyPr anchor="ctr" rtlCol="false" tIns="50800" lIns="50800" bIns="50800" rIns="50800"/>
            <a:lstStyle/>
            <a:p>
              <a:pPr algn="ctr">
                <a:lnSpc>
                  <a:spcPts val="1544"/>
                </a:lnSpc>
              </a:pPr>
            </a:p>
          </p:txBody>
        </p:sp>
      </p:grpSp>
      <p:sp>
        <p:nvSpPr>
          <p:cNvPr name="AutoShape 5" id="5"/>
          <p:cNvSpPr/>
          <p:nvPr/>
        </p:nvSpPr>
        <p:spPr>
          <a:xfrm>
            <a:off x="762401" y="756000"/>
            <a:ext cx="6023281" cy="0"/>
          </a:xfrm>
          <a:prstGeom prst="line">
            <a:avLst/>
          </a:prstGeom>
          <a:ln cap="flat" w="28575">
            <a:solidFill>
              <a:srgbClr val="FFFFFF"/>
            </a:solidFill>
            <a:prstDash val="solid"/>
            <a:headEnd type="none" len="sm" w="sm"/>
            <a:tailEnd type="none" len="sm" w="sm"/>
          </a:ln>
        </p:spPr>
      </p:sp>
      <p:sp>
        <p:nvSpPr>
          <p:cNvPr name="Freeform 6" id="6"/>
          <p:cNvSpPr/>
          <p:nvPr/>
        </p:nvSpPr>
        <p:spPr>
          <a:xfrm flipH="false" flipV="false" rot="0">
            <a:off x="6688312" y="9847696"/>
            <a:ext cx="584339" cy="490452"/>
          </a:xfrm>
          <a:custGeom>
            <a:avLst/>
            <a:gdLst/>
            <a:ahLst/>
            <a:cxnLst/>
            <a:rect r="r" b="b" t="t" l="l"/>
            <a:pathLst>
              <a:path h="490452" w="584339">
                <a:moveTo>
                  <a:pt x="0" y="0"/>
                </a:moveTo>
                <a:lnTo>
                  <a:pt x="584340" y="0"/>
                </a:lnTo>
                <a:lnTo>
                  <a:pt x="584340" y="490452"/>
                </a:lnTo>
                <a:lnTo>
                  <a:pt x="0" y="490452"/>
                </a:lnTo>
                <a:lnTo>
                  <a:pt x="0" y="0"/>
                </a:lnTo>
                <a:close/>
              </a:path>
            </a:pathLst>
          </a:custGeom>
          <a:blipFill>
            <a:blip r:embed="rId2"/>
            <a:stretch>
              <a:fillRect l="-6287" t="-6658" r="-8382" b="-29963"/>
            </a:stretch>
          </a:blipFill>
        </p:spPr>
      </p:sp>
      <p:grpSp>
        <p:nvGrpSpPr>
          <p:cNvPr name="Group 7" id="7"/>
          <p:cNvGrpSpPr/>
          <p:nvPr/>
        </p:nvGrpSpPr>
        <p:grpSpPr>
          <a:xfrm rot="0">
            <a:off x="471395" y="1540973"/>
            <a:ext cx="7088605" cy="4664041"/>
            <a:chOff x="0" y="0"/>
            <a:chExt cx="9451473" cy="6218722"/>
          </a:xfrm>
        </p:grpSpPr>
        <p:sp>
          <p:nvSpPr>
            <p:cNvPr name="Freeform 8" id="8"/>
            <p:cNvSpPr/>
            <p:nvPr/>
          </p:nvSpPr>
          <p:spPr>
            <a:xfrm flipH="false" flipV="false" rot="0">
              <a:off x="0" y="2907619"/>
              <a:ext cx="4349323" cy="2868122"/>
            </a:xfrm>
            <a:custGeom>
              <a:avLst/>
              <a:gdLst/>
              <a:ahLst/>
              <a:cxnLst/>
              <a:rect r="r" b="b" t="t" l="l"/>
              <a:pathLst>
                <a:path h="2868122" w="4349323">
                  <a:moveTo>
                    <a:pt x="0" y="0"/>
                  </a:moveTo>
                  <a:lnTo>
                    <a:pt x="4349323" y="0"/>
                  </a:lnTo>
                  <a:lnTo>
                    <a:pt x="4349323" y="2868122"/>
                  </a:lnTo>
                  <a:lnTo>
                    <a:pt x="0" y="2868122"/>
                  </a:lnTo>
                  <a:lnTo>
                    <a:pt x="0" y="0"/>
                  </a:lnTo>
                  <a:close/>
                </a:path>
              </a:pathLst>
            </a:custGeom>
            <a:blipFill>
              <a:blip r:embed="rId3"/>
              <a:stretch>
                <a:fillRect l="-7501" t="0" r="-5300" b="-1256"/>
              </a:stretch>
            </a:blipFill>
          </p:spPr>
        </p:sp>
        <p:sp>
          <p:nvSpPr>
            <p:cNvPr name="Freeform 9" id="9"/>
            <p:cNvSpPr/>
            <p:nvPr/>
          </p:nvSpPr>
          <p:spPr>
            <a:xfrm flipH="false" flipV="false" rot="0">
              <a:off x="4495969" y="16994"/>
              <a:ext cx="4955505" cy="3820470"/>
            </a:xfrm>
            <a:custGeom>
              <a:avLst/>
              <a:gdLst/>
              <a:ahLst/>
              <a:cxnLst/>
              <a:rect r="r" b="b" t="t" l="l"/>
              <a:pathLst>
                <a:path h="3820470" w="4955505">
                  <a:moveTo>
                    <a:pt x="0" y="0"/>
                  </a:moveTo>
                  <a:lnTo>
                    <a:pt x="4955504" y="0"/>
                  </a:lnTo>
                  <a:lnTo>
                    <a:pt x="4955504" y="3820469"/>
                  </a:lnTo>
                  <a:lnTo>
                    <a:pt x="0" y="3820469"/>
                  </a:lnTo>
                  <a:lnTo>
                    <a:pt x="0" y="0"/>
                  </a:lnTo>
                  <a:close/>
                </a:path>
              </a:pathLst>
            </a:custGeom>
            <a:blipFill>
              <a:blip r:embed="rId4"/>
              <a:stretch>
                <a:fillRect l="-16291" t="0" r="-19612" b="0"/>
              </a:stretch>
            </a:blipFill>
          </p:spPr>
        </p:sp>
        <p:sp>
          <p:nvSpPr>
            <p:cNvPr name="Freeform 10" id="10"/>
            <p:cNvSpPr/>
            <p:nvPr/>
          </p:nvSpPr>
          <p:spPr>
            <a:xfrm flipH="false" flipV="false" rot="0">
              <a:off x="4495969" y="4005816"/>
              <a:ext cx="4955505" cy="2212906"/>
            </a:xfrm>
            <a:custGeom>
              <a:avLst/>
              <a:gdLst/>
              <a:ahLst/>
              <a:cxnLst/>
              <a:rect r="r" b="b" t="t" l="l"/>
              <a:pathLst>
                <a:path h="2212906" w="4955505">
                  <a:moveTo>
                    <a:pt x="0" y="0"/>
                  </a:moveTo>
                  <a:lnTo>
                    <a:pt x="4955504" y="0"/>
                  </a:lnTo>
                  <a:lnTo>
                    <a:pt x="4955504" y="2212906"/>
                  </a:lnTo>
                  <a:lnTo>
                    <a:pt x="0" y="2212906"/>
                  </a:lnTo>
                  <a:lnTo>
                    <a:pt x="0" y="0"/>
                  </a:lnTo>
                  <a:close/>
                </a:path>
              </a:pathLst>
            </a:custGeom>
            <a:blipFill>
              <a:blip r:embed="rId5"/>
              <a:stretch>
                <a:fillRect l="0" t="-29746" r="0" b="-28437"/>
              </a:stretch>
            </a:blipFill>
          </p:spPr>
        </p:sp>
        <p:sp>
          <p:nvSpPr>
            <p:cNvPr name="Freeform 11" id="11"/>
            <p:cNvSpPr/>
            <p:nvPr/>
          </p:nvSpPr>
          <p:spPr>
            <a:xfrm flipH="false" flipV="false" rot="0">
              <a:off x="367490" y="0"/>
              <a:ext cx="3981833" cy="2755993"/>
            </a:xfrm>
            <a:custGeom>
              <a:avLst/>
              <a:gdLst/>
              <a:ahLst/>
              <a:cxnLst/>
              <a:rect r="r" b="b" t="t" l="l"/>
              <a:pathLst>
                <a:path h="2755993" w="3981833">
                  <a:moveTo>
                    <a:pt x="0" y="0"/>
                  </a:moveTo>
                  <a:lnTo>
                    <a:pt x="3981833" y="0"/>
                  </a:lnTo>
                  <a:lnTo>
                    <a:pt x="3981833" y="2755993"/>
                  </a:lnTo>
                  <a:lnTo>
                    <a:pt x="0" y="2755993"/>
                  </a:lnTo>
                  <a:lnTo>
                    <a:pt x="0" y="0"/>
                  </a:lnTo>
                  <a:close/>
                </a:path>
              </a:pathLst>
            </a:custGeom>
            <a:blipFill>
              <a:blip r:embed="rId6"/>
              <a:stretch>
                <a:fillRect l="-49832" t="-28832" r="-1020" b="0"/>
              </a:stretch>
            </a:blipFill>
          </p:spPr>
        </p:sp>
      </p:grpSp>
      <p:sp>
        <p:nvSpPr>
          <p:cNvPr name="TextBox 12" id="12"/>
          <p:cNvSpPr txBox="true"/>
          <p:nvPr/>
        </p:nvSpPr>
        <p:spPr>
          <a:xfrm rot="0">
            <a:off x="3870000" y="6709882"/>
            <a:ext cx="2934000" cy="2745662"/>
          </a:xfrm>
          <a:prstGeom prst="rect">
            <a:avLst/>
          </a:prstGeom>
        </p:spPr>
        <p:txBody>
          <a:bodyPr anchor="t" rtlCol="false" tIns="0" lIns="0" bIns="0" rIns="0">
            <a:spAutoFit/>
          </a:bodyPr>
          <a:lstStyle/>
          <a:p>
            <a:pPr algn="just">
              <a:lnSpc>
                <a:spcPts val="1964"/>
              </a:lnSpc>
            </a:pPr>
            <a:r>
              <a:rPr lang="en-US" sz="1403">
                <a:solidFill>
                  <a:srgbClr val="000001"/>
                </a:solidFill>
                <a:latin typeface="Overpass"/>
                <a:ea typeface="Overpass"/>
                <a:cs typeface="Overpass"/>
                <a:sym typeface="Overpass"/>
              </a:rPr>
              <a:t>MUNAWWAR FOUNDATION believes that empowering a woman means empowering an entire family.</a:t>
            </a:r>
          </a:p>
          <a:p>
            <a:pPr algn="just">
              <a:lnSpc>
                <a:spcPts val="1964"/>
              </a:lnSpc>
            </a:pPr>
            <a:r>
              <a:rPr lang="en-US" sz="1403">
                <a:solidFill>
                  <a:srgbClr val="000001"/>
                </a:solidFill>
                <a:latin typeface="Overpass"/>
                <a:ea typeface="Overpass"/>
                <a:cs typeface="Overpass"/>
                <a:sym typeface="Overpass"/>
              </a:rPr>
              <a:t>Through this initiative, we aim to create a community of skilled, self-sufficient women shaping their own future. It’s more than just a sewing class — it’s a journey of growth, strength, and empowerment.</a:t>
            </a:r>
          </a:p>
          <a:p>
            <a:pPr algn="just">
              <a:lnSpc>
                <a:spcPts val="1964"/>
              </a:lnSpc>
            </a:pPr>
            <a:r>
              <a:rPr lang="en-US" sz="1403">
                <a:solidFill>
                  <a:srgbClr val="000001"/>
                </a:solidFill>
                <a:latin typeface="Overpass"/>
                <a:ea typeface="Overpass"/>
                <a:cs typeface="Overpass"/>
                <a:sym typeface="Overpass"/>
              </a:rPr>
              <a:t>Together, we are weaving threads of hope, independence, and change.</a:t>
            </a:r>
          </a:p>
        </p:txBody>
      </p:sp>
      <p:sp>
        <p:nvSpPr>
          <p:cNvPr name="TextBox 13" id="13"/>
          <p:cNvSpPr txBox="true"/>
          <p:nvPr/>
        </p:nvSpPr>
        <p:spPr>
          <a:xfrm rot="0">
            <a:off x="762401" y="1026066"/>
            <a:ext cx="2114550" cy="210107"/>
          </a:xfrm>
          <a:prstGeom prst="rect">
            <a:avLst/>
          </a:prstGeom>
        </p:spPr>
        <p:txBody>
          <a:bodyPr anchor="t" rtlCol="false" tIns="0" lIns="0" bIns="0" rIns="0">
            <a:spAutoFit/>
          </a:bodyPr>
          <a:lstStyle/>
          <a:p>
            <a:pPr algn="l">
              <a:lnSpc>
                <a:spcPts val="1544"/>
              </a:lnSpc>
            </a:pPr>
            <a:r>
              <a:rPr lang="en-US" sz="1103">
                <a:solidFill>
                  <a:srgbClr val="FFFFFF"/>
                </a:solidFill>
                <a:latin typeface="Overpass"/>
                <a:ea typeface="Overpass"/>
                <a:cs typeface="Overpass"/>
                <a:sym typeface="Overpass"/>
              </a:rPr>
              <a:t>ANNUAL REPORT</a:t>
            </a:r>
          </a:p>
        </p:txBody>
      </p:sp>
      <p:sp>
        <p:nvSpPr>
          <p:cNvPr name="TextBox 14" id="14"/>
          <p:cNvSpPr txBox="true"/>
          <p:nvPr/>
        </p:nvSpPr>
        <p:spPr>
          <a:xfrm rot="0">
            <a:off x="4671131" y="1026066"/>
            <a:ext cx="2114550" cy="210107"/>
          </a:xfrm>
          <a:prstGeom prst="rect">
            <a:avLst/>
          </a:prstGeom>
        </p:spPr>
        <p:txBody>
          <a:bodyPr anchor="t" rtlCol="false" tIns="0" lIns="0" bIns="0" rIns="0">
            <a:spAutoFit/>
          </a:bodyPr>
          <a:lstStyle/>
          <a:p>
            <a:pPr algn="r">
              <a:lnSpc>
                <a:spcPts val="1544"/>
              </a:lnSpc>
            </a:pPr>
            <a:r>
              <a:rPr lang="en-US" sz="1103">
                <a:solidFill>
                  <a:srgbClr val="FFFFFF"/>
                </a:solidFill>
                <a:latin typeface="Overpass"/>
                <a:ea typeface="Overpass"/>
                <a:cs typeface="Overpass"/>
                <a:sym typeface="Overpass"/>
              </a:rPr>
              <a:t>YEAR 2024-25</a:t>
            </a:r>
          </a:p>
        </p:txBody>
      </p:sp>
      <p:sp>
        <p:nvSpPr>
          <p:cNvPr name="TextBox 15" id="15"/>
          <p:cNvSpPr txBox="true"/>
          <p:nvPr/>
        </p:nvSpPr>
        <p:spPr>
          <a:xfrm rot="0">
            <a:off x="775628" y="471373"/>
            <a:ext cx="5564305" cy="210107"/>
          </a:xfrm>
          <a:prstGeom prst="rect">
            <a:avLst/>
          </a:prstGeom>
        </p:spPr>
        <p:txBody>
          <a:bodyPr anchor="t" rtlCol="false" tIns="0" lIns="0" bIns="0" rIns="0">
            <a:spAutoFit/>
          </a:bodyPr>
          <a:lstStyle/>
          <a:p>
            <a:pPr algn="l">
              <a:lnSpc>
                <a:spcPts val="1544"/>
              </a:lnSpc>
            </a:pPr>
            <a:r>
              <a:rPr lang="en-US" sz="1103">
                <a:solidFill>
                  <a:srgbClr val="FFFFFF"/>
                </a:solidFill>
                <a:latin typeface="Overpass"/>
                <a:ea typeface="Overpass"/>
                <a:cs typeface="Overpass"/>
                <a:sym typeface="Overpass"/>
              </a:rPr>
              <a:t>MUNAWWAR FOUNDATION-"ILLUMINATING HEARTS, TRANSFORMING FUTURES"</a:t>
            </a:r>
          </a:p>
        </p:txBody>
      </p:sp>
      <p:sp>
        <p:nvSpPr>
          <p:cNvPr name="TextBox 16" id="16"/>
          <p:cNvSpPr txBox="true"/>
          <p:nvPr/>
        </p:nvSpPr>
        <p:spPr>
          <a:xfrm rot="0">
            <a:off x="756000" y="6709882"/>
            <a:ext cx="2934000" cy="2745662"/>
          </a:xfrm>
          <a:prstGeom prst="rect">
            <a:avLst/>
          </a:prstGeom>
        </p:spPr>
        <p:txBody>
          <a:bodyPr anchor="t" rtlCol="false" tIns="0" lIns="0" bIns="0" rIns="0">
            <a:spAutoFit/>
          </a:bodyPr>
          <a:lstStyle/>
          <a:p>
            <a:pPr algn="just">
              <a:lnSpc>
                <a:spcPts val="1964"/>
              </a:lnSpc>
            </a:pPr>
            <a:r>
              <a:rPr lang="en-US" sz="1403">
                <a:solidFill>
                  <a:srgbClr val="000001"/>
                </a:solidFill>
                <a:latin typeface="Overpass"/>
                <a:ea typeface="Overpass"/>
                <a:cs typeface="Overpass"/>
                <a:sym typeface="Overpass"/>
              </a:rPr>
              <a:t>The aim is to enable women to become financially independent and confident contributors to their families and communities.</a:t>
            </a:r>
          </a:p>
          <a:p>
            <a:pPr algn="just">
              <a:lnSpc>
                <a:spcPts val="1964"/>
              </a:lnSpc>
            </a:pPr>
            <a:r>
              <a:rPr lang="en-US" sz="1403">
                <a:solidFill>
                  <a:srgbClr val="000001"/>
                </a:solidFill>
                <a:latin typeface="Overpass"/>
                <a:ea typeface="Overpass"/>
                <a:cs typeface="Overpass"/>
                <a:sym typeface="Overpass"/>
              </a:rPr>
              <a:t>By mastering sewing and design, they gain the power to transform creativity into livelihood, </a:t>
            </a:r>
            <a:r>
              <a:rPr lang="en-US" sz="1403">
                <a:solidFill>
                  <a:srgbClr val="000001"/>
                </a:solidFill>
                <a:latin typeface="Overpass"/>
                <a:ea typeface="Overpass"/>
                <a:cs typeface="Overpass"/>
                <a:sym typeface="Overpass"/>
              </a:rPr>
              <a:t>program also promotes entrepreneurship, encouraging participants to start small tailoring units or home-based businesses.</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399FAD"/>
        </a:solidFill>
      </p:bgPr>
    </p:bg>
    <p:spTree>
      <p:nvGrpSpPr>
        <p:cNvPr id="1" name=""/>
        <p:cNvGrpSpPr/>
        <p:nvPr/>
      </p:nvGrpSpPr>
      <p:grpSpPr>
        <a:xfrm>
          <a:off x="0" y="0"/>
          <a:ext cx="0" cy="0"/>
          <a:chOff x="0" y="0"/>
          <a:chExt cx="0" cy="0"/>
        </a:xfrm>
      </p:grpSpPr>
      <p:grpSp>
        <p:nvGrpSpPr>
          <p:cNvPr name="Group 2" id="2"/>
          <p:cNvGrpSpPr/>
          <p:nvPr/>
        </p:nvGrpSpPr>
        <p:grpSpPr>
          <a:xfrm rot="0">
            <a:off x="-276458" y="5604086"/>
            <a:ext cx="8121505" cy="5376300"/>
            <a:chOff x="0" y="0"/>
            <a:chExt cx="2910564" cy="1926745"/>
          </a:xfrm>
        </p:grpSpPr>
        <p:sp>
          <p:nvSpPr>
            <p:cNvPr name="Freeform 3" id="3"/>
            <p:cNvSpPr/>
            <p:nvPr/>
          </p:nvSpPr>
          <p:spPr>
            <a:xfrm flipH="false" flipV="false" rot="0">
              <a:off x="0" y="0"/>
              <a:ext cx="2910564" cy="1926745"/>
            </a:xfrm>
            <a:custGeom>
              <a:avLst/>
              <a:gdLst/>
              <a:ahLst/>
              <a:cxnLst/>
              <a:rect r="r" b="b" t="t" l="l"/>
              <a:pathLst>
                <a:path h="1926745" w="2910564">
                  <a:moveTo>
                    <a:pt x="0" y="0"/>
                  </a:moveTo>
                  <a:lnTo>
                    <a:pt x="2910564" y="0"/>
                  </a:lnTo>
                  <a:lnTo>
                    <a:pt x="2910564" y="1926745"/>
                  </a:lnTo>
                  <a:lnTo>
                    <a:pt x="0" y="1926745"/>
                  </a:lnTo>
                  <a:close/>
                </a:path>
              </a:pathLst>
            </a:custGeom>
            <a:solidFill>
              <a:srgbClr val="FFFFFF"/>
            </a:solidFill>
          </p:spPr>
        </p:sp>
        <p:sp>
          <p:nvSpPr>
            <p:cNvPr name="TextBox 4" id="4"/>
            <p:cNvSpPr txBox="true"/>
            <p:nvPr/>
          </p:nvSpPr>
          <p:spPr>
            <a:xfrm>
              <a:off x="0" y="-47625"/>
              <a:ext cx="2910564" cy="1974370"/>
            </a:xfrm>
            <a:prstGeom prst="rect">
              <a:avLst/>
            </a:prstGeom>
          </p:spPr>
          <p:txBody>
            <a:bodyPr anchor="ctr" rtlCol="false" tIns="50800" lIns="50800" bIns="50800" rIns="50800"/>
            <a:lstStyle/>
            <a:p>
              <a:pPr algn="ctr">
                <a:lnSpc>
                  <a:spcPts val="1544"/>
                </a:lnSpc>
              </a:pPr>
            </a:p>
          </p:txBody>
        </p:sp>
      </p:grpSp>
      <p:sp>
        <p:nvSpPr>
          <p:cNvPr name="AutoShape 5" id="5"/>
          <p:cNvSpPr/>
          <p:nvPr/>
        </p:nvSpPr>
        <p:spPr>
          <a:xfrm>
            <a:off x="762401" y="756000"/>
            <a:ext cx="6023281" cy="0"/>
          </a:xfrm>
          <a:prstGeom prst="line">
            <a:avLst/>
          </a:prstGeom>
          <a:ln cap="flat" w="28575">
            <a:solidFill>
              <a:srgbClr val="FFFFFF"/>
            </a:solidFill>
            <a:prstDash val="solid"/>
            <a:headEnd type="none" len="sm" w="sm"/>
            <a:tailEnd type="none" len="sm" w="sm"/>
          </a:ln>
        </p:spPr>
      </p:sp>
      <p:sp>
        <p:nvSpPr>
          <p:cNvPr name="Freeform 6" id="6"/>
          <p:cNvSpPr/>
          <p:nvPr/>
        </p:nvSpPr>
        <p:spPr>
          <a:xfrm flipH="false" flipV="false" rot="0">
            <a:off x="6688312" y="9847696"/>
            <a:ext cx="584339" cy="490452"/>
          </a:xfrm>
          <a:custGeom>
            <a:avLst/>
            <a:gdLst/>
            <a:ahLst/>
            <a:cxnLst/>
            <a:rect r="r" b="b" t="t" l="l"/>
            <a:pathLst>
              <a:path h="490452" w="584339">
                <a:moveTo>
                  <a:pt x="0" y="0"/>
                </a:moveTo>
                <a:lnTo>
                  <a:pt x="584340" y="0"/>
                </a:lnTo>
                <a:lnTo>
                  <a:pt x="584340" y="490452"/>
                </a:lnTo>
                <a:lnTo>
                  <a:pt x="0" y="490452"/>
                </a:lnTo>
                <a:lnTo>
                  <a:pt x="0" y="0"/>
                </a:lnTo>
                <a:close/>
              </a:path>
            </a:pathLst>
          </a:custGeom>
          <a:blipFill>
            <a:blip r:embed="rId2"/>
            <a:stretch>
              <a:fillRect l="-6287" t="-6658" r="-8382" b="-29963"/>
            </a:stretch>
          </a:blipFill>
        </p:spPr>
      </p:sp>
      <p:sp>
        <p:nvSpPr>
          <p:cNvPr name="Freeform 7" id="7"/>
          <p:cNvSpPr/>
          <p:nvPr/>
        </p:nvSpPr>
        <p:spPr>
          <a:xfrm flipH="false" flipV="false" rot="0">
            <a:off x="871688" y="1974691"/>
            <a:ext cx="6688312" cy="3941665"/>
          </a:xfrm>
          <a:custGeom>
            <a:avLst/>
            <a:gdLst/>
            <a:ahLst/>
            <a:cxnLst/>
            <a:rect r="r" b="b" t="t" l="l"/>
            <a:pathLst>
              <a:path h="3941665" w="6688312">
                <a:moveTo>
                  <a:pt x="0" y="0"/>
                </a:moveTo>
                <a:lnTo>
                  <a:pt x="6688312" y="0"/>
                </a:lnTo>
                <a:lnTo>
                  <a:pt x="6688312" y="3941665"/>
                </a:lnTo>
                <a:lnTo>
                  <a:pt x="0" y="3941665"/>
                </a:lnTo>
                <a:lnTo>
                  <a:pt x="0" y="0"/>
                </a:lnTo>
                <a:close/>
              </a:path>
            </a:pathLst>
          </a:custGeom>
          <a:blipFill>
            <a:blip r:embed="rId3"/>
            <a:stretch>
              <a:fillRect l="0" t="0" r="-4871" b="0"/>
            </a:stretch>
          </a:blipFill>
        </p:spPr>
      </p:sp>
      <p:sp>
        <p:nvSpPr>
          <p:cNvPr name="TextBox 8" id="8"/>
          <p:cNvSpPr txBox="true"/>
          <p:nvPr/>
        </p:nvSpPr>
        <p:spPr>
          <a:xfrm rot="0">
            <a:off x="3851681" y="8013338"/>
            <a:ext cx="2934000" cy="1507412"/>
          </a:xfrm>
          <a:prstGeom prst="rect">
            <a:avLst/>
          </a:prstGeom>
        </p:spPr>
        <p:txBody>
          <a:bodyPr anchor="t" rtlCol="false" tIns="0" lIns="0" bIns="0" rIns="0">
            <a:spAutoFit/>
          </a:bodyPr>
          <a:lstStyle/>
          <a:p>
            <a:pPr algn="just">
              <a:lnSpc>
                <a:spcPts val="1964"/>
              </a:lnSpc>
            </a:pPr>
            <a:r>
              <a:rPr lang="en-US" sz="1403">
                <a:solidFill>
                  <a:srgbClr val="000001"/>
                </a:solidFill>
                <a:latin typeface="Overpass"/>
                <a:ea typeface="Overpass"/>
                <a:cs typeface="Overpass"/>
                <a:sym typeface="Overpass"/>
              </a:rPr>
              <a:t>This program focuses on teaching essential techniques such as cutting, stitching, fitting, and designing men’s clothing, while also incorporating modern trends and styles. </a:t>
            </a:r>
          </a:p>
        </p:txBody>
      </p:sp>
      <p:sp>
        <p:nvSpPr>
          <p:cNvPr name="TextBox 9" id="9"/>
          <p:cNvSpPr txBox="true"/>
          <p:nvPr/>
        </p:nvSpPr>
        <p:spPr>
          <a:xfrm rot="0">
            <a:off x="762401" y="1026066"/>
            <a:ext cx="2114550" cy="210107"/>
          </a:xfrm>
          <a:prstGeom prst="rect">
            <a:avLst/>
          </a:prstGeom>
        </p:spPr>
        <p:txBody>
          <a:bodyPr anchor="t" rtlCol="false" tIns="0" lIns="0" bIns="0" rIns="0">
            <a:spAutoFit/>
          </a:bodyPr>
          <a:lstStyle/>
          <a:p>
            <a:pPr algn="l">
              <a:lnSpc>
                <a:spcPts val="1544"/>
              </a:lnSpc>
            </a:pPr>
            <a:r>
              <a:rPr lang="en-US" sz="1103">
                <a:solidFill>
                  <a:srgbClr val="FFFFFF"/>
                </a:solidFill>
                <a:latin typeface="Overpass"/>
                <a:ea typeface="Overpass"/>
                <a:cs typeface="Overpass"/>
                <a:sym typeface="Overpass"/>
              </a:rPr>
              <a:t>ANNUAL REPORT</a:t>
            </a:r>
          </a:p>
        </p:txBody>
      </p:sp>
      <p:sp>
        <p:nvSpPr>
          <p:cNvPr name="TextBox 10" id="10"/>
          <p:cNvSpPr txBox="true"/>
          <p:nvPr/>
        </p:nvSpPr>
        <p:spPr>
          <a:xfrm rot="0">
            <a:off x="4671131" y="1026066"/>
            <a:ext cx="2114550" cy="210107"/>
          </a:xfrm>
          <a:prstGeom prst="rect">
            <a:avLst/>
          </a:prstGeom>
        </p:spPr>
        <p:txBody>
          <a:bodyPr anchor="t" rtlCol="false" tIns="0" lIns="0" bIns="0" rIns="0">
            <a:spAutoFit/>
          </a:bodyPr>
          <a:lstStyle/>
          <a:p>
            <a:pPr algn="r">
              <a:lnSpc>
                <a:spcPts val="1544"/>
              </a:lnSpc>
            </a:pPr>
            <a:r>
              <a:rPr lang="en-US" sz="1103">
                <a:solidFill>
                  <a:srgbClr val="FFFFFF"/>
                </a:solidFill>
                <a:latin typeface="Overpass"/>
                <a:ea typeface="Overpass"/>
                <a:cs typeface="Overpass"/>
                <a:sym typeface="Overpass"/>
              </a:rPr>
              <a:t>YEAR 2024-25</a:t>
            </a:r>
          </a:p>
        </p:txBody>
      </p:sp>
      <p:sp>
        <p:nvSpPr>
          <p:cNvPr name="TextBox 11" id="11"/>
          <p:cNvSpPr txBox="true"/>
          <p:nvPr/>
        </p:nvSpPr>
        <p:spPr>
          <a:xfrm rot="0">
            <a:off x="775628" y="471373"/>
            <a:ext cx="5564305" cy="210107"/>
          </a:xfrm>
          <a:prstGeom prst="rect">
            <a:avLst/>
          </a:prstGeom>
        </p:spPr>
        <p:txBody>
          <a:bodyPr anchor="t" rtlCol="false" tIns="0" lIns="0" bIns="0" rIns="0">
            <a:spAutoFit/>
          </a:bodyPr>
          <a:lstStyle/>
          <a:p>
            <a:pPr algn="l">
              <a:lnSpc>
                <a:spcPts val="1544"/>
              </a:lnSpc>
            </a:pPr>
            <a:r>
              <a:rPr lang="en-US" sz="1103">
                <a:solidFill>
                  <a:srgbClr val="FFFFFF"/>
                </a:solidFill>
                <a:latin typeface="Overpass"/>
                <a:ea typeface="Overpass"/>
                <a:cs typeface="Overpass"/>
                <a:sym typeface="Overpass"/>
              </a:rPr>
              <a:t>MUNAWWAR FOUNDATION-"ILLUMINATING HEARTS, TRANSFORMING FUTURES"</a:t>
            </a:r>
          </a:p>
        </p:txBody>
      </p:sp>
      <p:sp>
        <p:nvSpPr>
          <p:cNvPr name="TextBox 12" id="12"/>
          <p:cNvSpPr txBox="true"/>
          <p:nvPr/>
        </p:nvSpPr>
        <p:spPr>
          <a:xfrm rot="0">
            <a:off x="668022" y="6076588"/>
            <a:ext cx="6891978" cy="1831975"/>
          </a:xfrm>
          <a:prstGeom prst="rect">
            <a:avLst/>
          </a:prstGeom>
        </p:spPr>
        <p:txBody>
          <a:bodyPr anchor="t" rtlCol="false" tIns="0" lIns="0" bIns="0" rIns="0">
            <a:spAutoFit/>
          </a:bodyPr>
          <a:lstStyle/>
          <a:p>
            <a:pPr algn="l">
              <a:lnSpc>
                <a:spcPts val="3960"/>
              </a:lnSpc>
            </a:pPr>
            <a:r>
              <a:rPr lang="en-US" sz="3600" b="true">
                <a:solidFill>
                  <a:srgbClr val="399FAD"/>
                </a:solidFill>
                <a:latin typeface="Cloud Condensed Bold"/>
                <a:ea typeface="Cloud Condensed Bold"/>
                <a:cs typeface="Cloud Condensed Bold"/>
                <a:sym typeface="Cloud Condensed Bold"/>
              </a:rPr>
              <a:t>MEN’S CLOTHING STITCHING WORKSHOP</a:t>
            </a:r>
          </a:p>
          <a:p>
            <a:pPr algn="l" marL="0" indent="0" lvl="0">
              <a:lnSpc>
                <a:spcPts val="3190"/>
              </a:lnSpc>
              <a:spcBef>
                <a:spcPct val="0"/>
              </a:spcBef>
            </a:pPr>
            <a:r>
              <a:rPr lang="en-US" b="true" sz="2900">
                <a:solidFill>
                  <a:srgbClr val="399FAD"/>
                </a:solidFill>
                <a:latin typeface="Cloud Condensed Bold"/>
                <a:ea typeface="Cloud Condensed Bold"/>
                <a:cs typeface="Cloud Condensed Bold"/>
                <a:sym typeface="Cloud Condensed Bold"/>
              </a:rPr>
              <a:t>-SKILL DEVELOPMENT IN MEN’S APPAREL MAKING</a:t>
            </a:r>
          </a:p>
        </p:txBody>
      </p:sp>
      <p:sp>
        <p:nvSpPr>
          <p:cNvPr name="TextBox 13" id="13"/>
          <p:cNvSpPr txBox="true"/>
          <p:nvPr/>
        </p:nvSpPr>
        <p:spPr>
          <a:xfrm rot="0">
            <a:off x="756000" y="8013338"/>
            <a:ext cx="2934000" cy="1507412"/>
          </a:xfrm>
          <a:prstGeom prst="rect">
            <a:avLst/>
          </a:prstGeom>
        </p:spPr>
        <p:txBody>
          <a:bodyPr anchor="t" rtlCol="false" tIns="0" lIns="0" bIns="0" rIns="0">
            <a:spAutoFit/>
          </a:bodyPr>
          <a:lstStyle/>
          <a:p>
            <a:pPr algn="just">
              <a:lnSpc>
                <a:spcPts val="1964"/>
              </a:lnSpc>
            </a:pPr>
            <a:r>
              <a:rPr lang="en-US" sz="1403">
                <a:solidFill>
                  <a:srgbClr val="000001"/>
                </a:solidFill>
                <a:latin typeface="Overpass"/>
                <a:ea typeface="Overpass"/>
                <a:cs typeface="Overpass"/>
                <a:sym typeface="Overpass"/>
              </a:rPr>
              <a:t>The Munawwar Foundation’s Skill Development Program in Men’s Apparel Making is a transformative initiative designed to equip individuals with professional tailoring and garment-making skills. </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flipV="true">
            <a:off x="736600" y="756000"/>
            <a:ext cx="6067400" cy="14288"/>
          </a:xfrm>
          <a:prstGeom prst="line">
            <a:avLst/>
          </a:prstGeom>
          <a:ln cap="flat" w="28575">
            <a:solidFill>
              <a:srgbClr val="000001"/>
            </a:solidFill>
            <a:prstDash val="solid"/>
            <a:headEnd type="none" len="sm" w="sm"/>
            <a:tailEnd type="none" len="sm" w="sm"/>
          </a:ln>
        </p:spPr>
      </p:sp>
      <p:sp>
        <p:nvSpPr>
          <p:cNvPr name="Freeform 3" id="3"/>
          <p:cNvSpPr/>
          <p:nvPr/>
        </p:nvSpPr>
        <p:spPr>
          <a:xfrm flipH="false" flipV="false" rot="0">
            <a:off x="960857" y="1626698"/>
            <a:ext cx="5843177" cy="2669970"/>
          </a:xfrm>
          <a:custGeom>
            <a:avLst/>
            <a:gdLst/>
            <a:ahLst/>
            <a:cxnLst/>
            <a:rect r="r" b="b" t="t" l="l"/>
            <a:pathLst>
              <a:path h="2669970" w="5843177">
                <a:moveTo>
                  <a:pt x="0" y="0"/>
                </a:moveTo>
                <a:lnTo>
                  <a:pt x="5843177" y="0"/>
                </a:lnTo>
                <a:lnTo>
                  <a:pt x="5843177" y="2669970"/>
                </a:lnTo>
                <a:lnTo>
                  <a:pt x="0" y="2669970"/>
                </a:lnTo>
                <a:lnTo>
                  <a:pt x="0" y="0"/>
                </a:lnTo>
                <a:close/>
              </a:path>
            </a:pathLst>
          </a:custGeom>
          <a:blipFill>
            <a:blip r:embed="rId2"/>
            <a:stretch>
              <a:fillRect l="-154" t="0" r="-1387" b="0"/>
            </a:stretch>
          </a:blipFill>
        </p:spPr>
      </p:sp>
      <p:sp>
        <p:nvSpPr>
          <p:cNvPr name="Freeform 4" id="4"/>
          <p:cNvSpPr/>
          <p:nvPr/>
        </p:nvSpPr>
        <p:spPr>
          <a:xfrm flipH="false" flipV="false" rot="0">
            <a:off x="6688312" y="9847696"/>
            <a:ext cx="584339" cy="490452"/>
          </a:xfrm>
          <a:custGeom>
            <a:avLst/>
            <a:gdLst/>
            <a:ahLst/>
            <a:cxnLst/>
            <a:rect r="r" b="b" t="t" l="l"/>
            <a:pathLst>
              <a:path h="490452" w="584339">
                <a:moveTo>
                  <a:pt x="0" y="0"/>
                </a:moveTo>
                <a:lnTo>
                  <a:pt x="584340" y="0"/>
                </a:lnTo>
                <a:lnTo>
                  <a:pt x="584340" y="490452"/>
                </a:lnTo>
                <a:lnTo>
                  <a:pt x="0" y="490452"/>
                </a:lnTo>
                <a:lnTo>
                  <a:pt x="0" y="0"/>
                </a:lnTo>
                <a:close/>
              </a:path>
            </a:pathLst>
          </a:custGeom>
          <a:blipFill>
            <a:blip r:embed="rId3"/>
            <a:stretch>
              <a:fillRect l="-6287" t="-6658" r="-8382" b="-29963"/>
            </a:stretch>
          </a:blipFill>
        </p:spPr>
      </p:sp>
      <p:sp>
        <p:nvSpPr>
          <p:cNvPr name="Freeform 5" id="5"/>
          <p:cNvSpPr/>
          <p:nvPr/>
        </p:nvSpPr>
        <p:spPr>
          <a:xfrm flipH="false" flipV="false" rot="0">
            <a:off x="960857" y="1628034"/>
            <a:ext cx="5843177" cy="2668634"/>
          </a:xfrm>
          <a:custGeom>
            <a:avLst/>
            <a:gdLst/>
            <a:ahLst/>
            <a:cxnLst/>
            <a:rect r="r" b="b" t="t" l="l"/>
            <a:pathLst>
              <a:path h="2668634" w="5843177">
                <a:moveTo>
                  <a:pt x="0" y="0"/>
                </a:moveTo>
                <a:lnTo>
                  <a:pt x="5843177" y="0"/>
                </a:lnTo>
                <a:lnTo>
                  <a:pt x="5843177" y="2668634"/>
                </a:lnTo>
                <a:lnTo>
                  <a:pt x="0" y="2668634"/>
                </a:lnTo>
                <a:lnTo>
                  <a:pt x="0" y="0"/>
                </a:lnTo>
                <a:close/>
              </a:path>
            </a:pathLst>
          </a:custGeom>
          <a:blipFill>
            <a:blip r:embed="rId4"/>
            <a:stretch>
              <a:fillRect l="0" t="-8816" r="0" b="-19524"/>
            </a:stretch>
          </a:blipFill>
        </p:spPr>
      </p:sp>
      <p:sp>
        <p:nvSpPr>
          <p:cNvPr name="Freeform 6" id="6"/>
          <p:cNvSpPr/>
          <p:nvPr/>
        </p:nvSpPr>
        <p:spPr>
          <a:xfrm flipH="false" flipV="false" rot="0">
            <a:off x="756000" y="4455600"/>
            <a:ext cx="3159179" cy="2501458"/>
          </a:xfrm>
          <a:custGeom>
            <a:avLst/>
            <a:gdLst/>
            <a:ahLst/>
            <a:cxnLst/>
            <a:rect r="r" b="b" t="t" l="l"/>
            <a:pathLst>
              <a:path h="2501458" w="3159179">
                <a:moveTo>
                  <a:pt x="0" y="0"/>
                </a:moveTo>
                <a:lnTo>
                  <a:pt x="3159179" y="0"/>
                </a:lnTo>
                <a:lnTo>
                  <a:pt x="3159179" y="2501458"/>
                </a:lnTo>
                <a:lnTo>
                  <a:pt x="0" y="2501458"/>
                </a:lnTo>
                <a:lnTo>
                  <a:pt x="0" y="0"/>
                </a:lnTo>
                <a:close/>
              </a:path>
            </a:pathLst>
          </a:custGeom>
          <a:blipFill>
            <a:blip r:embed="rId5"/>
            <a:stretch>
              <a:fillRect l="-2394" t="0" r="-38133" b="0"/>
            </a:stretch>
          </a:blipFill>
        </p:spPr>
      </p:sp>
      <p:sp>
        <p:nvSpPr>
          <p:cNvPr name="Freeform 7" id="7"/>
          <p:cNvSpPr/>
          <p:nvPr/>
        </p:nvSpPr>
        <p:spPr>
          <a:xfrm flipH="false" flipV="false" rot="0">
            <a:off x="3980097" y="4405253"/>
            <a:ext cx="2805585" cy="2437505"/>
          </a:xfrm>
          <a:custGeom>
            <a:avLst/>
            <a:gdLst/>
            <a:ahLst/>
            <a:cxnLst/>
            <a:rect r="r" b="b" t="t" l="l"/>
            <a:pathLst>
              <a:path h="2437505" w="2805585">
                <a:moveTo>
                  <a:pt x="0" y="0"/>
                </a:moveTo>
                <a:lnTo>
                  <a:pt x="2805584" y="0"/>
                </a:lnTo>
                <a:lnTo>
                  <a:pt x="2805584" y="2437505"/>
                </a:lnTo>
                <a:lnTo>
                  <a:pt x="0" y="2437505"/>
                </a:lnTo>
                <a:lnTo>
                  <a:pt x="0" y="0"/>
                </a:lnTo>
                <a:close/>
              </a:path>
            </a:pathLst>
          </a:custGeom>
          <a:blipFill>
            <a:blip r:embed="rId6"/>
            <a:stretch>
              <a:fillRect l="-45262" t="0" r="-3066" b="0"/>
            </a:stretch>
          </a:blipFill>
        </p:spPr>
      </p:sp>
      <p:sp>
        <p:nvSpPr>
          <p:cNvPr name="TextBox 8" id="8"/>
          <p:cNvSpPr txBox="true"/>
          <p:nvPr/>
        </p:nvSpPr>
        <p:spPr>
          <a:xfrm rot="0">
            <a:off x="736600" y="7589079"/>
            <a:ext cx="3340992" cy="1259762"/>
          </a:xfrm>
          <a:prstGeom prst="rect">
            <a:avLst/>
          </a:prstGeom>
        </p:spPr>
        <p:txBody>
          <a:bodyPr anchor="t" rtlCol="false" tIns="0" lIns="0" bIns="0" rIns="0">
            <a:spAutoFit/>
          </a:bodyPr>
          <a:lstStyle/>
          <a:p>
            <a:pPr algn="just">
              <a:lnSpc>
                <a:spcPts val="1964"/>
              </a:lnSpc>
            </a:pPr>
            <a:r>
              <a:rPr lang="en-US" sz="1403">
                <a:solidFill>
                  <a:srgbClr val="000001"/>
                </a:solidFill>
                <a:latin typeface="Overpass"/>
                <a:ea typeface="Overpass"/>
                <a:cs typeface="Overpass"/>
                <a:sym typeface="Overpass"/>
              </a:rPr>
              <a:t>By providing hands-on training and fostering entrepreneurial abilities, the initiative empowers participants to pursue sustainable livelihoods and achieve economic self-reliance. </a:t>
            </a:r>
          </a:p>
        </p:txBody>
      </p:sp>
      <p:sp>
        <p:nvSpPr>
          <p:cNvPr name="TextBox 9" id="9"/>
          <p:cNvSpPr txBox="true"/>
          <p:nvPr/>
        </p:nvSpPr>
        <p:spPr>
          <a:xfrm rot="0">
            <a:off x="762401" y="1026066"/>
            <a:ext cx="2114550" cy="210107"/>
          </a:xfrm>
          <a:prstGeom prst="rect">
            <a:avLst/>
          </a:prstGeom>
        </p:spPr>
        <p:txBody>
          <a:bodyPr anchor="t" rtlCol="false" tIns="0" lIns="0" bIns="0" rIns="0">
            <a:spAutoFit/>
          </a:bodyPr>
          <a:lstStyle/>
          <a:p>
            <a:pPr algn="l">
              <a:lnSpc>
                <a:spcPts val="1544"/>
              </a:lnSpc>
            </a:pPr>
            <a:r>
              <a:rPr lang="en-US" sz="1103">
                <a:solidFill>
                  <a:srgbClr val="000001"/>
                </a:solidFill>
                <a:latin typeface="Overpass"/>
                <a:ea typeface="Overpass"/>
                <a:cs typeface="Overpass"/>
                <a:sym typeface="Overpass"/>
              </a:rPr>
              <a:t>ANNUAL REPORT</a:t>
            </a:r>
          </a:p>
        </p:txBody>
      </p:sp>
      <p:sp>
        <p:nvSpPr>
          <p:cNvPr name="TextBox 10" id="10"/>
          <p:cNvSpPr txBox="true"/>
          <p:nvPr/>
        </p:nvSpPr>
        <p:spPr>
          <a:xfrm rot="0">
            <a:off x="4671131" y="1026066"/>
            <a:ext cx="2114550" cy="210107"/>
          </a:xfrm>
          <a:prstGeom prst="rect">
            <a:avLst/>
          </a:prstGeom>
        </p:spPr>
        <p:txBody>
          <a:bodyPr anchor="t" rtlCol="false" tIns="0" lIns="0" bIns="0" rIns="0">
            <a:spAutoFit/>
          </a:bodyPr>
          <a:lstStyle/>
          <a:p>
            <a:pPr algn="r">
              <a:lnSpc>
                <a:spcPts val="1544"/>
              </a:lnSpc>
            </a:pPr>
            <a:r>
              <a:rPr lang="en-US" sz="1103">
                <a:solidFill>
                  <a:srgbClr val="000001"/>
                </a:solidFill>
                <a:latin typeface="Overpass"/>
                <a:ea typeface="Overpass"/>
                <a:cs typeface="Overpass"/>
                <a:sym typeface="Overpass"/>
              </a:rPr>
              <a:t>YEAR 2024-25</a:t>
            </a:r>
          </a:p>
        </p:txBody>
      </p:sp>
      <p:sp>
        <p:nvSpPr>
          <p:cNvPr name="TextBox 11" id="11"/>
          <p:cNvSpPr txBox="true"/>
          <p:nvPr/>
        </p:nvSpPr>
        <p:spPr>
          <a:xfrm rot="0">
            <a:off x="775628" y="471373"/>
            <a:ext cx="5564305" cy="210107"/>
          </a:xfrm>
          <a:prstGeom prst="rect">
            <a:avLst/>
          </a:prstGeom>
        </p:spPr>
        <p:txBody>
          <a:bodyPr anchor="t" rtlCol="false" tIns="0" lIns="0" bIns="0" rIns="0">
            <a:spAutoFit/>
          </a:bodyPr>
          <a:lstStyle/>
          <a:p>
            <a:pPr algn="l">
              <a:lnSpc>
                <a:spcPts val="1544"/>
              </a:lnSpc>
            </a:pPr>
            <a:r>
              <a:rPr lang="en-US" sz="1103">
                <a:solidFill>
                  <a:srgbClr val="000001"/>
                </a:solidFill>
                <a:latin typeface="Overpass"/>
                <a:ea typeface="Overpass"/>
                <a:cs typeface="Overpass"/>
                <a:sym typeface="Overpass"/>
              </a:rPr>
              <a:t>MUNAWWAR FOUNDATION-"ILLUMINATING HEARTS, TRANSFORMING FUTURES"</a:t>
            </a:r>
          </a:p>
        </p:txBody>
      </p:sp>
      <p:sp>
        <p:nvSpPr>
          <p:cNvPr name="TextBox 12" id="12"/>
          <p:cNvSpPr txBox="true"/>
          <p:nvPr/>
        </p:nvSpPr>
        <p:spPr>
          <a:xfrm rot="0">
            <a:off x="4246097" y="7341429"/>
            <a:ext cx="2799045" cy="1755062"/>
          </a:xfrm>
          <a:prstGeom prst="rect">
            <a:avLst/>
          </a:prstGeom>
        </p:spPr>
        <p:txBody>
          <a:bodyPr anchor="t" rtlCol="false" tIns="0" lIns="0" bIns="0" rIns="0">
            <a:spAutoFit/>
          </a:bodyPr>
          <a:lstStyle/>
          <a:p>
            <a:pPr algn="just">
              <a:lnSpc>
                <a:spcPts val="1964"/>
              </a:lnSpc>
            </a:pPr>
            <a:r>
              <a:rPr lang="en-US" sz="1403">
                <a:solidFill>
                  <a:srgbClr val="000001"/>
                </a:solidFill>
                <a:latin typeface="Overpass"/>
                <a:ea typeface="Overpass"/>
                <a:cs typeface="Overpass"/>
                <a:sym typeface="Overpass"/>
              </a:rPr>
              <a:t>With a commitment to community development, the Munawwar Foundation aims to create opportunities for growth and success, enabling individuals to build better futures through the art of men’s apparel making.</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399FAD"/>
        </a:solidFill>
      </p:bgPr>
    </p:bg>
    <p:spTree>
      <p:nvGrpSpPr>
        <p:cNvPr id="1" name=""/>
        <p:cNvGrpSpPr/>
        <p:nvPr/>
      </p:nvGrpSpPr>
      <p:grpSpPr>
        <a:xfrm>
          <a:off x="0" y="0"/>
          <a:ext cx="0" cy="0"/>
          <a:chOff x="0" y="0"/>
          <a:chExt cx="0" cy="0"/>
        </a:xfrm>
      </p:grpSpPr>
      <p:grpSp>
        <p:nvGrpSpPr>
          <p:cNvPr name="Group 2" id="2"/>
          <p:cNvGrpSpPr/>
          <p:nvPr/>
        </p:nvGrpSpPr>
        <p:grpSpPr>
          <a:xfrm rot="0">
            <a:off x="-276458" y="5604086"/>
            <a:ext cx="8121505" cy="5376300"/>
            <a:chOff x="0" y="0"/>
            <a:chExt cx="2910564" cy="1926745"/>
          </a:xfrm>
        </p:grpSpPr>
        <p:sp>
          <p:nvSpPr>
            <p:cNvPr name="Freeform 3" id="3"/>
            <p:cNvSpPr/>
            <p:nvPr/>
          </p:nvSpPr>
          <p:spPr>
            <a:xfrm flipH="false" flipV="false" rot="0">
              <a:off x="0" y="0"/>
              <a:ext cx="2910564" cy="1926745"/>
            </a:xfrm>
            <a:custGeom>
              <a:avLst/>
              <a:gdLst/>
              <a:ahLst/>
              <a:cxnLst/>
              <a:rect r="r" b="b" t="t" l="l"/>
              <a:pathLst>
                <a:path h="1926745" w="2910564">
                  <a:moveTo>
                    <a:pt x="0" y="0"/>
                  </a:moveTo>
                  <a:lnTo>
                    <a:pt x="2910564" y="0"/>
                  </a:lnTo>
                  <a:lnTo>
                    <a:pt x="2910564" y="1926745"/>
                  </a:lnTo>
                  <a:lnTo>
                    <a:pt x="0" y="1926745"/>
                  </a:lnTo>
                  <a:close/>
                </a:path>
              </a:pathLst>
            </a:custGeom>
            <a:solidFill>
              <a:srgbClr val="FFFFFF"/>
            </a:solidFill>
          </p:spPr>
        </p:sp>
        <p:sp>
          <p:nvSpPr>
            <p:cNvPr name="TextBox 4" id="4"/>
            <p:cNvSpPr txBox="true"/>
            <p:nvPr/>
          </p:nvSpPr>
          <p:spPr>
            <a:xfrm>
              <a:off x="0" y="-47625"/>
              <a:ext cx="2910564" cy="1974370"/>
            </a:xfrm>
            <a:prstGeom prst="rect">
              <a:avLst/>
            </a:prstGeom>
          </p:spPr>
          <p:txBody>
            <a:bodyPr anchor="ctr" rtlCol="false" tIns="50800" lIns="50800" bIns="50800" rIns="50800"/>
            <a:lstStyle/>
            <a:p>
              <a:pPr algn="ctr">
                <a:lnSpc>
                  <a:spcPts val="1544"/>
                </a:lnSpc>
              </a:pPr>
            </a:p>
          </p:txBody>
        </p:sp>
      </p:grpSp>
      <p:sp>
        <p:nvSpPr>
          <p:cNvPr name="AutoShape 5" id="5"/>
          <p:cNvSpPr/>
          <p:nvPr/>
        </p:nvSpPr>
        <p:spPr>
          <a:xfrm>
            <a:off x="762401" y="756000"/>
            <a:ext cx="6023281" cy="0"/>
          </a:xfrm>
          <a:prstGeom prst="line">
            <a:avLst/>
          </a:prstGeom>
          <a:ln cap="flat" w="28575">
            <a:solidFill>
              <a:srgbClr val="FFFFFF"/>
            </a:solidFill>
            <a:prstDash val="solid"/>
            <a:headEnd type="none" len="sm" w="sm"/>
            <a:tailEnd type="none" len="sm" w="sm"/>
          </a:ln>
        </p:spPr>
      </p:sp>
      <p:sp>
        <p:nvSpPr>
          <p:cNvPr name="Freeform 6" id="6"/>
          <p:cNvSpPr/>
          <p:nvPr/>
        </p:nvSpPr>
        <p:spPr>
          <a:xfrm flipH="false" flipV="false" rot="0">
            <a:off x="6688312" y="9847696"/>
            <a:ext cx="584339" cy="490452"/>
          </a:xfrm>
          <a:custGeom>
            <a:avLst/>
            <a:gdLst/>
            <a:ahLst/>
            <a:cxnLst/>
            <a:rect r="r" b="b" t="t" l="l"/>
            <a:pathLst>
              <a:path h="490452" w="584339">
                <a:moveTo>
                  <a:pt x="0" y="0"/>
                </a:moveTo>
                <a:lnTo>
                  <a:pt x="584340" y="0"/>
                </a:lnTo>
                <a:lnTo>
                  <a:pt x="584340" y="490452"/>
                </a:lnTo>
                <a:lnTo>
                  <a:pt x="0" y="490452"/>
                </a:lnTo>
                <a:lnTo>
                  <a:pt x="0" y="0"/>
                </a:lnTo>
                <a:close/>
              </a:path>
            </a:pathLst>
          </a:custGeom>
          <a:blipFill>
            <a:blip r:embed="rId2"/>
            <a:stretch>
              <a:fillRect l="-6287" t="-6658" r="-8382" b="-29963"/>
            </a:stretch>
          </a:blipFill>
        </p:spPr>
      </p:sp>
      <p:sp>
        <p:nvSpPr>
          <p:cNvPr name="Freeform 7" id="7"/>
          <p:cNvSpPr/>
          <p:nvPr/>
        </p:nvSpPr>
        <p:spPr>
          <a:xfrm flipH="false" flipV="false" rot="0">
            <a:off x="871688" y="1974691"/>
            <a:ext cx="6688312" cy="3880855"/>
          </a:xfrm>
          <a:custGeom>
            <a:avLst/>
            <a:gdLst/>
            <a:ahLst/>
            <a:cxnLst/>
            <a:rect r="r" b="b" t="t" l="l"/>
            <a:pathLst>
              <a:path h="3880855" w="6688312">
                <a:moveTo>
                  <a:pt x="0" y="0"/>
                </a:moveTo>
                <a:lnTo>
                  <a:pt x="6688312" y="0"/>
                </a:lnTo>
                <a:lnTo>
                  <a:pt x="6688312" y="3880855"/>
                </a:lnTo>
                <a:lnTo>
                  <a:pt x="0" y="3880855"/>
                </a:lnTo>
                <a:lnTo>
                  <a:pt x="0" y="0"/>
                </a:lnTo>
                <a:close/>
              </a:path>
            </a:pathLst>
          </a:custGeom>
          <a:blipFill>
            <a:blip r:embed="rId3"/>
            <a:stretch>
              <a:fillRect l="0" t="-9238" r="0" b="-2759"/>
            </a:stretch>
          </a:blipFill>
        </p:spPr>
      </p:sp>
      <p:sp>
        <p:nvSpPr>
          <p:cNvPr name="TextBox 8" id="8"/>
          <p:cNvSpPr txBox="true"/>
          <p:nvPr/>
        </p:nvSpPr>
        <p:spPr>
          <a:xfrm rot="0">
            <a:off x="3784295" y="7300154"/>
            <a:ext cx="2934000" cy="2498012"/>
          </a:xfrm>
          <a:prstGeom prst="rect">
            <a:avLst/>
          </a:prstGeom>
        </p:spPr>
        <p:txBody>
          <a:bodyPr anchor="t" rtlCol="false" tIns="0" lIns="0" bIns="0" rIns="0">
            <a:spAutoFit/>
          </a:bodyPr>
          <a:lstStyle/>
          <a:p>
            <a:pPr algn="just">
              <a:lnSpc>
                <a:spcPts val="1964"/>
              </a:lnSpc>
            </a:pPr>
            <a:r>
              <a:rPr lang="en-US" sz="1403">
                <a:solidFill>
                  <a:srgbClr val="000001"/>
                </a:solidFill>
                <a:latin typeface="Overpass"/>
                <a:ea typeface="Overpass"/>
                <a:cs typeface="Overpass"/>
                <a:sym typeface="Overpass"/>
              </a:rPr>
              <a:t>By promoting healthy relationships, empathy, and the importance of consent, the Munawwar Foundation works to reshape societal norms and empower men to become active participants in ending violence. The goal of this campaign is to foster a culture of respect, equality, and non-violence, ensuring a safer future for all.</a:t>
            </a:r>
          </a:p>
        </p:txBody>
      </p:sp>
      <p:sp>
        <p:nvSpPr>
          <p:cNvPr name="TextBox 9" id="9"/>
          <p:cNvSpPr txBox="true"/>
          <p:nvPr/>
        </p:nvSpPr>
        <p:spPr>
          <a:xfrm rot="0">
            <a:off x="762401" y="1026066"/>
            <a:ext cx="2114550" cy="210107"/>
          </a:xfrm>
          <a:prstGeom prst="rect">
            <a:avLst/>
          </a:prstGeom>
        </p:spPr>
        <p:txBody>
          <a:bodyPr anchor="t" rtlCol="false" tIns="0" lIns="0" bIns="0" rIns="0">
            <a:spAutoFit/>
          </a:bodyPr>
          <a:lstStyle/>
          <a:p>
            <a:pPr algn="l">
              <a:lnSpc>
                <a:spcPts val="1544"/>
              </a:lnSpc>
            </a:pPr>
            <a:r>
              <a:rPr lang="en-US" sz="1103">
                <a:solidFill>
                  <a:srgbClr val="FFFFFF"/>
                </a:solidFill>
                <a:latin typeface="Overpass"/>
                <a:ea typeface="Overpass"/>
                <a:cs typeface="Overpass"/>
                <a:sym typeface="Overpass"/>
              </a:rPr>
              <a:t>ANNUAL REPORT</a:t>
            </a:r>
          </a:p>
        </p:txBody>
      </p:sp>
      <p:sp>
        <p:nvSpPr>
          <p:cNvPr name="TextBox 10" id="10"/>
          <p:cNvSpPr txBox="true"/>
          <p:nvPr/>
        </p:nvSpPr>
        <p:spPr>
          <a:xfrm rot="0">
            <a:off x="4671131" y="1026066"/>
            <a:ext cx="2114550" cy="210107"/>
          </a:xfrm>
          <a:prstGeom prst="rect">
            <a:avLst/>
          </a:prstGeom>
        </p:spPr>
        <p:txBody>
          <a:bodyPr anchor="t" rtlCol="false" tIns="0" lIns="0" bIns="0" rIns="0">
            <a:spAutoFit/>
          </a:bodyPr>
          <a:lstStyle/>
          <a:p>
            <a:pPr algn="r">
              <a:lnSpc>
                <a:spcPts val="1544"/>
              </a:lnSpc>
            </a:pPr>
            <a:r>
              <a:rPr lang="en-US" sz="1103">
                <a:solidFill>
                  <a:srgbClr val="FFFFFF"/>
                </a:solidFill>
                <a:latin typeface="Overpass"/>
                <a:ea typeface="Overpass"/>
                <a:cs typeface="Overpass"/>
                <a:sym typeface="Overpass"/>
              </a:rPr>
              <a:t>YEAR 2024-25</a:t>
            </a:r>
          </a:p>
        </p:txBody>
      </p:sp>
      <p:sp>
        <p:nvSpPr>
          <p:cNvPr name="TextBox 11" id="11"/>
          <p:cNvSpPr txBox="true"/>
          <p:nvPr/>
        </p:nvSpPr>
        <p:spPr>
          <a:xfrm rot="0">
            <a:off x="775628" y="471373"/>
            <a:ext cx="5564305" cy="210107"/>
          </a:xfrm>
          <a:prstGeom prst="rect">
            <a:avLst/>
          </a:prstGeom>
        </p:spPr>
        <p:txBody>
          <a:bodyPr anchor="t" rtlCol="false" tIns="0" lIns="0" bIns="0" rIns="0">
            <a:spAutoFit/>
          </a:bodyPr>
          <a:lstStyle/>
          <a:p>
            <a:pPr algn="l">
              <a:lnSpc>
                <a:spcPts val="1544"/>
              </a:lnSpc>
            </a:pPr>
            <a:r>
              <a:rPr lang="en-US" sz="1103">
                <a:solidFill>
                  <a:srgbClr val="FFFFFF"/>
                </a:solidFill>
                <a:latin typeface="Overpass"/>
                <a:ea typeface="Overpass"/>
                <a:cs typeface="Overpass"/>
                <a:sym typeface="Overpass"/>
              </a:rPr>
              <a:t>MUNAWWAR FOUNDATION-"ILLUMINATING HEARTS, TRANSFORMING FUTURES"</a:t>
            </a:r>
          </a:p>
        </p:txBody>
      </p:sp>
      <p:sp>
        <p:nvSpPr>
          <p:cNvPr name="TextBox 12" id="12"/>
          <p:cNvSpPr txBox="true"/>
          <p:nvPr/>
        </p:nvSpPr>
        <p:spPr>
          <a:xfrm rot="0">
            <a:off x="668022" y="6190888"/>
            <a:ext cx="5436556" cy="936625"/>
          </a:xfrm>
          <a:prstGeom prst="rect">
            <a:avLst/>
          </a:prstGeom>
        </p:spPr>
        <p:txBody>
          <a:bodyPr anchor="t" rtlCol="false" tIns="0" lIns="0" bIns="0" rIns="0">
            <a:spAutoFit/>
          </a:bodyPr>
          <a:lstStyle/>
          <a:p>
            <a:pPr algn="l">
              <a:lnSpc>
                <a:spcPts val="3960"/>
              </a:lnSpc>
            </a:pPr>
            <a:r>
              <a:rPr lang="en-US" sz="3600" b="true">
                <a:solidFill>
                  <a:srgbClr val="399FAD"/>
                </a:solidFill>
                <a:latin typeface="Cloud Condensed Bold"/>
                <a:ea typeface="Cloud Condensed Bold"/>
                <a:cs typeface="Cloud Condensed Bold"/>
                <a:sym typeface="Cloud Condensed Bold"/>
              </a:rPr>
              <a:t>MALE AWARENESS CAMPAIGN</a:t>
            </a:r>
          </a:p>
          <a:p>
            <a:pPr algn="l" marL="0" indent="0" lvl="0">
              <a:lnSpc>
                <a:spcPts val="3190"/>
              </a:lnSpc>
              <a:spcBef>
                <a:spcPct val="0"/>
              </a:spcBef>
            </a:pPr>
            <a:r>
              <a:rPr lang="en-US" b="true" sz="2900">
                <a:solidFill>
                  <a:srgbClr val="399FAD"/>
                </a:solidFill>
                <a:latin typeface="Cloud Condensed Bold"/>
                <a:ea typeface="Cloud Condensed Bold"/>
                <a:cs typeface="Cloud Condensed Bold"/>
                <a:sym typeface="Cloud Condensed Bold"/>
              </a:rPr>
              <a:t>-AGAINST RAPE AND VIOLENCE</a:t>
            </a:r>
          </a:p>
        </p:txBody>
      </p:sp>
      <p:sp>
        <p:nvSpPr>
          <p:cNvPr name="TextBox 13" id="13"/>
          <p:cNvSpPr txBox="true"/>
          <p:nvPr/>
        </p:nvSpPr>
        <p:spPr>
          <a:xfrm rot="0">
            <a:off x="668022" y="7300154"/>
            <a:ext cx="2934000" cy="2498012"/>
          </a:xfrm>
          <a:prstGeom prst="rect">
            <a:avLst/>
          </a:prstGeom>
        </p:spPr>
        <p:txBody>
          <a:bodyPr anchor="t" rtlCol="false" tIns="0" lIns="0" bIns="0" rIns="0">
            <a:spAutoFit/>
          </a:bodyPr>
          <a:lstStyle/>
          <a:p>
            <a:pPr algn="just">
              <a:lnSpc>
                <a:spcPts val="1964"/>
              </a:lnSpc>
            </a:pPr>
            <a:r>
              <a:rPr lang="en-US" sz="1403">
                <a:solidFill>
                  <a:srgbClr val="000001"/>
                </a:solidFill>
                <a:latin typeface="Overpass"/>
                <a:ea typeface="Overpass"/>
                <a:cs typeface="Overpass"/>
                <a:sym typeface="Overpass"/>
              </a:rPr>
              <a:t>This campaign aims to raise awareness about the critical issues of rape, domestic violence, and their societal impact. Through educational workshops, community outreach, and media campaigns, the program challenges harmful stereotypes and encourages men to take responsibility for creating a safe and respectful environment. </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399FAD"/>
        </a:solidFill>
      </p:bgPr>
    </p:bg>
    <p:spTree>
      <p:nvGrpSpPr>
        <p:cNvPr id="1" name=""/>
        <p:cNvGrpSpPr/>
        <p:nvPr/>
      </p:nvGrpSpPr>
      <p:grpSpPr>
        <a:xfrm>
          <a:off x="0" y="0"/>
          <a:ext cx="0" cy="0"/>
          <a:chOff x="0" y="0"/>
          <a:chExt cx="0" cy="0"/>
        </a:xfrm>
      </p:grpSpPr>
      <p:grpSp>
        <p:nvGrpSpPr>
          <p:cNvPr name="Group 2" id="2"/>
          <p:cNvGrpSpPr/>
          <p:nvPr/>
        </p:nvGrpSpPr>
        <p:grpSpPr>
          <a:xfrm rot="0">
            <a:off x="-276458" y="5604086"/>
            <a:ext cx="8121505" cy="5376300"/>
            <a:chOff x="0" y="0"/>
            <a:chExt cx="2910564" cy="1926745"/>
          </a:xfrm>
        </p:grpSpPr>
        <p:sp>
          <p:nvSpPr>
            <p:cNvPr name="Freeform 3" id="3"/>
            <p:cNvSpPr/>
            <p:nvPr/>
          </p:nvSpPr>
          <p:spPr>
            <a:xfrm flipH="false" flipV="false" rot="0">
              <a:off x="0" y="0"/>
              <a:ext cx="2910564" cy="1926745"/>
            </a:xfrm>
            <a:custGeom>
              <a:avLst/>
              <a:gdLst/>
              <a:ahLst/>
              <a:cxnLst/>
              <a:rect r="r" b="b" t="t" l="l"/>
              <a:pathLst>
                <a:path h="1926745" w="2910564">
                  <a:moveTo>
                    <a:pt x="0" y="0"/>
                  </a:moveTo>
                  <a:lnTo>
                    <a:pt x="2910564" y="0"/>
                  </a:lnTo>
                  <a:lnTo>
                    <a:pt x="2910564" y="1926745"/>
                  </a:lnTo>
                  <a:lnTo>
                    <a:pt x="0" y="1926745"/>
                  </a:lnTo>
                  <a:close/>
                </a:path>
              </a:pathLst>
            </a:custGeom>
            <a:solidFill>
              <a:srgbClr val="FFFFFF"/>
            </a:solidFill>
          </p:spPr>
        </p:sp>
        <p:sp>
          <p:nvSpPr>
            <p:cNvPr name="TextBox 4" id="4"/>
            <p:cNvSpPr txBox="true"/>
            <p:nvPr/>
          </p:nvSpPr>
          <p:spPr>
            <a:xfrm>
              <a:off x="0" y="-47625"/>
              <a:ext cx="2910564" cy="1974370"/>
            </a:xfrm>
            <a:prstGeom prst="rect">
              <a:avLst/>
            </a:prstGeom>
          </p:spPr>
          <p:txBody>
            <a:bodyPr anchor="ctr" rtlCol="false" tIns="50800" lIns="50800" bIns="50800" rIns="50800"/>
            <a:lstStyle/>
            <a:p>
              <a:pPr algn="ctr">
                <a:lnSpc>
                  <a:spcPts val="1544"/>
                </a:lnSpc>
              </a:pPr>
            </a:p>
          </p:txBody>
        </p:sp>
      </p:grpSp>
      <p:sp>
        <p:nvSpPr>
          <p:cNvPr name="AutoShape 5" id="5"/>
          <p:cNvSpPr/>
          <p:nvPr/>
        </p:nvSpPr>
        <p:spPr>
          <a:xfrm>
            <a:off x="762401" y="756000"/>
            <a:ext cx="6023281" cy="0"/>
          </a:xfrm>
          <a:prstGeom prst="line">
            <a:avLst/>
          </a:prstGeom>
          <a:ln cap="flat" w="28575">
            <a:solidFill>
              <a:srgbClr val="FFFFFF"/>
            </a:solidFill>
            <a:prstDash val="solid"/>
            <a:headEnd type="none" len="sm" w="sm"/>
            <a:tailEnd type="none" len="sm" w="sm"/>
          </a:ln>
        </p:spPr>
      </p:sp>
      <p:sp>
        <p:nvSpPr>
          <p:cNvPr name="Freeform 6" id="6"/>
          <p:cNvSpPr/>
          <p:nvPr/>
        </p:nvSpPr>
        <p:spPr>
          <a:xfrm flipH="false" flipV="false" rot="0">
            <a:off x="6688312" y="9847696"/>
            <a:ext cx="584339" cy="490452"/>
          </a:xfrm>
          <a:custGeom>
            <a:avLst/>
            <a:gdLst/>
            <a:ahLst/>
            <a:cxnLst/>
            <a:rect r="r" b="b" t="t" l="l"/>
            <a:pathLst>
              <a:path h="490452" w="584339">
                <a:moveTo>
                  <a:pt x="0" y="0"/>
                </a:moveTo>
                <a:lnTo>
                  <a:pt x="584340" y="0"/>
                </a:lnTo>
                <a:lnTo>
                  <a:pt x="584340" y="490452"/>
                </a:lnTo>
                <a:lnTo>
                  <a:pt x="0" y="490452"/>
                </a:lnTo>
                <a:lnTo>
                  <a:pt x="0" y="0"/>
                </a:lnTo>
                <a:close/>
              </a:path>
            </a:pathLst>
          </a:custGeom>
          <a:blipFill>
            <a:blip r:embed="rId2"/>
            <a:stretch>
              <a:fillRect l="-6287" t="-6658" r="-8382" b="-29963"/>
            </a:stretch>
          </a:blipFill>
        </p:spPr>
      </p:sp>
      <p:sp>
        <p:nvSpPr>
          <p:cNvPr name="Freeform 7" id="7"/>
          <p:cNvSpPr/>
          <p:nvPr/>
        </p:nvSpPr>
        <p:spPr>
          <a:xfrm flipH="false" flipV="false" rot="0">
            <a:off x="871688" y="1974691"/>
            <a:ext cx="6688312" cy="3877354"/>
          </a:xfrm>
          <a:custGeom>
            <a:avLst/>
            <a:gdLst/>
            <a:ahLst/>
            <a:cxnLst/>
            <a:rect r="r" b="b" t="t" l="l"/>
            <a:pathLst>
              <a:path h="3877354" w="6688312">
                <a:moveTo>
                  <a:pt x="0" y="0"/>
                </a:moveTo>
                <a:lnTo>
                  <a:pt x="6688312" y="0"/>
                </a:lnTo>
                <a:lnTo>
                  <a:pt x="6688312" y="3877354"/>
                </a:lnTo>
                <a:lnTo>
                  <a:pt x="0" y="3877354"/>
                </a:lnTo>
                <a:lnTo>
                  <a:pt x="0" y="0"/>
                </a:lnTo>
                <a:close/>
              </a:path>
            </a:pathLst>
          </a:custGeom>
          <a:blipFill>
            <a:blip r:embed="rId3"/>
            <a:stretch>
              <a:fillRect l="-389" t="-5666" r="-389" b="0"/>
            </a:stretch>
          </a:blipFill>
        </p:spPr>
      </p:sp>
      <p:sp>
        <p:nvSpPr>
          <p:cNvPr name="TextBox 8" id="8"/>
          <p:cNvSpPr txBox="true"/>
          <p:nvPr/>
        </p:nvSpPr>
        <p:spPr>
          <a:xfrm rot="0">
            <a:off x="3784295" y="7025833"/>
            <a:ext cx="2934000" cy="2993312"/>
          </a:xfrm>
          <a:prstGeom prst="rect">
            <a:avLst/>
          </a:prstGeom>
        </p:spPr>
        <p:txBody>
          <a:bodyPr anchor="t" rtlCol="false" tIns="0" lIns="0" bIns="0" rIns="0">
            <a:spAutoFit/>
          </a:bodyPr>
          <a:lstStyle/>
          <a:p>
            <a:pPr algn="just">
              <a:lnSpc>
                <a:spcPts val="1964"/>
              </a:lnSpc>
            </a:pPr>
            <a:r>
              <a:rPr lang="en-US" sz="1403">
                <a:solidFill>
                  <a:srgbClr val="000001"/>
                </a:solidFill>
                <a:latin typeface="Overpass"/>
                <a:ea typeface="Overpass"/>
                <a:cs typeface="Overpass"/>
                <a:sym typeface="Overpass"/>
              </a:rPr>
              <a:t>By addressing critical aspects of women's health, the initiative seeks to empower women to lead healthier lives and make informed decisions about their bodies.</a:t>
            </a:r>
          </a:p>
          <a:p>
            <a:pPr algn="just">
              <a:lnSpc>
                <a:spcPts val="1964"/>
              </a:lnSpc>
            </a:pPr>
            <a:r>
              <a:rPr lang="en-US" sz="1403">
                <a:solidFill>
                  <a:srgbClr val="000001"/>
                </a:solidFill>
                <a:latin typeface="Overpass"/>
                <a:ea typeface="Overpass"/>
                <a:cs typeface="Overpass"/>
                <a:sym typeface="Overpass"/>
              </a:rPr>
              <a:t>The Munawwar Foundation strives to create a supportive environment where women can learn about and discuss health issues openly, ultimately contributing to improved quality of life and health outcomes for women in the community.</a:t>
            </a:r>
          </a:p>
        </p:txBody>
      </p:sp>
      <p:sp>
        <p:nvSpPr>
          <p:cNvPr name="TextBox 9" id="9"/>
          <p:cNvSpPr txBox="true"/>
          <p:nvPr/>
        </p:nvSpPr>
        <p:spPr>
          <a:xfrm rot="0">
            <a:off x="762401" y="1026066"/>
            <a:ext cx="2114550" cy="210107"/>
          </a:xfrm>
          <a:prstGeom prst="rect">
            <a:avLst/>
          </a:prstGeom>
        </p:spPr>
        <p:txBody>
          <a:bodyPr anchor="t" rtlCol="false" tIns="0" lIns="0" bIns="0" rIns="0">
            <a:spAutoFit/>
          </a:bodyPr>
          <a:lstStyle/>
          <a:p>
            <a:pPr algn="l">
              <a:lnSpc>
                <a:spcPts val="1544"/>
              </a:lnSpc>
            </a:pPr>
            <a:r>
              <a:rPr lang="en-US" sz="1103">
                <a:solidFill>
                  <a:srgbClr val="FFFFFF"/>
                </a:solidFill>
                <a:latin typeface="Overpass"/>
                <a:ea typeface="Overpass"/>
                <a:cs typeface="Overpass"/>
                <a:sym typeface="Overpass"/>
              </a:rPr>
              <a:t>ANNUAL REPORT</a:t>
            </a:r>
          </a:p>
        </p:txBody>
      </p:sp>
      <p:sp>
        <p:nvSpPr>
          <p:cNvPr name="TextBox 10" id="10"/>
          <p:cNvSpPr txBox="true"/>
          <p:nvPr/>
        </p:nvSpPr>
        <p:spPr>
          <a:xfrm rot="0">
            <a:off x="4671131" y="1026066"/>
            <a:ext cx="2114550" cy="210107"/>
          </a:xfrm>
          <a:prstGeom prst="rect">
            <a:avLst/>
          </a:prstGeom>
        </p:spPr>
        <p:txBody>
          <a:bodyPr anchor="t" rtlCol="false" tIns="0" lIns="0" bIns="0" rIns="0">
            <a:spAutoFit/>
          </a:bodyPr>
          <a:lstStyle/>
          <a:p>
            <a:pPr algn="r">
              <a:lnSpc>
                <a:spcPts val="1544"/>
              </a:lnSpc>
            </a:pPr>
            <a:r>
              <a:rPr lang="en-US" sz="1103">
                <a:solidFill>
                  <a:srgbClr val="FFFFFF"/>
                </a:solidFill>
                <a:latin typeface="Overpass"/>
                <a:ea typeface="Overpass"/>
                <a:cs typeface="Overpass"/>
                <a:sym typeface="Overpass"/>
              </a:rPr>
              <a:t>YEAR 2024-25</a:t>
            </a:r>
          </a:p>
        </p:txBody>
      </p:sp>
      <p:sp>
        <p:nvSpPr>
          <p:cNvPr name="TextBox 11" id="11"/>
          <p:cNvSpPr txBox="true"/>
          <p:nvPr/>
        </p:nvSpPr>
        <p:spPr>
          <a:xfrm rot="0">
            <a:off x="775628" y="471373"/>
            <a:ext cx="5564305" cy="210107"/>
          </a:xfrm>
          <a:prstGeom prst="rect">
            <a:avLst/>
          </a:prstGeom>
        </p:spPr>
        <p:txBody>
          <a:bodyPr anchor="t" rtlCol="false" tIns="0" lIns="0" bIns="0" rIns="0">
            <a:spAutoFit/>
          </a:bodyPr>
          <a:lstStyle/>
          <a:p>
            <a:pPr algn="l">
              <a:lnSpc>
                <a:spcPts val="1544"/>
              </a:lnSpc>
            </a:pPr>
            <a:r>
              <a:rPr lang="en-US" sz="1103">
                <a:solidFill>
                  <a:srgbClr val="FFFFFF"/>
                </a:solidFill>
                <a:latin typeface="Overpass"/>
                <a:ea typeface="Overpass"/>
                <a:cs typeface="Overpass"/>
                <a:sym typeface="Overpass"/>
              </a:rPr>
              <a:t>MUNAWWAR FOUNDATION-"ILLUMINATING HEARTS, TRANSFORMING FUTURES"</a:t>
            </a:r>
          </a:p>
        </p:txBody>
      </p:sp>
      <p:sp>
        <p:nvSpPr>
          <p:cNvPr name="TextBox 12" id="12"/>
          <p:cNvSpPr txBox="true"/>
          <p:nvPr/>
        </p:nvSpPr>
        <p:spPr>
          <a:xfrm rot="0">
            <a:off x="668022" y="5947295"/>
            <a:ext cx="4583273" cy="1036320"/>
          </a:xfrm>
          <a:prstGeom prst="rect">
            <a:avLst/>
          </a:prstGeom>
        </p:spPr>
        <p:txBody>
          <a:bodyPr anchor="t" rtlCol="false" tIns="0" lIns="0" bIns="0" rIns="0">
            <a:spAutoFit/>
          </a:bodyPr>
          <a:lstStyle/>
          <a:p>
            <a:pPr algn="l" marL="0" indent="0" lvl="0">
              <a:lnSpc>
                <a:spcPts val="3960"/>
              </a:lnSpc>
              <a:spcBef>
                <a:spcPct val="0"/>
              </a:spcBef>
            </a:pPr>
            <a:r>
              <a:rPr lang="en-US" b="true" sz="3600">
                <a:solidFill>
                  <a:srgbClr val="399FAD"/>
                </a:solidFill>
                <a:latin typeface="Cloud Condensed Bold"/>
                <a:ea typeface="Cloud Condensed Bold"/>
                <a:cs typeface="Cloud Condensed Bold"/>
                <a:sym typeface="Cloud Condensed Bold"/>
              </a:rPr>
              <a:t>WOMEN'S SANITATION &amp; WELLNESS PROGRAM</a:t>
            </a:r>
          </a:p>
        </p:txBody>
      </p:sp>
      <p:sp>
        <p:nvSpPr>
          <p:cNvPr name="TextBox 13" id="13"/>
          <p:cNvSpPr txBox="true"/>
          <p:nvPr/>
        </p:nvSpPr>
        <p:spPr>
          <a:xfrm rot="0">
            <a:off x="668022" y="7025833"/>
            <a:ext cx="2934000" cy="2498012"/>
          </a:xfrm>
          <a:prstGeom prst="rect">
            <a:avLst/>
          </a:prstGeom>
        </p:spPr>
        <p:txBody>
          <a:bodyPr anchor="t" rtlCol="false" tIns="0" lIns="0" bIns="0" rIns="0">
            <a:spAutoFit/>
          </a:bodyPr>
          <a:lstStyle/>
          <a:p>
            <a:pPr algn="just">
              <a:lnSpc>
                <a:spcPts val="1964"/>
              </a:lnSpc>
            </a:pPr>
            <a:r>
              <a:rPr lang="en-US" sz="1403">
                <a:solidFill>
                  <a:srgbClr val="000001"/>
                </a:solidFill>
                <a:latin typeface="Overpass"/>
                <a:ea typeface="Overpass"/>
                <a:cs typeface="Overpass"/>
                <a:sym typeface="Overpass"/>
              </a:rPr>
              <a:t>The Women's Sanitation and Wellness Program by the Munawwar Foundation is a dedicated initiative aimed at enhancing women's health through comprehensive education and access to essential resources. This program focuses on providing women with the knowledge and tools necessary to maintain proper hygiene and overall well-being. </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399FAD"/>
        </a:solidFill>
      </p:bgPr>
    </p:bg>
    <p:spTree>
      <p:nvGrpSpPr>
        <p:cNvPr id="1" name=""/>
        <p:cNvGrpSpPr/>
        <p:nvPr/>
      </p:nvGrpSpPr>
      <p:grpSpPr>
        <a:xfrm>
          <a:off x="0" y="0"/>
          <a:ext cx="0" cy="0"/>
          <a:chOff x="0" y="0"/>
          <a:chExt cx="0" cy="0"/>
        </a:xfrm>
      </p:grpSpPr>
      <p:grpSp>
        <p:nvGrpSpPr>
          <p:cNvPr name="Group 2" id="2"/>
          <p:cNvGrpSpPr/>
          <p:nvPr/>
        </p:nvGrpSpPr>
        <p:grpSpPr>
          <a:xfrm rot="0">
            <a:off x="-276458" y="5604086"/>
            <a:ext cx="8121505" cy="5376300"/>
            <a:chOff x="0" y="0"/>
            <a:chExt cx="2910564" cy="1926745"/>
          </a:xfrm>
        </p:grpSpPr>
        <p:sp>
          <p:nvSpPr>
            <p:cNvPr name="Freeform 3" id="3"/>
            <p:cNvSpPr/>
            <p:nvPr/>
          </p:nvSpPr>
          <p:spPr>
            <a:xfrm flipH="false" flipV="false" rot="0">
              <a:off x="0" y="0"/>
              <a:ext cx="2910564" cy="1926745"/>
            </a:xfrm>
            <a:custGeom>
              <a:avLst/>
              <a:gdLst/>
              <a:ahLst/>
              <a:cxnLst/>
              <a:rect r="r" b="b" t="t" l="l"/>
              <a:pathLst>
                <a:path h="1926745" w="2910564">
                  <a:moveTo>
                    <a:pt x="0" y="0"/>
                  </a:moveTo>
                  <a:lnTo>
                    <a:pt x="2910564" y="0"/>
                  </a:lnTo>
                  <a:lnTo>
                    <a:pt x="2910564" y="1926745"/>
                  </a:lnTo>
                  <a:lnTo>
                    <a:pt x="0" y="1926745"/>
                  </a:lnTo>
                  <a:close/>
                </a:path>
              </a:pathLst>
            </a:custGeom>
            <a:solidFill>
              <a:srgbClr val="FFFFFF"/>
            </a:solidFill>
          </p:spPr>
        </p:sp>
        <p:sp>
          <p:nvSpPr>
            <p:cNvPr name="TextBox 4" id="4"/>
            <p:cNvSpPr txBox="true"/>
            <p:nvPr/>
          </p:nvSpPr>
          <p:spPr>
            <a:xfrm>
              <a:off x="0" y="-47625"/>
              <a:ext cx="2910564" cy="1974370"/>
            </a:xfrm>
            <a:prstGeom prst="rect">
              <a:avLst/>
            </a:prstGeom>
          </p:spPr>
          <p:txBody>
            <a:bodyPr anchor="ctr" rtlCol="false" tIns="50800" lIns="50800" bIns="50800" rIns="50800"/>
            <a:lstStyle/>
            <a:p>
              <a:pPr algn="ctr">
                <a:lnSpc>
                  <a:spcPts val="1544"/>
                </a:lnSpc>
              </a:pPr>
            </a:p>
          </p:txBody>
        </p:sp>
      </p:grpSp>
      <p:sp>
        <p:nvSpPr>
          <p:cNvPr name="AutoShape 5" id="5"/>
          <p:cNvSpPr/>
          <p:nvPr/>
        </p:nvSpPr>
        <p:spPr>
          <a:xfrm>
            <a:off x="762401" y="756000"/>
            <a:ext cx="6023281" cy="0"/>
          </a:xfrm>
          <a:prstGeom prst="line">
            <a:avLst/>
          </a:prstGeom>
          <a:ln cap="flat" w="28575">
            <a:solidFill>
              <a:srgbClr val="FFFFFF"/>
            </a:solidFill>
            <a:prstDash val="solid"/>
            <a:headEnd type="none" len="sm" w="sm"/>
            <a:tailEnd type="none" len="sm" w="sm"/>
          </a:ln>
        </p:spPr>
      </p:sp>
      <p:sp>
        <p:nvSpPr>
          <p:cNvPr name="Freeform 6" id="6"/>
          <p:cNvSpPr/>
          <p:nvPr/>
        </p:nvSpPr>
        <p:spPr>
          <a:xfrm flipH="false" flipV="false" rot="0">
            <a:off x="6688312" y="9847696"/>
            <a:ext cx="584339" cy="490452"/>
          </a:xfrm>
          <a:custGeom>
            <a:avLst/>
            <a:gdLst/>
            <a:ahLst/>
            <a:cxnLst/>
            <a:rect r="r" b="b" t="t" l="l"/>
            <a:pathLst>
              <a:path h="490452" w="584339">
                <a:moveTo>
                  <a:pt x="0" y="0"/>
                </a:moveTo>
                <a:lnTo>
                  <a:pt x="584340" y="0"/>
                </a:lnTo>
                <a:lnTo>
                  <a:pt x="584340" y="490452"/>
                </a:lnTo>
                <a:lnTo>
                  <a:pt x="0" y="490452"/>
                </a:lnTo>
                <a:lnTo>
                  <a:pt x="0" y="0"/>
                </a:lnTo>
                <a:close/>
              </a:path>
            </a:pathLst>
          </a:custGeom>
          <a:blipFill>
            <a:blip r:embed="rId2"/>
            <a:stretch>
              <a:fillRect l="-6287" t="-6658" r="-8382" b="-29963"/>
            </a:stretch>
          </a:blipFill>
        </p:spPr>
      </p:sp>
      <p:sp>
        <p:nvSpPr>
          <p:cNvPr name="Freeform 7" id="7"/>
          <p:cNvSpPr/>
          <p:nvPr/>
        </p:nvSpPr>
        <p:spPr>
          <a:xfrm flipH="false" flipV="false" rot="0">
            <a:off x="871688" y="1974691"/>
            <a:ext cx="6688312" cy="3877354"/>
          </a:xfrm>
          <a:custGeom>
            <a:avLst/>
            <a:gdLst/>
            <a:ahLst/>
            <a:cxnLst/>
            <a:rect r="r" b="b" t="t" l="l"/>
            <a:pathLst>
              <a:path h="3877354" w="6688312">
                <a:moveTo>
                  <a:pt x="0" y="0"/>
                </a:moveTo>
                <a:lnTo>
                  <a:pt x="6688312" y="0"/>
                </a:lnTo>
                <a:lnTo>
                  <a:pt x="6688312" y="3877354"/>
                </a:lnTo>
                <a:lnTo>
                  <a:pt x="0" y="3877354"/>
                </a:lnTo>
                <a:lnTo>
                  <a:pt x="0" y="0"/>
                </a:lnTo>
                <a:close/>
              </a:path>
            </a:pathLst>
          </a:custGeom>
          <a:blipFill>
            <a:blip r:embed="rId3"/>
            <a:stretch>
              <a:fillRect l="0" t="-13678" r="0" b="-11972"/>
            </a:stretch>
          </a:blipFill>
        </p:spPr>
      </p:sp>
      <p:sp>
        <p:nvSpPr>
          <p:cNvPr name="TextBox 8" id="8"/>
          <p:cNvSpPr txBox="true"/>
          <p:nvPr/>
        </p:nvSpPr>
        <p:spPr>
          <a:xfrm rot="0">
            <a:off x="3784295" y="7025833"/>
            <a:ext cx="2934000" cy="2993312"/>
          </a:xfrm>
          <a:prstGeom prst="rect">
            <a:avLst/>
          </a:prstGeom>
        </p:spPr>
        <p:txBody>
          <a:bodyPr anchor="t" rtlCol="false" tIns="0" lIns="0" bIns="0" rIns="0">
            <a:spAutoFit/>
          </a:bodyPr>
          <a:lstStyle/>
          <a:p>
            <a:pPr algn="just">
              <a:lnSpc>
                <a:spcPts val="1964"/>
              </a:lnSpc>
            </a:pPr>
            <a:r>
              <a:rPr lang="en-US" sz="1403">
                <a:solidFill>
                  <a:srgbClr val="000001"/>
                </a:solidFill>
                <a:latin typeface="Overpass"/>
                <a:ea typeface="Overpass"/>
                <a:cs typeface="Overpass"/>
                <a:sym typeface="Overpass"/>
              </a:rPr>
              <a:t>Through engaging sessions led by legal experts and advocates, participants are provided with practical information on how to access legal aid, report violations, and safeguard their rights.</a:t>
            </a:r>
          </a:p>
          <a:p>
            <a:pPr algn="just">
              <a:lnSpc>
                <a:spcPts val="1964"/>
              </a:lnSpc>
            </a:pPr>
            <a:r>
              <a:rPr lang="en-US" sz="1403">
                <a:solidFill>
                  <a:srgbClr val="000001"/>
                </a:solidFill>
                <a:latin typeface="Overpass"/>
                <a:ea typeface="Overpass"/>
                <a:cs typeface="Overpass"/>
                <a:sym typeface="Overpass"/>
              </a:rPr>
              <a:t>The seminar also fosters discussions about societal challenges and solutions, encouraging women to become proactive in advocating for justice and fairness. By building legal literacy and confidence,</a:t>
            </a:r>
          </a:p>
        </p:txBody>
      </p:sp>
      <p:sp>
        <p:nvSpPr>
          <p:cNvPr name="TextBox 9" id="9"/>
          <p:cNvSpPr txBox="true"/>
          <p:nvPr/>
        </p:nvSpPr>
        <p:spPr>
          <a:xfrm rot="0">
            <a:off x="762401" y="1026066"/>
            <a:ext cx="2114550" cy="210107"/>
          </a:xfrm>
          <a:prstGeom prst="rect">
            <a:avLst/>
          </a:prstGeom>
        </p:spPr>
        <p:txBody>
          <a:bodyPr anchor="t" rtlCol="false" tIns="0" lIns="0" bIns="0" rIns="0">
            <a:spAutoFit/>
          </a:bodyPr>
          <a:lstStyle/>
          <a:p>
            <a:pPr algn="l">
              <a:lnSpc>
                <a:spcPts val="1544"/>
              </a:lnSpc>
            </a:pPr>
            <a:r>
              <a:rPr lang="en-US" sz="1103">
                <a:solidFill>
                  <a:srgbClr val="FFFFFF"/>
                </a:solidFill>
                <a:latin typeface="Overpass"/>
                <a:ea typeface="Overpass"/>
                <a:cs typeface="Overpass"/>
                <a:sym typeface="Overpass"/>
              </a:rPr>
              <a:t>ANNUAL REPORT</a:t>
            </a:r>
          </a:p>
        </p:txBody>
      </p:sp>
      <p:sp>
        <p:nvSpPr>
          <p:cNvPr name="TextBox 10" id="10"/>
          <p:cNvSpPr txBox="true"/>
          <p:nvPr/>
        </p:nvSpPr>
        <p:spPr>
          <a:xfrm rot="0">
            <a:off x="4671131" y="1026066"/>
            <a:ext cx="2114550" cy="210107"/>
          </a:xfrm>
          <a:prstGeom prst="rect">
            <a:avLst/>
          </a:prstGeom>
        </p:spPr>
        <p:txBody>
          <a:bodyPr anchor="t" rtlCol="false" tIns="0" lIns="0" bIns="0" rIns="0">
            <a:spAutoFit/>
          </a:bodyPr>
          <a:lstStyle/>
          <a:p>
            <a:pPr algn="r">
              <a:lnSpc>
                <a:spcPts val="1544"/>
              </a:lnSpc>
            </a:pPr>
            <a:r>
              <a:rPr lang="en-US" sz="1103">
                <a:solidFill>
                  <a:srgbClr val="FFFFFF"/>
                </a:solidFill>
                <a:latin typeface="Overpass"/>
                <a:ea typeface="Overpass"/>
                <a:cs typeface="Overpass"/>
                <a:sym typeface="Overpass"/>
              </a:rPr>
              <a:t>YEAR 2024-25</a:t>
            </a:r>
          </a:p>
        </p:txBody>
      </p:sp>
      <p:sp>
        <p:nvSpPr>
          <p:cNvPr name="TextBox 11" id="11"/>
          <p:cNvSpPr txBox="true"/>
          <p:nvPr/>
        </p:nvSpPr>
        <p:spPr>
          <a:xfrm rot="0">
            <a:off x="775628" y="471373"/>
            <a:ext cx="5564305" cy="210107"/>
          </a:xfrm>
          <a:prstGeom prst="rect">
            <a:avLst/>
          </a:prstGeom>
        </p:spPr>
        <p:txBody>
          <a:bodyPr anchor="t" rtlCol="false" tIns="0" lIns="0" bIns="0" rIns="0">
            <a:spAutoFit/>
          </a:bodyPr>
          <a:lstStyle/>
          <a:p>
            <a:pPr algn="l">
              <a:lnSpc>
                <a:spcPts val="1544"/>
              </a:lnSpc>
            </a:pPr>
            <a:r>
              <a:rPr lang="en-US" sz="1103">
                <a:solidFill>
                  <a:srgbClr val="FFFFFF"/>
                </a:solidFill>
                <a:latin typeface="Overpass"/>
                <a:ea typeface="Overpass"/>
                <a:cs typeface="Overpass"/>
                <a:sym typeface="Overpass"/>
              </a:rPr>
              <a:t>MUNAWWAR FOUNDATION-"ILLUMINATING HEARTS, TRANSFORMING FUTURES"</a:t>
            </a:r>
          </a:p>
        </p:txBody>
      </p:sp>
      <p:sp>
        <p:nvSpPr>
          <p:cNvPr name="TextBox 12" id="12"/>
          <p:cNvSpPr txBox="true"/>
          <p:nvPr/>
        </p:nvSpPr>
        <p:spPr>
          <a:xfrm rot="0">
            <a:off x="668022" y="5947295"/>
            <a:ext cx="5505294" cy="1036320"/>
          </a:xfrm>
          <a:prstGeom prst="rect">
            <a:avLst/>
          </a:prstGeom>
        </p:spPr>
        <p:txBody>
          <a:bodyPr anchor="t" rtlCol="false" tIns="0" lIns="0" bIns="0" rIns="0">
            <a:spAutoFit/>
          </a:bodyPr>
          <a:lstStyle/>
          <a:p>
            <a:pPr algn="l">
              <a:lnSpc>
                <a:spcPts val="3960"/>
              </a:lnSpc>
            </a:pPr>
            <a:r>
              <a:rPr lang="en-US" sz="3600" b="true">
                <a:solidFill>
                  <a:srgbClr val="399FAD"/>
                </a:solidFill>
                <a:latin typeface="Cloud Condensed Bold"/>
                <a:ea typeface="Cloud Condensed Bold"/>
                <a:cs typeface="Cloud Condensed Bold"/>
                <a:sym typeface="Cloud Condensed Bold"/>
              </a:rPr>
              <a:t>WOMEN'S RIGHTS &amp; </a:t>
            </a:r>
          </a:p>
          <a:p>
            <a:pPr algn="l" marL="0" indent="0" lvl="0">
              <a:lnSpc>
                <a:spcPts val="3960"/>
              </a:lnSpc>
              <a:spcBef>
                <a:spcPct val="0"/>
              </a:spcBef>
            </a:pPr>
            <a:r>
              <a:rPr lang="en-US" b="true" sz="3600">
                <a:solidFill>
                  <a:srgbClr val="399FAD"/>
                </a:solidFill>
                <a:latin typeface="Cloud Condensed Bold"/>
                <a:ea typeface="Cloud Condensed Bold"/>
                <a:cs typeface="Cloud Condensed Bold"/>
                <a:sym typeface="Cloud Condensed Bold"/>
              </a:rPr>
              <a:t>LEGAL AWARENESS SEMINAR </a:t>
            </a:r>
          </a:p>
        </p:txBody>
      </p:sp>
      <p:sp>
        <p:nvSpPr>
          <p:cNvPr name="TextBox 13" id="13"/>
          <p:cNvSpPr txBox="true"/>
          <p:nvPr/>
        </p:nvSpPr>
        <p:spPr>
          <a:xfrm rot="0">
            <a:off x="668022" y="7025833"/>
            <a:ext cx="2934000" cy="2993312"/>
          </a:xfrm>
          <a:prstGeom prst="rect">
            <a:avLst/>
          </a:prstGeom>
        </p:spPr>
        <p:txBody>
          <a:bodyPr anchor="t" rtlCol="false" tIns="0" lIns="0" bIns="0" rIns="0">
            <a:spAutoFit/>
          </a:bodyPr>
          <a:lstStyle/>
          <a:p>
            <a:pPr algn="just">
              <a:lnSpc>
                <a:spcPts val="1964"/>
              </a:lnSpc>
            </a:pPr>
            <a:r>
              <a:rPr lang="en-US" sz="1403">
                <a:solidFill>
                  <a:srgbClr val="000001"/>
                </a:solidFill>
                <a:latin typeface="Overpass"/>
                <a:ea typeface="Overpass"/>
                <a:cs typeface="Overpass"/>
                <a:sym typeface="Overpass"/>
              </a:rPr>
              <a:t>The Women’s Rights and Legal Awareness Seminar by the Munawwar Foundation is a transformative initiative designed to empower women with knowledge about their rights and the legal protections available to them. This seminar aims to educate women about critical issues, including laws against domestic violence, workplace harassment, property rights, and gender equality.</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399FAD"/>
        </a:solidFill>
      </p:bgPr>
    </p:bg>
    <p:spTree>
      <p:nvGrpSpPr>
        <p:cNvPr id="1" name=""/>
        <p:cNvGrpSpPr/>
        <p:nvPr/>
      </p:nvGrpSpPr>
      <p:grpSpPr>
        <a:xfrm>
          <a:off x="0" y="0"/>
          <a:ext cx="0" cy="0"/>
          <a:chOff x="0" y="0"/>
          <a:chExt cx="0" cy="0"/>
        </a:xfrm>
      </p:grpSpPr>
      <p:grpSp>
        <p:nvGrpSpPr>
          <p:cNvPr name="Group 2" id="2"/>
          <p:cNvGrpSpPr/>
          <p:nvPr/>
        </p:nvGrpSpPr>
        <p:grpSpPr>
          <a:xfrm rot="0">
            <a:off x="-276458" y="5604086"/>
            <a:ext cx="8121505" cy="5376300"/>
            <a:chOff x="0" y="0"/>
            <a:chExt cx="2910564" cy="1926745"/>
          </a:xfrm>
        </p:grpSpPr>
        <p:sp>
          <p:nvSpPr>
            <p:cNvPr name="Freeform 3" id="3"/>
            <p:cNvSpPr/>
            <p:nvPr/>
          </p:nvSpPr>
          <p:spPr>
            <a:xfrm flipH="false" flipV="false" rot="0">
              <a:off x="0" y="0"/>
              <a:ext cx="2910564" cy="1926745"/>
            </a:xfrm>
            <a:custGeom>
              <a:avLst/>
              <a:gdLst/>
              <a:ahLst/>
              <a:cxnLst/>
              <a:rect r="r" b="b" t="t" l="l"/>
              <a:pathLst>
                <a:path h="1926745" w="2910564">
                  <a:moveTo>
                    <a:pt x="0" y="0"/>
                  </a:moveTo>
                  <a:lnTo>
                    <a:pt x="2910564" y="0"/>
                  </a:lnTo>
                  <a:lnTo>
                    <a:pt x="2910564" y="1926745"/>
                  </a:lnTo>
                  <a:lnTo>
                    <a:pt x="0" y="1926745"/>
                  </a:lnTo>
                  <a:close/>
                </a:path>
              </a:pathLst>
            </a:custGeom>
            <a:solidFill>
              <a:srgbClr val="FFFFFF"/>
            </a:solidFill>
          </p:spPr>
        </p:sp>
        <p:sp>
          <p:nvSpPr>
            <p:cNvPr name="TextBox 4" id="4"/>
            <p:cNvSpPr txBox="true"/>
            <p:nvPr/>
          </p:nvSpPr>
          <p:spPr>
            <a:xfrm>
              <a:off x="0" y="-47625"/>
              <a:ext cx="2910564" cy="1974370"/>
            </a:xfrm>
            <a:prstGeom prst="rect">
              <a:avLst/>
            </a:prstGeom>
          </p:spPr>
          <p:txBody>
            <a:bodyPr anchor="ctr" rtlCol="false" tIns="50800" lIns="50800" bIns="50800" rIns="50800"/>
            <a:lstStyle/>
            <a:p>
              <a:pPr algn="ctr">
                <a:lnSpc>
                  <a:spcPts val="1544"/>
                </a:lnSpc>
              </a:pPr>
            </a:p>
          </p:txBody>
        </p:sp>
      </p:grpSp>
      <p:sp>
        <p:nvSpPr>
          <p:cNvPr name="AutoShape 5" id="5"/>
          <p:cNvSpPr/>
          <p:nvPr/>
        </p:nvSpPr>
        <p:spPr>
          <a:xfrm>
            <a:off x="762401" y="756000"/>
            <a:ext cx="6023281" cy="0"/>
          </a:xfrm>
          <a:prstGeom prst="line">
            <a:avLst/>
          </a:prstGeom>
          <a:ln cap="flat" w="28575">
            <a:solidFill>
              <a:srgbClr val="FFFFFF"/>
            </a:solidFill>
            <a:prstDash val="solid"/>
            <a:headEnd type="none" len="sm" w="sm"/>
            <a:tailEnd type="none" len="sm" w="sm"/>
          </a:ln>
        </p:spPr>
      </p:sp>
      <p:sp>
        <p:nvSpPr>
          <p:cNvPr name="Freeform 6" id="6"/>
          <p:cNvSpPr/>
          <p:nvPr/>
        </p:nvSpPr>
        <p:spPr>
          <a:xfrm flipH="false" flipV="false" rot="0">
            <a:off x="6688312" y="9847696"/>
            <a:ext cx="584339" cy="490452"/>
          </a:xfrm>
          <a:custGeom>
            <a:avLst/>
            <a:gdLst/>
            <a:ahLst/>
            <a:cxnLst/>
            <a:rect r="r" b="b" t="t" l="l"/>
            <a:pathLst>
              <a:path h="490452" w="584339">
                <a:moveTo>
                  <a:pt x="0" y="0"/>
                </a:moveTo>
                <a:lnTo>
                  <a:pt x="584340" y="0"/>
                </a:lnTo>
                <a:lnTo>
                  <a:pt x="584340" y="490452"/>
                </a:lnTo>
                <a:lnTo>
                  <a:pt x="0" y="490452"/>
                </a:lnTo>
                <a:lnTo>
                  <a:pt x="0" y="0"/>
                </a:lnTo>
                <a:close/>
              </a:path>
            </a:pathLst>
          </a:custGeom>
          <a:blipFill>
            <a:blip r:embed="rId2"/>
            <a:stretch>
              <a:fillRect l="-6287" t="-6658" r="-8382" b="-29963"/>
            </a:stretch>
          </a:blipFill>
        </p:spPr>
      </p:sp>
      <p:sp>
        <p:nvSpPr>
          <p:cNvPr name="Freeform 7" id="7"/>
          <p:cNvSpPr/>
          <p:nvPr/>
        </p:nvSpPr>
        <p:spPr>
          <a:xfrm flipH="false" flipV="false" rot="0">
            <a:off x="871688" y="1974691"/>
            <a:ext cx="6688312" cy="3877354"/>
          </a:xfrm>
          <a:custGeom>
            <a:avLst/>
            <a:gdLst/>
            <a:ahLst/>
            <a:cxnLst/>
            <a:rect r="r" b="b" t="t" l="l"/>
            <a:pathLst>
              <a:path h="3877354" w="6688312">
                <a:moveTo>
                  <a:pt x="0" y="0"/>
                </a:moveTo>
                <a:lnTo>
                  <a:pt x="6688312" y="0"/>
                </a:lnTo>
                <a:lnTo>
                  <a:pt x="6688312" y="3877354"/>
                </a:lnTo>
                <a:lnTo>
                  <a:pt x="0" y="3877354"/>
                </a:lnTo>
                <a:lnTo>
                  <a:pt x="0" y="0"/>
                </a:lnTo>
                <a:close/>
              </a:path>
            </a:pathLst>
          </a:custGeom>
          <a:blipFill>
            <a:blip r:embed="rId3"/>
            <a:stretch>
              <a:fillRect l="0" t="-12284" r="0" b="-12284"/>
            </a:stretch>
          </a:blipFill>
        </p:spPr>
      </p:sp>
      <p:sp>
        <p:nvSpPr>
          <p:cNvPr name="TextBox 8" id="8"/>
          <p:cNvSpPr txBox="true"/>
          <p:nvPr/>
        </p:nvSpPr>
        <p:spPr>
          <a:xfrm rot="0">
            <a:off x="3780000" y="8316413"/>
            <a:ext cx="2934000" cy="1259762"/>
          </a:xfrm>
          <a:prstGeom prst="rect">
            <a:avLst/>
          </a:prstGeom>
        </p:spPr>
        <p:txBody>
          <a:bodyPr anchor="t" rtlCol="false" tIns="0" lIns="0" bIns="0" rIns="0">
            <a:spAutoFit/>
          </a:bodyPr>
          <a:lstStyle/>
          <a:p>
            <a:pPr algn="just">
              <a:lnSpc>
                <a:spcPts val="1964"/>
              </a:lnSpc>
            </a:pPr>
            <a:r>
              <a:rPr lang="en-US" sz="1403">
                <a:solidFill>
                  <a:srgbClr val="000001"/>
                </a:solidFill>
                <a:latin typeface="Overpass"/>
                <a:ea typeface="Overpass"/>
                <a:cs typeface="Overpass"/>
                <a:sym typeface="Overpass"/>
              </a:rPr>
              <a:t>This program focuses on fostering entrepreneurial thinking, teaching es</a:t>
            </a:r>
            <a:r>
              <a:rPr lang="en-US" sz="1403">
                <a:solidFill>
                  <a:srgbClr val="000001"/>
                </a:solidFill>
                <a:latin typeface="Overpass"/>
                <a:ea typeface="Overpass"/>
                <a:cs typeface="Overpass"/>
                <a:sym typeface="Overpass"/>
              </a:rPr>
              <a:t>sential skills such as business planning, market analysis, and effective communication.</a:t>
            </a:r>
          </a:p>
        </p:txBody>
      </p:sp>
      <p:sp>
        <p:nvSpPr>
          <p:cNvPr name="TextBox 9" id="9"/>
          <p:cNvSpPr txBox="true"/>
          <p:nvPr/>
        </p:nvSpPr>
        <p:spPr>
          <a:xfrm rot="0">
            <a:off x="762401" y="1026066"/>
            <a:ext cx="2114550" cy="210107"/>
          </a:xfrm>
          <a:prstGeom prst="rect">
            <a:avLst/>
          </a:prstGeom>
        </p:spPr>
        <p:txBody>
          <a:bodyPr anchor="t" rtlCol="false" tIns="0" lIns="0" bIns="0" rIns="0">
            <a:spAutoFit/>
          </a:bodyPr>
          <a:lstStyle/>
          <a:p>
            <a:pPr algn="l">
              <a:lnSpc>
                <a:spcPts val="1544"/>
              </a:lnSpc>
            </a:pPr>
            <a:r>
              <a:rPr lang="en-US" sz="1103">
                <a:solidFill>
                  <a:srgbClr val="FFFFFF"/>
                </a:solidFill>
                <a:latin typeface="Overpass"/>
                <a:ea typeface="Overpass"/>
                <a:cs typeface="Overpass"/>
                <a:sym typeface="Overpass"/>
              </a:rPr>
              <a:t>ANNUAL REPORT</a:t>
            </a:r>
          </a:p>
        </p:txBody>
      </p:sp>
      <p:sp>
        <p:nvSpPr>
          <p:cNvPr name="TextBox 10" id="10"/>
          <p:cNvSpPr txBox="true"/>
          <p:nvPr/>
        </p:nvSpPr>
        <p:spPr>
          <a:xfrm rot="0">
            <a:off x="4671131" y="1026066"/>
            <a:ext cx="2114550" cy="210107"/>
          </a:xfrm>
          <a:prstGeom prst="rect">
            <a:avLst/>
          </a:prstGeom>
        </p:spPr>
        <p:txBody>
          <a:bodyPr anchor="t" rtlCol="false" tIns="0" lIns="0" bIns="0" rIns="0">
            <a:spAutoFit/>
          </a:bodyPr>
          <a:lstStyle/>
          <a:p>
            <a:pPr algn="r">
              <a:lnSpc>
                <a:spcPts val="1544"/>
              </a:lnSpc>
            </a:pPr>
            <a:r>
              <a:rPr lang="en-US" sz="1103">
                <a:solidFill>
                  <a:srgbClr val="FFFFFF"/>
                </a:solidFill>
                <a:latin typeface="Overpass"/>
                <a:ea typeface="Overpass"/>
                <a:cs typeface="Overpass"/>
                <a:sym typeface="Overpass"/>
              </a:rPr>
              <a:t>YEAR 2024-25</a:t>
            </a:r>
          </a:p>
        </p:txBody>
      </p:sp>
      <p:sp>
        <p:nvSpPr>
          <p:cNvPr name="TextBox 11" id="11"/>
          <p:cNvSpPr txBox="true"/>
          <p:nvPr/>
        </p:nvSpPr>
        <p:spPr>
          <a:xfrm rot="0">
            <a:off x="775628" y="471373"/>
            <a:ext cx="5564305" cy="210107"/>
          </a:xfrm>
          <a:prstGeom prst="rect">
            <a:avLst/>
          </a:prstGeom>
        </p:spPr>
        <p:txBody>
          <a:bodyPr anchor="t" rtlCol="false" tIns="0" lIns="0" bIns="0" rIns="0">
            <a:spAutoFit/>
          </a:bodyPr>
          <a:lstStyle/>
          <a:p>
            <a:pPr algn="l">
              <a:lnSpc>
                <a:spcPts val="1544"/>
              </a:lnSpc>
            </a:pPr>
            <a:r>
              <a:rPr lang="en-US" sz="1103">
                <a:solidFill>
                  <a:srgbClr val="FFFFFF"/>
                </a:solidFill>
                <a:latin typeface="Overpass"/>
                <a:ea typeface="Overpass"/>
                <a:cs typeface="Overpass"/>
                <a:sym typeface="Overpass"/>
              </a:rPr>
              <a:t>MUNAWWAR FOUNDATION-"ILLUMINATING HEARTS, TRANSFORMING FUTURES"</a:t>
            </a:r>
          </a:p>
        </p:txBody>
      </p:sp>
      <p:sp>
        <p:nvSpPr>
          <p:cNvPr name="TextBox 12" id="12"/>
          <p:cNvSpPr txBox="true"/>
          <p:nvPr/>
        </p:nvSpPr>
        <p:spPr>
          <a:xfrm rot="0">
            <a:off x="668022" y="6192845"/>
            <a:ext cx="5505294" cy="1036320"/>
          </a:xfrm>
          <a:prstGeom prst="rect">
            <a:avLst/>
          </a:prstGeom>
        </p:spPr>
        <p:txBody>
          <a:bodyPr anchor="t" rtlCol="false" tIns="0" lIns="0" bIns="0" rIns="0">
            <a:spAutoFit/>
          </a:bodyPr>
          <a:lstStyle/>
          <a:p>
            <a:pPr algn="l" marL="0" indent="0" lvl="0">
              <a:lnSpc>
                <a:spcPts val="3960"/>
              </a:lnSpc>
              <a:spcBef>
                <a:spcPct val="0"/>
              </a:spcBef>
            </a:pPr>
            <a:r>
              <a:rPr lang="en-US" b="true" sz="3600">
                <a:solidFill>
                  <a:srgbClr val="399FAD"/>
                </a:solidFill>
                <a:latin typeface="Cloud Condensed Bold"/>
                <a:ea typeface="Cloud Condensed Bold"/>
                <a:cs typeface="Cloud Condensed Bold"/>
                <a:sym typeface="Cloud Condensed Bold"/>
              </a:rPr>
              <a:t>START-UP SKILLS &amp; FINANCIAL AWARENESS</a:t>
            </a:r>
          </a:p>
        </p:txBody>
      </p:sp>
      <p:sp>
        <p:nvSpPr>
          <p:cNvPr name="TextBox 13" id="13"/>
          <p:cNvSpPr txBox="true"/>
          <p:nvPr/>
        </p:nvSpPr>
        <p:spPr>
          <a:xfrm rot="0">
            <a:off x="668022" y="7467457"/>
            <a:ext cx="2934000" cy="1755062"/>
          </a:xfrm>
          <a:prstGeom prst="rect">
            <a:avLst/>
          </a:prstGeom>
        </p:spPr>
        <p:txBody>
          <a:bodyPr anchor="t" rtlCol="false" tIns="0" lIns="0" bIns="0" rIns="0">
            <a:spAutoFit/>
          </a:bodyPr>
          <a:lstStyle/>
          <a:p>
            <a:pPr algn="just">
              <a:lnSpc>
                <a:spcPts val="1964"/>
              </a:lnSpc>
            </a:pPr>
            <a:r>
              <a:rPr lang="en-US" sz="1403">
                <a:solidFill>
                  <a:srgbClr val="000001"/>
                </a:solidFill>
                <a:latin typeface="Overpass"/>
                <a:ea typeface="Overpass"/>
                <a:cs typeface="Overpass"/>
                <a:sym typeface="Overpass"/>
              </a:rPr>
              <a:t>The Start-Up Skills and Financial Awareness Program by the Munawwar Foundation is an empowering initiative designed to equip individuals with the knowledge and tools needed to launch and manage successful businesses. </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75628" y="5631750"/>
            <a:ext cx="7044260" cy="5060250"/>
            <a:chOff x="0" y="0"/>
            <a:chExt cx="9392347" cy="6747000"/>
          </a:xfrm>
        </p:grpSpPr>
        <p:pic>
          <p:nvPicPr>
            <p:cNvPr name="Picture 3" id="3"/>
            <p:cNvPicPr>
              <a:picLocks noChangeAspect="true"/>
            </p:cNvPicPr>
            <p:nvPr/>
          </p:nvPicPr>
          <p:blipFill>
            <a:blip r:embed="rId2"/>
            <a:srcRect l="0" t="23061" r="0" b="23061"/>
            <a:stretch>
              <a:fillRect/>
            </a:stretch>
          </p:blipFill>
          <p:spPr>
            <a:xfrm flipH="false" flipV="false">
              <a:off x="0" y="0"/>
              <a:ext cx="9392347" cy="6747000"/>
            </a:xfrm>
            <a:prstGeom prst="rect">
              <a:avLst/>
            </a:prstGeom>
          </p:spPr>
        </p:pic>
      </p:grpSp>
      <p:sp>
        <p:nvSpPr>
          <p:cNvPr name="AutoShape 4" id="4"/>
          <p:cNvSpPr/>
          <p:nvPr/>
        </p:nvSpPr>
        <p:spPr>
          <a:xfrm flipV="true">
            <a:off x="736600" y="756000"/>
            <a:ext cx="6067400" cy="14288"/>
          </a:xfrm>
          <a:prstGeom prst="line">
            <a:avLst/>
          </a:prstGeom>
          <a:ln cap="flat" w="28575">
            <a:solidFill>
              <a:srgbClr val="000001"/>
            </a:solidFill>
            <a:prstDash val="solid"/>
            <a:headEnd type="none" len="sm" w="sm"/>
            <a:tailEnd type="none" len="sm" w="sm"/>
          </a:ln>
        </p:spPr>
      </p:sp>
      <p:sp>
        <p:nvSpPr>
          <p:cNvPr name="Freeform 5" id="5"/>
          <p:cNvSpPr/>
          <p:nvPr/>
        </p:nvSpPr>
        <p:spPr>
          <a:xfrm flipH="false" flipV="false" rot="0">
            <a:off x="6688312" y="9847696"/>
            <a:ext cx="584339" cy="490452"/>
          </a:xfrm>
          <a:custGeom>
            <a:avLst/>
            <a:gdLst/>
            <a:ahLst/>
            <a:cxnLst/>
            <a:rect r="r" b="b" t="t" l="l"/>
            <a:pathLst>
              <a:path h="490452" w="584339">
                <a:moveTo>
                  <a:pt x="0" y="0"/>
                </a:moveTo>
                <a:lnTo>
                  <a:pt x="584340" y="0"/>
                </a:lnTo>
                <a:lnTo>
                  <a:pt x="584340" y="490452"/>
                </a:lnTo>
                <a:lnTo>
                  <a:pt x="0" y="490452"/>
                </a:lnTo>
                <a:lnTo>
                  <a:pt x="0" y="0"/>
                </a:lnTo>
                <a:close/>
              </a:path>
            </a:pathLst>
          </a:custGeom>
          <a:blipFill>
            <a:blip r:embed="rId3"/>
            <a:stretch>
              <a:fillRect l="-6287" t="-6658" r="-8382" b="-29963"/>
            </a:stretch>
          </a:blipFill>
        </p:spPr>
      </p:sp>
      <p:sp>
        <p:nvSpPr>
          <p:cNvPr name="TextBox 6" id="6"/>
          <p:cNvSpPr txBox="true"/>
          <p:nvPr/>
        </p:nvSpPr>
        <p:spPr>
          <a:xfrm rot="0">
            <a:off x="881935" y="2940672"/>
            <a:ext cx="2898065" cy="2250362"/>
          </a:xfrm>
          <a:prstGeom prst="rect">
            <a:avLst/>
          </a:prstGeom>
        </p:spPr>
        <p:txBody>
          <a:bodyPr anchor="t" rtlCol="false" tIns="0" lIns="0" bIns="0" rIns="0">
            <a:spAutoFit/>
          </a:bodyPr>
          <a:lstStyle/>
          <a:p>
            <a:pPr algn="just">
              <a:lnSpc>
                <a:spcPts val="1964"/>
              </a:lnSpc>
            </a:pPr>
            <a:r>
              <a:rPr lang="en-US" sz="1403">
                <a:solidFill>
                  <a:srgbClr val="000001"/>
                </a:solidFill>
                <a:latin typeface="Overpass"/>
                <a:ea typeface="Overpass"/>
                <a:cs typeface="Overpass"/>
                <a:sym typeface="Overpass"/>
              </a:rPr>
              <a:t>Leaf to Life is a transformative initiative dedicated to fostering a greener and healthier planet through tree plantation and environmental conserva</a:t>
            </a:r>
            <a:r>
              <a:rPr lang="en-US" sz="1403">
                <a:solidFill>
                  <a:srgbClr val="000001"/>
                </a:solidFill>
                <a:latin typeface="Overpass"/>
                <a:ea typeface="Overpass"/>
                <a:cs typeface="Overpass"/>
                <a:sym typeface="Overpass"/>
              </a:rPr>
              <a:t>tion. By promoting the planting of native species, it aims to enhance biodiversity and combat climate change. </a:t>
            </a:r>
          </a:p>
        </p:txBody>
      </p:sp>
      <p:sp>
        <p:nvSpPr>
          <p:cNvPr name="TextBox 7" id="7"/>
          <p:cNvSpPr txBox="true"/>
          <p:nvPr/>
        </p:nvSpPr>
        <p:spPr>
          <a:xfrm rot="0">
            <a:off x="762401" y="1026066"/>
            <a:ext cx="2114550" cy="210107"/>
          </a:xfrm>
          <a:prstGeom prst="rect">
            <a:avLst/>
          </a:prstGeom>
        </p:spPr>
        <p:txBody>
          <a:bodyPr anchor="t" rtlCol="false" tIns="0" lIns="0" bIns="0" rIns="0">
            <a:spAutoFit/>
          </a:bodyPr>
          <a:lstStyle/>
          <a:p>
            <a:pPr algn="l">
              <a:lnSpc>
                <a:spcPts val="1544"/>
              </a:lnSpc>
            </a:pPr>
            <a:r>
              <a:rPr lang="en-US" sz="1103">
                <a:solidFill>
                  <a:srgbClr val="000001"/>
                </a:solidFill>
                <a:latin typeface="Overpass"/>
                <a:ea typeface="Overpass"/>
                <a:cs typeface="Overpass"/>
                <a:sym typeface="Overpass"/>
              </a:rPr>
              <a:t>ANNUAL REPORT</a:t>
            </a:r>
          </a:p>
        </p:txBody>
      </p:sp>
      <p:sp>
        <p:nvSpPr>
          <p:cNvPr name="TextBox 8" id="8"/>
          <p:cNvSpPr txBox="true"/>
          <p:nvPr/>
        </p:nvSpPr>
        <p:spPr>
          <a:xfrm rot="0">
            <a:off x="4671131" y="1026066"/>
            <a:ext cx="2114550" cy="210107"/>
          </a:xfrm>
          <a:prstGeom prst="rect">
            <a:avLst/>
          </a:prstGeom>
        </p:spPr>
        <p:txBody>
          <a:bodyPr anchor="t" rtlCol="false" tIns="0" lIns="0" bIns="0" rIns="0">
            <a:spAutoFit/>
          </a:bodyPr>
          <a:lstStyle/>
          <a:p>
            <a:pPr algn="r">
              <a:lnSpc>
                <a:spcPts val="1544"/>
              </a:lnSpc>
            </a:pPr>
            <a:r>
              <a:rPr lang="en-US" sz="1103">
                <a:solidFill>
                  <a:srgbClr val="000001"/>
                </a:solidFill>
                <a:latin typeface="Overpass"/>
                <a:ea typeface="Overpass"/>
                <a:cs typeface="Overpass"/>
                <a:sym typeface="Overpass"/>
              </a:rPr>
              <a:t>YEAR 2024-25</a:t>
            </a:r>
          </a:p>
        </p:txBody>
      </p:sp>
      <p:sp>
        <p:nvSpPr>
          <p:cNvPr name="TextBox 9" id="9"/>
          <p:cNvSpPr txBox="true"/>
          <p:nvPr/>
        </p:nvSpPr>
        <p:spPr>
          <a:xfrm rot="0">
            <a:off x="4005561" y="2916755"/>
            <a:ext cx="2898065" cy="2250362"/>
          </a:xfrm>
          <a:prstGeom prst="rect">
            <a:avLst/>
          </a:prstGeom>
        </p:spPr>
        <p:txBody>
          <a:bodyPr anchor="t" rtlCol="false" tIns="0" lIns="0" bIns="0" rIns="0">
            <a:spAutoFit/>
          </a:bodyPr>
          <a:lstStyle/>
          <a:p>
            <a:pPr algn="just">
              <a:lnSpc>
                <a:spcPts val="1964"/>
              </a:lnSpc>
            </a:pPr>
            <a:r>
              <a:rPr lang="en-US" sz="1403">
                <a:solidFill>
                  <a:srgbClr val="000001"/>
                </a:solidFill>
                <a:latin typeface="Overpass"/>
                <a:ea typeface="Overpass"/>
                <a:cs typeface="Overpass"/>
                <a:sym typeface="Overpass"/>
              </a:rPr>
              <a:t>The program inspires communities to participate actively in sustainable practices and ecological restoration. It emphasizes long-term care for the planted trees to ensure meaningful environment</a:t>
            </a:r>
            <a:r>
              <a:rPr lang="en-US" sz="1403">
                <a:solidFill>
                  <a:srgbClr val="000001"/>
                </a:solidFill>
                <a:latin typeface="Overpass"/>
                <a:ea typeface="Overpass"/>
                <a:cs typeface="Overpass"/>
                <a:sym typeface="Overpass"/>
              </a:rPr>
              <a:t>al impact. Together, it envisions a future where every leaf planted contributes to life on Earth.</a:t>
            </a:r>
          </a:p>
        </p:txBody>
      </p:sp>
      <p:sp>
        <p:nvSpPr>
          <p:cNvPr name="TextBox 10" id="10"/>
          <p:cNvSpPr txBox="true"/>
          <p:nvPr/>
        </p:nvSpPr>
        <p:spPr>
          <a:xfrm rot="0">
            <a:off x="775628" y="471373"/>
            <a:ext cx="5564305" cy="210107"/>
          </a:xfrm>
          <a:prstGeom prst="rect">
            <a:avLst/>
          </a:prstGeom>
        </p:spPr>
        <p:txBody>
          <a:bodyPr anchor="t" rtlCol="false" tIns="0" lIns="0" bIns="0" rIns="0">
            <a:spAutoFit/>
          </a:bodyPr>
          <a:lstStyle/>
          <a:p>
            <a:pPr algn="l">
              <a:lnSpc>
                <a:spcPts val="1544"/>
              </a:lnSpc>
            </a:pPr>
            <a:r>
              <a:rPr lang="en-US" sz="1103">
                <a:solidFill>
                  <a:srgbClr val="000001"/>
                </a:solidFill>
                <a:latin typeface="Overpass"/>
                <a:ea typeface="Overpass"/>
                <a:cs typeface="Overpass"/>
                <a:sym typeface="Overpass"/>
              </a:rPr>
              <a:t>MUNAWWAR FOUNDATION-"ILLUMINATING HEARTS, TRANSFORMING FUTURES"</a:t>
            </a:r>
          </a:p>
        </p:txBody>
      </p:sp>
      <p:sp>
        <p:nvSpPr>
          <p:cNvPr name="TextBox 11" id="11"/>
          <p:cNvSpPr txBox="true"/>
          <p:nvPr/>
        </p:nvSpPr>
        <p:spPr>
          <a:xfrm rot="0">
            <a:off x="881935" y="1636726"/>
            <a:ext cx="3547821" cy="936625"/>
          </a:xfrm>
          <a:prstGeom prst="rect">
            <a:avLst/>
          </a:prstGeom>
        </p:spPr>
        <p:txBody>
          <a:bodyPr anchor="t" rtlCol="false" tIns="0" lIns="0" bIns="0" rIns="0">
            <a:spAutoFit/>
          </a:bodyPr>
          <a:lstStyle/>
          <a:p>
            <a:pPr algn="l">
              <a:lnSpc>
                <a:spcPts val="3960"/>
              </a:lnSpc>
            </a:pPr>
            <a:r>
              <a:rPr lang="en-US" sz="3600" b="true">
                <a:solidFill>
                  <a:srgbClr val="399FAD"/>
                </a:solidFill>
                <a:latin typeface="Cloud Condensed Bold"/>
                <a:ea typeface="Cloud Condensed Bold"/>
                <a:cs typeface="Cloud Condensed Bold"/>
                <a:sym typeface="Cloud Condensed Bold"/>
              </a:rPr>
              <a:t>LEAF TO LIFE </a:t>
            </a:r>
          </a:p>
          <a:p>
            <a:pPr algn="l" marL="0" indent="0" lvl="0">
              <a:lnSpc>
                <a:spcPts val="3190"/>
              </a:lnSpc>
              <a:spcBef>
                <a:spcPct val="0"/>
              </a:spcBef>
            </a:pPr>
            <a:r>
              <a:rPr lang="en-US" b="true" sz="2900">
                <a:solidFill>
                  <a:srgbClr val="399FAD"/>
                </a:solidFill>
                <a:latin typeface="Cloud Condensed Bold"/>
                <a:ea typeface="Cloud Condensed Bold"/>
                <a:cs typeface="Cloud Condensed Bold"/>
                <a:sym typeface="Cloud Condensed Bold"/>
              </a:rPr>
              <a:t>-PLANTATION PROGRAM</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flipV="true">
            <a:off x="736600" y="756000"/>
            <a:ext cx="6067400" cy="14288"/>
          </a:xfrm>
          <a:prstGeom prst="line">
            <a:avLst/>
          </a:prstGeom>
          <a:ln cap="flat" w="28575">
            <a:solidFill>
              <a:srgbClr val="000001"/>
            </a:solidFill>
            <a:prstDash val="solid"/>
            <a:headEnd type="none" len="sm" w="sm"/>
            <a:tailEnd type="none" len="sm" w="sm"/>
          </a:ln>
        </p:spPr>
      </p:sp>
      <p:sp>
        <p:nvSpPr>
          <p:cNvPr name="Freeform 3" id="3"/>
          <p:cNvSpPr/>
          <p:nvPr/>
        </p:nvSpPr>
        <p:spPr>
          <a:xfrm flipH="false" flipV="false" rot="0">
            <a:off x="6688312" y="9847696"/>
            <a:ext cx="584339" cy="490452"/>
          </a:xfrm>
          <a:custGeom>
            <a:avLst/>
            <a:gdLst/>
            <a:ahLst/>
            <a:cxnLst/>
            <a:rect r="r" b="b" t="t" l="l"/>
            <a:pathLst>
              <a:path h="490452" w="584339">
                <a:moveTo>
                  <a:pt x="0" y="0"/>
                </a:moveTo>
                <a:lnTo>
                  <a:pt x="584340" y="0"/>
                </a:lnTo>
                <a:lnTo>
                  <a:pt x="584340" y="490452"/>
                </a:lnTo>
                <a:lnTo>
                  <a:pt x="0" y="490452"/>
                </a:lnTo>
                <a:lnTo>
                  <a:pt x="0" y="0"/>
                </a:lnTo>
                <a:close/>
              </a:path>
            </a:pathLst>
          </a:custGeom>
          <a:blipFill>
            <a:blip r:embed="rId2"/>
            <a:stretch>
              <a:fillRect l="-6287" t="-6658" r="-8382" b="-29963"/>
            </a:stretch>
          </a:blipFill>
        </p:spPr>
      </p:sp>
      <p:sp>
        <p:nvSpPr>
          <p:cNvPr name="Freeform 4" id="4"/>
          <p:cNvSpPr/>
          <p:nvPr/>
        </p:nvSpPr>
        <p:spPr>
          <a:xfrm flipH="false" flipV="false" rot="0">
            <a:off x="931098" y="1521923"/>
            <a:ext cx="6049384" cy="3413253"/>
          </a:xfrm>
          <a:custGeom>
            <a:avLst/>
            <a:gdLst/>
            <a:ahLst/>
            <a:cxnLst/>
            <a:rect r="r" b="b" t="t" l="l"/>
            <a:pathLst>
              <a:path h="3413253" w="6049384">
                <a:moveTo>
                  <a:pt x="0" y="0"/>
                </a:moveTo>
                <a:lnTo>
                  <a:pt x="6049384" y="0"/>
                </a:lnTo>
                <a:lnTo>
                  <a:pt x="6049384" y="3413253"/>
                </a:lnTo>
                <a:lnTo>
                  <a:pt x="0" y="3413253"/>
                </a:lnTo>
                <a:lnTo>
                  <a:pt x="0" y="0"/>
                </a:lnTo>
                <a:close/>
              </a:path>
            </a:pathLst>
          </a:custGeom>
          <a:blipFill>
            <a:blip r:embed="rId3"/>
            <a:stretch>
              <a:fillRect l="0" t="-13715" r="-10149" b="-32700"/>
            </a:stretch>
          </a:blipFill>
        </p:spPr>
      </p:sp>
      <p:sp>
        <p:nvSpPr>
          <p:cNvPr name="Freeform 5" id="5"/>
          <p:cNvSpPr/>
          <p:nvPr/>
        </p:nvSpPr>
        <p:spPr>
          <a:xfrm flipH="false" flipV="false" rot="0">
            <a:off x="931098" y="5021078"/>
            <a:ext cx="3105165" cy="2513426"/>
          </a:xfrm>
          <a:custGeom>
            <a:avLst/>
            <a:gdLst/>
            <a:ahLst/>
            <a:cxnLst/>
            <a:rect r="r" b="b" t="t" l="l"/>
            <a:pathLst>
              <a:path h="2513426" w="3105165">
                <a:moveTo>
                  <a:pt x="0" y="0"/>
                </a:moveTo>
                <a:lnTo>
                  <a:pt x="3105166" y="0"/>
                </a:lnTo>
                <a:lnTo>
                  <a:pt x="3105166" y="2513427"/>
                </a:lnTo>
                <a:lnTo>
                  <a:pt x="0" y="2513427"/>
                </a:lnTo>
                <a:lnTo>
                  <a:pt x="0" y="0"/>
                </a:lnTo>
                <a:close/>
              </a:path>
            </a:pathLst>
          </a:custGeom>
          <a:blipFill>
            <a:blip r:embed="rId4"/>
            <a:stretch>
              <a:fillRect l="-15786" t="-52807" r="-11963" b="-57626"/>
            </a:stretch>
          </a:blipFill>
        </p:spPr>
      </p:sp>
      <p:sp>
        <p:nvSpPr>
          <p:cNvPr name="Freeform 6" id="6"/>
          <p:cNvSpPr/>
          <p:nvPr/>
        </p:nvSpPr>
        <p:spPr>
          <a:xfrm flipH="false" flipV="false" rot="0">
            <a:off x="4174897" y="5021078"/>
            <a:ext cx="2805585" cy="2513426"/>
          </a:xfrm>
          <a:custGeom>
            <a:avLst/>
            <a:gdLst/>
            <a:ahLst/>
            <a:cxnLst/>
            <a:rect r="r" b="b" t="t" l="l"/>
            <a:pathLst>
              <a:path h="2513426" w="2805585">
                <a:moveTo>
                  <a:pt x="0" y="0"/>
                </a:moveTo>
                <a:lnTo>
                  <a:pt x="2805585" y="0"/>
                </a:lnTo>
                <a:lnTo>
                  <a:pt x="2805585" y="2513427"/>
                </a:lnTo>
                <a:lnTo>
                  <a:pt x="0" y="2513427"/>
                </a:lnTo>
                <a:lnTo>
                  <a:pt x="0" y="0"/>
                </a:lnTo>
                <a:close/>
              </a:path>
            </a:pathLst>
          </a:custGeom>
          <a:blipFill>
            <a:blip r:embed="rId5"/>
            <a:stretch>
              <a:fillRect l="-83091" t="-102687" r="-51437" b="-146366"/>
            </a:stretch>
          </a:blipFill>
        </p:spPr>
      </p:sp>
      <p:sp>
        <p:nvSpPr>
          <p:cNvPr name="Freeform 7" id="7"/>
          <p:cNvSpPr/>
          <p:nvPr/>
        </p:nvSpPr>
        <p:spPr>
          <a:xfrm flipH="false" flipV="false" rot="0">
            <a:off x="2079277" y="7620230"/>
            <a:ext cx="3753027" cy="2712718"/>
          </a:xfrm>
          <a:custGeom>
            <a:avLst/>
            <a:gdLst/>
            <a:ahLst/>
            <a:cxnLst/>
            <a:rect r="r" b="b" t="t" l="l"/>
            <a:pathLst>
              <a:path h="2712718" w="3753027">
                <a:moveTo>
                  <a:pt x="0" y="0"/>
                </a:moveTo>
                <a:lnTo>
                  <a:pt x="3753027" y="0"/>
                </a:lnTo>
                <a:lnTo>
                  <a:pt x="3753027" y="2712718"/>
                </a:lnTo>
                <a:lnTo>
                  <a:pt x="0" y="2712718"/>
                </a:lnTo>
                <a:lnTo>
                  <a:pt x="0" y="0"/>
                </a:lnTo>
                <a:close/>
              </a:path>
            </a:pathLst>
          </a:custGeom>
          <a:blipFill>
            <a:blip r:embed="rId6"/>
            <a:stretch>
              <a:fillRect l="0" t="-220953" r="-94541" b="-37909"/>
            </a:stretch>
          </a:blipFill>
        </p:spPr>
      </p:sp>
      <p:sp>
        <p:nvSpPr>
          <p:cNvPr name="TextBox 8" id="8"/>
          <p:cNvSpPr txBox="true"/>
          <p:nvPr/>
        </p:nvSpPr>
        <p:spPr>
          <a:xfrm rot="0">
            <a:off x="762401" y="1026066"/>
            <a:ext cx="2114550" cy="210107"/>
          </a:xfrm>
          <a:prstGeom prst="rect">
            <a:avLst/>
          </a:prstGeom>
        </p:spPr>
        <p:txBody>
          <a:bodyPr anchor="t" rtlCol="false" tIns="0" lIns="0" bIns="0" rIns="0">
            <a:spAutoFit/>
          </a:bodyPr>
          <a:lstStyle/>
          <a:p>
            <a:pPr algn="l">
              <a:lnSpc>
                <a:spcPts val="1544"/>
              </a:lnSpc>
            </a:pPr>
            <a:r>
              <a:rPr lang="en-US" sz="1103">
                <a:solidFill>
                  <a:srgbClr val="000001"/>
                </a:solidFill>
                <a:latin typeface="Overpass"/>
                <a:ea typeface="Overpass"/>
                <a:cs typeface="Overpass"/>
                <a:sym typeface="Overpass"/>
              </a:rPr>
              <a:t>ANNUAL REPORT</a:t>
            </a:r>
          </a:p>
        </p:txBody>
      </p:sp>
      <p:sp>
        <p:nvSpPr>
          <p:cNvPr name="TextBox 9" id="9"/>
          <p:cNvSpPr txBox="true"/>
          <p:nvPr/>
        </p:nvSpPr>
        <p:spPr>
          <a:xfrm rot="0">
            <a:off x="4671131" y="1026066"/>
            <a:ext cx="2114550" cy="210107"/>
          </a:xfrm>
          <a:prstGeom prst="rect">
            <a:avLst/>
          </a:prstGeom>
        </p:spPr>
        <p:txBody>
          <a:bodyPr anchor="t" rtlCol="false" tIns="0" lIns="0" bIns="0" rIns="0">
            <a:spAutoFit/>
          </a:bodyPr>
          <a:lstStyle/>
          <a:p>
            <a:pPr algn="r">
              <a:lnSpc>
                <a:spcPts val="1544"/>
              </a:lnSpc>
            </a:pPr>
            <a:r>
              <a:rPr lang="en-US" sz="1103">
                <a:solidFill>
                  <a:srgbClr val="000001"/>
                </a:solidFill>
                <a:latin typeface="Overpass"/>
                <a:ea typeface="Overpass"/>
                <a:cs typeface="Overpass"/>
                <a:sym typeface="Overpass"/>
              </a:rPr>
              <a:t>YEAR 2024-25</a:t>
            </a:r>
          </a:p>
        </p:txBody>
      </p:sp>
      <p:sp>
        <p:nvSpPr>
          <p:cNvPr name="TextBox 10" id="10"/>
          <p:cNvSpPr txBox="true"/>
          <p:nvPr/>
        </p:nvSpPr>
        <p:spPr>
          <a:xfrm rot="0">
            <a:off x="775628" y="471373"/>
            <a:ext cx="5564305" cy="210107"/>
          </a:xfrm>
          <a:prstGeom prst="rect">
            <a:avLst/>
          </a:prstGeom>
        </p:spPr>
        <p:txBody>
          <a:bodyPr anchor="t" rtlCol="false" tIns="0" lIns="0" bIns="0" rIns="0">
            <a:spAutoFit/>
          </a:bodyPr>
          <a:lstStyle/>
          <a:p>
            <a:pPr algn="l">
              <a:lnSpc>
                <a:spcPts val="1544"/>
              </a:lnSpc>
            </a:pPr>
            <a:r>
              <a:rPr lang="en-US" sz="1103">
                <a:solidFill>
                  <a:srgbClr val="000001"/>
                </a:solidFill>
                <a:latin typeface="Overpass"/>
                <a:ea typeface="Overpass"/>
                <a:cs typeface="Overpass"/>
                <a:sym typeface="Overpass"/>
              </a:rPr>
              <a:t>MUNAWWAR FOUNDATION-"ILLUMINATING HEARTS, TRANSFORMING FUTURES"</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flipV="true">
            <a:off x="736600" y="756000"/>
            <a:ext cx="6067400" cy="14288"/>
          </a:xfrm>
          <a:prstGeom prst="line">
            <a:avLst/>
          </a:prstGeom>
          <a:ln cap="flat" w="28575">
            <a:solidFill>
              <a:srgbClr val="000001"/>
            </a:solidFill>
            <a:prstDash val="solid"/>
            <a:headEnd type="none" len="sm" w="sm"/>
            <a:tailEnd type="none" len="sm" w="sm"/>
          </a:ln>
        </p:spPr>
      </p:sp>
      <p:sp>
        <p:nvSpPr>
          <p:cNvPr name="Freeform 3" id="3"/>
          <p:cNvSpPr/>
          <p:nvPr/>
        </p:nvSpPr>
        <p:spPr>
          <a:xfrm flipH="false" flipV="false" rot="0">
            <a:off x="6688312" y="9847696"/>
            <a:ext cx="584339" cy="490452"/>
          </a:xfrm>
          <a:custGeom>
            <a:avLst/>
            <a:gdLst/>
            <a:ahLst/>
            <a:cxnLst/>
            <a:rect r="r" b="b" t="t" l="l"/>
            <a:pathLst>
              <a:path h="490452" w="584339">
                <a:moveTo>
                  <a:pt x="0" y="0"/>
                </a:moveTo>
                <a:lnTo>
                  <a:pt x="584340" y="0"/>
                </a:lnTo>
                <a:lnTo>
                  <a:pt x="584340" y="490452"/>
                </a:lnTo>
                <a:lnTo>
                  <a:pt x="0" y="490452"/>
                </a:lnTo>
                <a:lnTo>
                  <a:pt x="0" y="0"/>
                </a:lnTo>
                <a:close/>
              </a:path>
            </a:pathLst>
          </a:custGeom>
          <a:blipFill>
            <a:blip r:embed="rId2"/>
            <a:stretch>
              <a:fillRect l="-6287" t="-6658" r="-8382" b="-29963"/>
            </a:stretch>
          </a:blipFill>
        </p:spPr>
      </p:sp>
      <p:sp>
        <p:nvSpPr>
          <p:cNvPr name="Freeform 4" id="4"/>
          <p:cNvSpPr/>
          <p:nvPr/>
        </p:nvSpPr>
        <p:spPr>
          <a:xfrm flipH="false" flipV="false" rot="0">
            <a:off x="969447" y="1695233"/>
            <a:ext cx="2588334" cy="4503037"/>
          </a:xfrm>
          <a:custGeom>
            <a:avLst/>
            <a:gdLst/>
            <a:ahLst/>
            <a:cxnLst/>
            <a:rect r="r" b="b" t="t" l="l"/>
            <a:pathLst>
              <a:path h="4503037" w="2588334">
                <a:moveTo>
                  <a:pt x="0" y="0"/>
                </a:moveTo>
                <a:lnTo>
                  <a:pt x="2588334" y="0"/>
                </a:lnTo>
                <a:lnTo>
                  <a:pt x="2588334" y="4503037"/>
                </a:lnTo>
                <a:lnTo>
                  <a:pt x="0" y="4503037"/>
                </a:lnTo>
                <a:lnTo>
                  <a:pt x="0" y="0"/>
                </a:lnTo>
                <a:close/>
              </a:path>
            </a:pathLst>
          </a:custGeom>
          <a:blipFill>
            <a:blip r:embed="rId3"/>
            <a:stretch>
              <a:fillRect l="-23731" t="-30153" r="-73692" b="-21151"/>
            </a:stretch>
          </a:blipFill>
        </p:spPr>
      </p:sp>
      <p:sp>
        <p:nvSpPr>
          <p:cNvPr name="Freeform 5" id="5"/>
          <p:cNvSpPr/>
          <p:nvPr/>
        </p:nvSpPr>
        <p:spPr>
          <a:xfrm flipH="false" flipV="false" rot="0">
            <a:off x="3707642" y="1695233"/>
            <a:ext cx="3852358" cy="4503037"/>
          </a:xfrm>
          <a:custGeom>
            <a:avLst/>
            <a:gdLst/>
            <a:ahLst/>
            <a:cxnLst/>
            <a:rect r="r" b="b" t="t" l="l"/>
            <a:pathLst>
              <a:path h="4503037" w="3852358">
                <a:moveTo>
                  <a:pt x="0" y="0"/>
                </a:moveTo>
                <a:lnTo>
                  <a:pt x="3852358" y="0"/>
                </a:lnTo>
                <a:lnTo>
                  <a:pt x="3852358" y="4503037"/>
                </a:lnTo>
                <a:lnTo>
                  <a:pt x="0" y="4503037"/>
                </a:lnTo>
                <a:lnTo>
                  <a:pt x="0" y="0"/>
                </a:lnTo>
                <a:close/>
              </a:path>
            </a:pathLst>
          </a:custGeom>
          <a:blipFill>
            <a:blip r:embed="rId4"/>
            <a:stretch>
              <a:fillRect l="0" t="0" r="-32645" b="-51305"/>
            </a:stretch>
          </a:blipFill>
        </p:spPr>
      </p:sp>
      <p:sp>
        <p:nvSpPr>
          <p:cNvPr name="Freeform 6" id="6"/>
          <p:cNvSpPr/>
          <p:nvPr/>
        </p:nvSpPr>
        <p:spPr>
          <a:xfrm flipH="false" flipV="false" rot="0">
            <a:off x="969447" y="6343928"/>
            <a:ext cx="2840336" cy="3085904"/>
          </a:xfrm>
          <a:custGeom>
            <a:avLst/>
            <a:gdLst/>
            <a:ahLst/>
            <a:cxnLst/>
            <a:rect r="r" b="b" t="t" l="l"/>
            <a:pathLst>
              <a:path h="3085904" w="2840336">
                <a:moveTo>
                  <a:pt x="0" y="0"/>
                </a:moveTo>
                <a:lnTo>
                  <a:pt x="2840335" y="0"/>
                </a:lnTo>
                <a:lnTo>
                  <a:pt x="2840335" y="3085904"/>
                </a:lnTo>
                <a:lnTo>
                  <a:pt x="0" y="3085904"/>
                </a:lnTo>
                <a:lnTo>
                  <a:pt x="0" y="0"/>
                </a:lnTo>
                <a:close/>
              </a:path>
            </a:pathLst>
          </a:custGeom>
          <a:blipFill>
            <a:blip r:embed="rId5"/>
            <a:stretch>
              <a:fillRect l="-23902" t="-52056" r="0" b="0"/>
            </a:stretch>
          </a:blipFill>
        </p:spPr>
      </p:sp>
      <p:sp>
        <p:nvSpPr>
          <p:cNvPr name="Freeform 7" id="7"/>
          <p:cNvSpPr/>
          <p:nvPr/>
        </p:nvSpPr>
        <p:spPr>
          <a:xfrm flipH="false" flipV="false" rot="0">
            <a:off x="3953155" y="6343928"/>
            <a:ext cx="3319497" cy="3085904"/>
          </a:xfrm>
          <a:custGeom>
            <a:avLst/>
            <a:gdLst/>
            <a:ahLst/>
            <a:cxnLst/>
            <a:rect r="r" b="b" t="t" l="l"/>
            <a:pathLst>
              <a:path h="3085904" w="3319497">
                <a:moveTo>
                  <a:pt x="0" y="0"/>
                </a:moveTo>
                <a:lnTo>
                  <a:pt x="3319497" y="0"/>
                </a:lnTo>
                <a:lnTo>
                  <a:pt x="3319497" y="3085904"/>
                </a:lnTo>
                <a:lnTo>
                  <a:pt x="0" y="3085904"/>
                </a:lnTo>
                <a:lnTo>
                  <a:pt x="0" y="0"/>
                </a:lnTo>
                <a:close/>
              </a:path>
            </a:pathLst>
          </a:custGeom>
          <a:blipFill>
            <a:blip r:embed="rId6"/>
            <a:stretch>
              <a:fillRect l="-24997" t="-11523" r="-37944" b="-19932"/>
            </a:stretch>
          </a:blipFill>
        </p:spPr>
      </p:sp>
      <p:sp>
        <p:nvSpPr>
          <p:cNvPr name="TextBox 8" id="8"/>
          <p:cNvSpPr txBox="true"/>
          <p:nvPr/>
        </p:nvSpPr>
        <p:spPr>
          <a:xfrm rot="0">
            <a:off x="762401" y="1026066"/>
            <a:ext cx="2114550" cy="210107"/>
          </a:xfrm>
          <a:prstGeom prst="rect">
            <a:avLst/>
          </a:prstGeom>
        </p:spPr>
        <p:txBody>
          <a:bodyPr anchor="t" rtlCol="false" tIns="0" lIns="0" bIns="0" rIns="0">
            <a:spAutoFit/>
          </a:bodyPr>
          <a:lstStyle/>
          <a:p>
            <a:pPr algn="l">
              <a:lnSpc>
                <a:spcPts val="1544"/>
              </a:lnSpc>
            </a:pPr>
            <a:r>
              <a:rPr lang="en-US" sz="1103">
                <a:solidFill>
                  <a:srgbClr val="000001"/>
                </a:solidFill>
                <a:latin typeface="Overpass"/>
                <a:ea typeface="Overpass"/>
                <a:cs typeface="Overpass"/>
                <a:sym typeface="Overpass"/>
              </a:rPr>
              <a:t>ANNUAL REPORT</a:t>
            </a:r>
          </a:p>
        </p:txBody>
      </p:sp>
      <p:sp>
        <p:nvSpPr>
          <p:cNvPr name="TextBox 9" id="9"/>
          <p:cNvSpPr txBox="true"/>
          <p:nvPr/>
        </p:nvSpPr>
        <p:spPr>
          <a:xfrm rot="0">
            <a:off x="4671131" y="1026066"/>
            <a:ext cx="2114550" cy="210107"/>
          </a:xfrm>
          <a:prstGeom prst="rect">
            <a:avLst/>
          </a:prstGeom>
        </p:spPr>
        <p:txBody>
          <a:bodyPr anchor="t" rtlCol="false" tIns="0" lIns="0" bIns="0" rIns="0">
            <a:spAutoFit/>
          </a:bodyPr>
          <a:lstStyle/>
          <a:p>
            <a:pPr algn="r">
              <a:lnSpc>
                <a:spcPts val="1544"/>
              </a:lnSpc>
            </a:pPr>
            <a:r>
              <a:rPr lang="en-US" sz="1103">
                <a:solidFill>
                  <a:srgbClr val="000001"/>
                </a:solidFill>
                <a:latin typeface="Overpass"/>
                <a:ea typeface="Overpass"/>
                <a:cs typeface="Overpass"/>
                <a:sym typeface="Overpass"/>
              </a:rPr>
              <a:t>YEAR 2024-25</a:t>
            </a:r>
          </a:p>
        </p:txBody>
      </p:sp>
      <p:sp>
        <p:nvSpPr>
          <p:cNvPr name="TextBox 10" id="10"/>
          <p:cNvSpPr txBox="true"/>
          <p:nvPr/>
        </p:nvSpPr>
        <p:spPr>
          <a:xfrm rot="0">
            <a:off x="775628" y="471373"/>
            <a:ext cx="5564305" cy="210107"/>
          </a:xfrm>
          <a:prstGeom prst="rect">
            <a:avLst/>
          </a:prstGeom>
        </p:spPr>
        <p:txBody>
          <a:bodyPr anchor="t" rtlCol="false" tIns="0" lIns="0" bIns="0" rIns="0">
            <a:spAutoFit/>
          </a:bodyPr>
          <a:lstStyle/>
          <a:p>
            <a:pPr algn="l">
              <a:lnSpc>
                <a:spcPts val="1544"/>
              </a:lnSpc>
            </a:pPr>
            <a:r>
              <a:rPr lang="en-US" sz="1103">
                <a:solidFill>
                  <a:srgbClr val="000001"/>
                </a:solidFill>
                <a:latin typeface="Overpass"/>
                <a:ea typeface="Overpass"/>
                <a:cs typeface="Overpass"/>
                <a:sym typeface="Overpass"/>
              </a:rPr>
              <a:t>MUNAWWAR FOUNDATION-"ILLUMINATING HEARTS, TRANSFORMING FUTURES"</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bg>
      <p:bgPr>
        <a:solidFill>
          <a:srgbClr val="399FAD"/>
        </a:solidFill>
      </p:bgPr>
    </p:bg>
    <p:spTree>
      <p:nvGrpSpPr>
        <p:cNvPr id="1" name=""/>
        <p:cNvGrpSpPr/>
        <p:nvPr/>
      </p:nvGrpSpPr>
      <p:grpSpPr>
        <a:xfrm>
          <a:off x="0" y="0"/>
          <a:ext cx="0" cy="0"/>
          <a:chOff x="0" y="0"/>
          <a:chExt cx="0" cy="0"/>
        </a:xfrm>
      </p:grpSpPr>
      <p:grpSp>
        <p:nvGrpSpPr>
          <p:cNvPr name="Group 2" id="2"/>
          <p:cNvGrpSpPr/>
          <p:nvPr/>
        </p:nvGrpSpPr>
        <p:grpSpPr>
          <a:xfrm rot="0">
            <a:off x="-276458" y="5604086"/>
            <a:ext cx="8121505" cy="5376300"/>
            <a:chOff x="0" y="0"/>
            <a:chExt cx="2910564" cy="1926745"/>
          </a:xfrm>
        </p:grpSpPr>
        <p:sp>
          <p:nvSpPr>
            <p:cNvPr name="Freeform 3" id="3"/>
            <p:cNvSpPr/>
            <p:nvPr/>
          </p:nvSpPr>
          <p:spPr>
            <a:xfrm flipH="false" flipV="false" rot="0">
              <a:off x="0" y="0"/>
              <a:ext cx="2910564" cy="1926745"/>
            </a:xfrm>
            <a:custGeom>
              <a:avLst/>
              <a:gdLst/>
              <a:ahLst/>
              <a:cxnLst/>
              <a:rect r="r" b="b" t="t" l="l"/>
              <a:pathLst>
                <a:path h="1926745" w="2910564">
                  <a:moveTo>
                    <a:pt x="0" y="0"/>
                  </a:moveTo>
                  <a:lnTo>
                    <a:pt x="2910564" y="0"/>
                  </a:lnTo>
                  <a:lnTo>
                    <a:pt x="2910564" y="1926745"/>
                  </a:lnTo>
                  <a:lnTo>
                    <a:pt x="0" y="1926745"/>
                  </a:lnTo>
                  <a:close/>
                </a:path>
              </a:pathLst>
            </a:custGeom>
            <a:solidFill>
              <a:srgbClr val="FFFFFF"/>
            </a:solidFill>
          </p:spPr>
        </p:sp>
        <p:sp>
          <p:nvSpPr>
            <p:cNvPr name="TextBox 4" id="4"/>
            <p:cNvSpPr txBox="true"/>
            <p:nvPr/>
          </p:nvSpPr>
          <p:spPr>
            <a:xfrm>
              <a:off x="0" y="-47625"/>
              <a:ext cx="2910564" cy="1974370"/>
            </a:xfrm>
            <a:prstGeom prst="rect">
              <a:avLst/>
            </a:prstGeom>
          </p:spPr>
          <p:txBody>
            <a:bodyPr anchor="ctr" rtlCol="false" tIns="50800" lIns="50800" bIns="50800" rIns="50800"/>
            <a:lstStyle/>
            <a:p>
              <a:pPr algn="ctr">
                <a:lnSpc>
                  <a:spcPts val="1544"/>
                </a:lnSpc>
              </a:pPr>
            </a:p>
          </p:txBody>
        </p:sp>
      </p:grpSp>
      <p:sp>
        <p:nvSpPr>
          <p:cNvPr name="AutoShape 5" id="5"/>
          <p:cNvSpPr/>
          <p:nvPr/>
        </p:nvSpPr>
        <p:spPr>
          <a:xfrm>
            <a:off x="762401" y="756000"/>
            <a:ext cx="6023281" cy="0"/>
          </a:xfrm>
          <a:prstGeom prst="line">
            <a:avLst/>
          </a:prstGeom>
          <a:ln cap="flat" w="28575">
            <a:solidFill>
              <a:srgbClr val="FFFFFF"/>
            </a:solidFill>
            <a:prstDash val="solid"/>
            <a:headEnd type="none" len="sm" w="sm"/>
            <a:tailEnd type="none" len="sm" w="sm"/>
          </a:ln>
        </p:spPr>
      </p:sp>
      <p:sp>
        <p:nvSpPr>
          <p:cNvPr name="Freeform 6" id="6"/>
          <p:cNvSpPr/>
          <p:nvPr/>
        </p:nvSpPr>
        <p:spPr>
          <a:xfrm flipH="false" flipV="false" rot="0">
            <a:off x="6688312" y="9847696"/>
            <a:ext cx="584339" cy="490452"/>
          </a:xfrm>
          <a:custGeom>
            <a:avLst/>
            <a:gdLst/>
            <a:ahLst/>
            <a:cxnLst/>
            <a:rect r="r" b="b" t="t" l="l"/>
            <a:pathLst>
              <a:path h="490452" w="584339">
                <a:moveTo>
                  <a:pt x="0" y="0"/>
                </a:moveTo>
                <a:lnTo>
                  <a:pt x="584340" y="0"/>
                </a:lnTo>
                <a:lnTo>
                  <a:pt x="584340" y="490452"/>
                </a:lnTo>
                <a:lnTo>
                  <a:pt x="0" y="490452"/>
                </a:lnTo>
                <a:lnTo>
                  <a:pt x="0" y="0"/>
                </a:lnTo>
                <a:close/>
              </a:path>
            </a:pathLst>
          </a:custGeom>
          <a:blipFill>
            <a:blip r:embed="rId2"/>
            <a:stretch>
              <a:fillRect l="-6287" t="-6658" r="-8382" b="-29963"/>
            </a:stretch>
          </a:blipFill>
        </p:spPr>
      </p:sp>
      <p:sp>
        <p:nvSpPr>
          <p:cNvPr name="Freeform 7" id="7"/>
          <p:cNvSpPr/>
          <p:nvPr/>
        </p:nvSpPr>
        <p:spPr>
          <a:xfrm flipH="false" flipV="false" rot="0">
            <a:off x="492822" y="1619533"/>
            <a:ext cx="2692121" cy="5091472"/>
          </a:xfrm>
          <a:custGeom>
            <a:avLst/>
            <a:gdLst/>
            <a:ahLst/>
            <a:cxnLst/>
            <a:rect r="r" b="b" t="t" l="l"/>
            <a:pathLst>
              <a:path h="5091472" w="2692121">
                <a:moveTo>
                  <a:pt x="0" y="0"/>
                </a:moveTo>
                <a:lnTo>
                  <a:pt x="2692121" y="0"/>
                </a:lnTo>
                <a:lnTo>
                  <a:pt x="2692121" y="5091472"/>
                </a:lnTo>
                <a:lnTo>
                  <a:pt x="0" y="5091472"/>
                </a:lnTo>
                <a:lnTo>
                  <a:pt x="0" y="0"/>
                </a:lnTo>
                <a:close/>
              </a:path>
            </a:pathLst>
          </a:custGeom>
          <a:blipFill>
            <a:blip r:embed="rId3"/>
            <a:stretch>
              <a:fillRect l="-30868" t="0" r="-12562" b="0"/>
            </a:stretch>
          </a:blipFill>
        </p:spPr>
      </p:sp>
      <p:sp>
        <p:nvSpPr>
          <p:cNvPr name="Freeform 8" id="8"/>
          <p:cNvSpPr/>
          <p:nvPr/>
        </p:nvSpPr>
        <p:spPr>
          <a:xfrm flipH="false" flipV="false" rot="0">
            <a:off x="3184943" y="1630924"/>
            <a:ext cx="4375057" cy="5080080"/>
          </a:xfrm>
          <a:custGeom>
            <a:avLst/>
            <a:gdLst/>
            <a:ahLst/>
            <a:cxnLst/>
            <a:rect r="r" b="b" t="t" l="l"/>
            <a:pathLst>
              <a:path h="5080080" w="4375057">
                <a:moveTo>
                  <a:pt x="0" y="0"/>
                </a:moveTo>
                <a:lnTo>
                  <a:pt x="4375057" y="0"/>
                </a:lnTo>
                <a:lnTo>
                  <a:pt x="4375057" y="5080081"/>
                </a:lnTo>
                <a:lnTo>
                  <a:pt x="0" y="5080081"/>
                </a:lnTo>
                <a:lnTo>
                  <a:pt x="0" y="0"/>
                </a:lnTo>
                <a:close/>
              </a:path>
            </a:pathLst>
          </a:custGeom>
          <a:blipFill>
            <a:blip r:embed="rId4"/>
            <a:stretch>
              <a:fillRect l="-627" t="0" r="-5524" b="-56730"/>
            </a:stretch>
          </a:blipFill>
        </p:spPr>
      </p:sp>
      <p:sp>
        <p:nvSpPr>
          <p:cNvPr name="TextBox 9" id="9"/>
          <p:cNvSpPr txBox="true"/>
          <p:nvPr/>
        </p:nvSpPr>
        <p:spPr>
          <a:xfrm rot="0">
            <a:off x="3851681" y="8068763"/>
            <a:ext cx="2934000" cy="1259762"/>
          </a:xfrm>
          <a:prstGeom prst="rect">
            <a:avLst/>
          </a:prstGeom>
        </p:spPr>
        <p:txBody>
          <a:bodyPr anchor="t" rtlCol="false" tIns="0" lIns="0" bIns="0" rIns="0">
            <a:spAutoFit/>
          </a:bodyPr>
          <a:lstStyle/>
          <a:p>
            <a:pPr algn="just">
              <a:lnSpc>
                <a:spcPts val="1964"/>
              </a:lnSpc>
            </a:pPr>
            <a:r>
              <a:rPr lang="en-US" sz="1403">
                <a:solidFill>
                  <a:srgbClr val="000001"/>
                </a:solidFill>
                <a:latin typeface="Overpass"/>
                <a:ea typeface="Overpass"/>
                <a:cs typeface="Overpass"/>
                <a:sym typeface="Overpass"/>
              </a:rPr>
              <a:t>This initiative focuses on providing children with foundational academ</a:t>
            </a:r>
            <a:r>
              <a:rPr lang="en-US" sz="1403">
                <a:solidFill>
                  <a:srgbClr val="000001"/>
                </a:solidFill>
                <a:latin typeface="Overpass"/>
                <a:ea typeface="Overpass"/>
                <a:cs typeface="Overpass"/>
                <a:sym typeface="Overpass"/>
              </a:rPr>
              <a:t>ic skills, creative thinking, and moral values in a fun and engaging environment.</a:t>
            </a:r>
          </a:p>
        </p:txBody>
      </p:sp>
      <p:sp>
        <p:nvSpPr>
          <p:cNvPr name="TextBox 10" id="10"/>
          <p:cNvSpPr txBox="true"/>
          <p:nvPr/>
        </p:nvSpPr>
        <p:spPr>
          <a:xfrm rot="0">
            <a:off x="762401" y="1026066"/>
            <a:ext cx="2114550" cy="210107"/>
          </a:xfrm>
          <a:prstGeom prst="rect">
            <a:avLst/>
          </a:prstGeom>
        </p:spPr>
        <p:txBody>
          <a:bodyPr anchor="t" rtlCol="false" tIns="0" lIns="0" bIns="0" rIns="0">
            <a:spAutoFit/>
          </a:bodyPr>
          <a:lstStyle/>
          <a:p>
            <a:pPr algn="l">
              <a:lnSpc>
                <a:spcPts val="1544"/>
              </a:lnSpc>
            </a:pPr>
            <a:r>
              <a:rPr lang="en-US" sz="1103">
                <a:solidFill>
                  <a:srgbClr val="FFFFFF"/>
                </a:solidFill>
                <a:latin typeface="Overpass"/>
                <a:ea typeface="Overpass"/>
                <a:cs typeface="Overpass"/>
                <a:sym typeface="Overpass"/>
              </a:rPr>
              <a:t>ANNUAL REPORT</a:t>
            </a:r>
          </a:p>
        </p:txBody>
      </p:sp>
      <p:sp>
        <p:nvSpPr>
          <p:cNvPr name="TextBox 11" id="11"/>
          <p:cNvSpPr txBox="true"/>
          <p:nvPr/>
        </p:nvSpPr>
        <p:spPr>
          <a:xfrm rot="0">
            <a:off x="4671131" y="1026066"/>
            <a:ext cx="2114550" cy="210107"/>
          </a:xfrm>
          <a:prstGeom prst="rect">
            <a:avLst/>
          </a:prstGeom>
        </p:spPr>
        <p:txBody>
          <a:bodyPr anchor="t" rtlCol="false" tIns="0" lIns="0" bIns="0" rIns="0">
            <a:spAutoFit/>
          </a:bodyPr>
          <a:lstStyle/>
          <a:p>
            <a:pPr algn="r">
              <a:lnSpc>
                <a:spcPts val="1544"/>
              </a:lnSpc>
            </a:pPr>
            <a:r>
              <a:rPr lang="en-US" sz="1103">
                <a:solidFill>
                  <a:srgbClr val="FFFFFF"/>
                </a:solidFill>
                <a:latin typeface="Overpass"/>
                <a:ea typeface="Overpass"/>
                <a:cs typeface="Overpass"/>
                <a:sym typeface="Overpass"/>
              </a:rPr>
              <a:t>YEAR 2024-25</a:t>
            </a:r>
          </a:p>
        </p:txBody>
      </p:sp>
      <p:sp>
        <p:nvSpPr>
          <p:cNvPr name="TextBox 12" id="12"/>
          <p:cNvSpPr txBox="true"/>
          <p:nvPr/>
        </p:nvSpPr>
        <p:spPr>
          <a:xfrm rot="0">
            <a:off x="775628" y="471373"/>
            <a:ext cx="5564305" cy="210107"/>
          </a:xfrm>
          <a:prstGeom prst="rect">
            <a:avLst/>
          </a:prstGeom>
        </p:spPr>
        <p:txBody>
          <a:bodyPr anchor="t" rtlCol="false" tIns="0" lIns="0" bIns="0" rIns="0">
            <a:spAutoFit/>
          </a:bodyPr>
          <a:lstStyle/>
          <a:p>
            <a:pPr algn="l">
              <a:lnSpc>
                <a:spcPts val="1544"/>
              </a:lnSpc>
            </a:pPr>
            <a:r>
              <a:rPr lang="en-US" sz="1103">
                <a:solidFill>
                  <a:srgbClr val="FFFFFF"/>
                </a:solidFill>
                <a:latin typeface="Overpass"/>
                <a:ea typeface="Overpass"/>
                <a:cs typeface="Overpass"/>
                <a:sym typeface="Overpass"/>
              </a:rPr>
              <a:t>MUNAWWAR FOUNDATION-"ILLUMINATING HEARTS, TRANSFORMING FUTURES"</a:t>
            </a:r>
          </a:p>
        </p:txBody>
      </p:sp>
      <p:sp>
        <p:nvSpPr>
          <p:cNvPr name="TextBox 13" id="13"/>
          <p:cNvSpPr txBox="true"/>
          <p:nvPr/>
        </p:nvSpPr>
        <p:spPr>
          <a:xfrm rot="0">
            <a:off x="668022" y="6986147"/>
            <a:ext cx="3619713" cy="936625"/>
          </a:xfrm>
          <a:prstGeom prst="rect">
            <a:avLst/>
          </a:prstGeom>
        </p:spPr>
        <p:txBody>
          <a:bodyPr anchor="t" rtlCol="false" tIns="0" lIns="0" bIns="0" rIns="0">
            <a:spAutoFit/>
          </a:bodyPr>
          <a:lstStyle/>
          <a:p>
            <a:pPr algn="l">
              <a:lnSpc>
                <a:spcPts val="3960"/>
              </a:lnSpc>
            </a:pPr>
            <a:r>
              <a:rPr lang="en-US" sz="3600" b="true">
                <a:solidFill>
                  <a:srgbClr val="399FAD"/>
                </a:solidFill>
                <a:latin typeface="Cloud Condensed Bold"/>
                <a:ea typeface="Cloud Condensed Bold"/>
                <a:cs typeface="Cloud Condensed Bold"/>
                <a:sym typeface="Cloud Condensed Bold"/>
              </a:rPr>
              <a:t>LEARN TOGETHER</a:t>
            </a:r>
          </a:p>
          <a:p>
            <a:pPr algn="l" marL="0" indent="0" lvl="0">
              <a:lnSpc>
                <a:spcPts val="3190"/>
              </a:lnSpc>
              <a:spcBef>
                <a:spcPct val="0"/>
              </a:spcBef>
            </a:pPr>
            <a:r>
              <a:rPr lang="en-US" b="true" sz="2900">
                <a:solidFill>
                  <a:srgbClr val="399FAD"/>
                </a:solidFill>
                <a:latin typeface="Cloud Condensed Bold"/>
                <a:ea typeface="Cloud Condensed Bold"/>
                <a:cs typeface="Cloud Condensed Bold"/>
                <a:sym typeface="Cloud Condensed Bold"/>
              </a:rPr>
              <a:t>-LEARNING PROGRAMS</a:t>
            </a:r>
          </a:p>
        </p:txBody>
      </p:sp>
      <p:sp>
        <p:nvSpPr>
          <p:cNvPr name="TextBox 14" id="14"/>
          <p:cNvSpPr txBox="true"/>
          <p:nvPr/>
        </p:nvSpPr>
        <p:spPr>
          <a:xfrm rot="0">
            <a:off x="775628" y="8068763"/>
            <a:ext cx="2934000" cy="1507412"/>
          </a:xfrm>
          <a:prstGeom prst="rect">
            <a:avLst/>
          </a:prstGeom>
        </p:spPr>
        <p:txBody>
          <a:bodyPr anchor="t" rtlCol="false" tIns="0" lIns="0" bIns="0" rIns="0">
            <a:spAutoFit/>
          </a:bodyPr>
          <a:lstStyle/>
          <a:p>
            <a:pPr algn="just">
              <a:lnSpc>
                <a:spcPts val="1964"/>
              </a:lnSpc>
            </a:pPr>
            <a:r>
              <a:rPr lang="en-US" sz="1403">
                <a:solidFill>
                  <a:srgbClr val="000001"/>
                </a:solidFill>
                <a:latin typeface="Overpass"/>
                <a:ea typeface="Overpass"/>
                <a:cs typeface="Overpass"/>
                <a:sym typeface="Overpass"/>
              </a:rPr>
              <a:t>The “Learn Together” initiative by Munawar Foundation is a special educational programme designed to nurture young minds through interactive and joyful learning experiences. </a:t>
            </a: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flipV="true">
            <a:off x="736600" y="756000"/>
            <a:ext cx="6067400" cy="14288"/>
          </a:xfrm>
          <a:prstGeom prst="line">
            <a:avLst/>
          </a:prstGeom>
          <a:ln cap="flat" w="28575">
            <a:solidFill>
              <a:srgbClr val="000001"/>
            </a:solidFill>
            <a:prstDash val="solid"/>
            <a:headEnd type="none" len="sm" w="sm"/>
            <a:tailEnd type="none" len="sm" w="sm"/>
          </a:ln>
        </p:spPr>
      </p:sp>
      <p:sp>
        <p:nvSpPr>
          <p:cNvPr name="Freeform 3" id="3"/>
          <p:cNvSpPr/>
          <p:nvPr/>
        </p:nvSpPr>
        <p:spPr>
          <a:xfrm flipH="false" flipV="false" rot="0">
            <a:off x="6688312" y="9847696"/>
            <a:ext cx="584339" cy="490452"/>
          </a:xfrm>
          <a:custGeom>
            <a:avLst/>
            <a:gdLst/>
            <a:ahLst/>
            <a:cxnLst/>
            <a:rect r="r" b="b" t="t" l="l"/>
            <a:pathLst>
              <a:path h="490452" w="584339">
                <a:moveTo>
                  <a:pt x="0" y="0"/>
                </a:moveTo>
                <a:lnTo>
                  <a:pt x="584340" y="0"/>
                </a:lnTo>
                <a:lnTo>
                  <a:pt x="584340" y="490452"/>
                </a:lnTo>
                <a:lnTo>
                  <a:pt x="0" y="490452"/>
                </a:lnTo>
                <a:lnTo>
                  <a:pt x="0" y="0"/>
                </a:lnTo>
                <a:close/>
              </a:path>
            </a:pathLst>
          </a:custGeom>
          <a:blipFill>
            <a:blip r:embed="rId2"/>
            <a:stretch>
              <a:fillRect l="-6287" t="-6658" r="-8382" b="-29963"/>
            </a:stretch>
          </a:blipFill>
        </p:spPr>
      </p:sp>
      <p:sp>
        <p:nvSpPr>
          <p:cNvPr name="Freeform 4" id="4"/>
          <p:cNvSpPr/>
          <p:nvPr/>
        </p:nvSpPr>
        <p:spPr>
          <a:xfrm flipH="false" flipV="false" rot="0">
            <a:off x="931098" y="1521923"/>
            <a:ext cx="3105165" cy="3413253"/>
          </a:xfrm>
          <a:custGeom>
            <a:avLst/>
            <a:gdLst/>
            <a:ahLst/>
            <a:cxnLst/>
            <a:rect r="r" b="b" t="t" l="l"/>
            <a:pathLst>
              <a:path h="3413253" w="3105165">
                <a:moveTo>
                  <a:pt x="0" y="0"/>
                </a:moveTo>
                <a:lnTo>
                  <a:pt x="3105166" y="0"/>
                </a:lnTo>
                <a:lnTo>
                  <a:pt x="3105166" y="3413253"/>
                </a:lnTo>
                <a:lnTo>
                  <a:pt x="0" y="3413253"/>
                </a:lnTo>
                <a:lnTo>
                  <a:pt x="0" y="0"/>
                </a:lnTo>
                <a:close/>
              </a:path>
            </a:pathLst>
          </a:custGeom>
          <a:blipFill>
            <a:blip r:embed="rId3"/>
            <a:stretch>
              <a:fillRect l="0" t="-13715" r="-114590" b="-32700"/>
            </a:stretch>
          </a:blipFill>
        </p:spPr>
      </p:sp>
      <p:sp>
        <p:nvSpPr>
          <p:cNvPr name="Freeform 5" id="5"/>
          <p:cNvSpPr/>
          <p:nvPr/>
        </p:nvSpPr>
        <p:spPr>
          <a:xfrm flipH="false" flipV="false" rot="0">
            <a:off x="4175824" y="1521923"/>
            <a:ext cx="3105165" cy="3413253"/>
          </a:xfrm>
          <a:custGeom>
            <a:avLst/>
            <a:gdLst/>
            <a:ahLst/>
            <a:cxnLst/>
            <a:rect r="r" b="b" t="t" l="l"/>
            <a:pathLst>
              <a:path h="3413253" w="3105165">
                <a:moveTo>
                  <a:pt x="0" y="0"/>
                </a:moveTo>
                <a:lnTo>
                  <a:pt x="3105165" y="0"/>
                </a:lnTo>
                <a:lnTo>
                  <a:pt x="3105165" y="3413253"/>
                </a:lnTo>
                <a:lnTo>
                  <a:pt x="0" y="3413253"/>
                </a:lnTo>
                <a:lnTo>
                  <a:pt x="0" y="0"/>
                </a:lnTo>
                <a:close/>
              </a:path>
            </a:pathLst>
          </a:custGeom>
          <a:blipFill>
            <a:blip r:embed="rId3"/>
            <a:stretch>
              <a:fillRect l="0" t="-13715" r="-114590" b="-32700"/>
            </a:stretch>
          </a:blipFill>
        </p:spPr>
      </p:sp>
      <p:sp>
        <p:nvSpPr>
          <p:cNvPr name="Freeform 6" id="6"/>
          <p:cNvSpPr/>
          <p:nvPr/>
        </p:nvSpPr>
        <p:spPr>
          <a:xfrm flipH="false" flipV="false" rot="0">
            <a:off x="931098" y="1521923"/>
            <a:ext cx="3105165" cy="3356978"/>
          </a:xfrm>
          <a:custGeom>
            <a:avLst/>
            <a:gdLst/>
            <a:ahLst/>
            <a:cxnLst/>
            <a:rect r="r" b="b" t="t" l="l"/>
            <a:pathLst>
              <a:path h="3356978" w="3105165">
                <a:moveTo>
                  <a:pt x="0" y="0"/>
                </a:moveTo>
                <a:lnTo>
                  <a:pt x="3105166" y="0"/>
                </a:lnTo>
                <a:lnTo>
                  <a:pt x="3105166" y="3356978"/>
                </a:lnTo>
                <a:lnTo>
                  <a:pt x="0" y="3356978"/>
                </a:lnTo>
                <a:lnTo>
                  <a:pt x="0" y="0"/>
                </a:lnTo>
                <a:close/>
              </a:path>
            </a:pathLst>
          </a:custGeom>
          <a:blipFill>
            <a:blip r:embed="rId4"/>
            <a:stretch>
              <a:fillRect l="-977" t="0" r="-15679" b="0"/>
            </a:stretch>
          </a:blipFill>
        </p:spPr>
      </p:sp>
      <p:sp>
        <p:nvSpPr>
          <p:cNvPr name="Freeform 7" id="7"/>
          <p:cNvSpPr/>
          <p:nvPr/>
        </p:nvSpPr>
        <p:spPr>
          <a:xfrm flipH="false" flipV="false" rot="0">
            <a:off x="4174897" y="1465648"/>
            <a:ext cx="3385103" cy="3469705"/>
          </a:xfrm>
          <a:custGeom>
            <a:avLst/>
            <a:gdLst/>
            <a:ahLst/>
            <a:cxnLst/>
            <a:rect r="r" b="b" t="t" l="l"/>
            <a:pathLst>
              <a:path h="3469705" w="3385103">
                <a:moveTo>
                  <a:pt x="0" y="0"/>
                </a:moveTo>
                <a:lnTo>
                  <a:pt x="3385103" y="0"/>
                </a:lnTo>
                <a:lnTo>
                  <a:pt x="3385103" y="3469705"/>
                </a:lnTo>
                <a:lnTo>
                  <a:pt x="0" y="3469705"/>
                </a:lnTo>
                <a:lnTo>
                  <a:pt x="0" y="0"/>
                </a:lnTo>
                <a:close/>
              </a:path>
            </a:pathLst>
          </a:custGeom>
          <a:blipFill>
            <a:blip r:embed="rId5"/>
            <a:stretch>
              <a:fillRect l="0" t="-30802" r="0" b="-29025"/>
            </a:stretch>
          </a:blipFill>
        </p:spPr>
      </p:sp>
      <p:sp>
        <p:nvSpPr>
          <p:cNvPr name="Freeform 8" id="8"/>
          <p:cNvSpPr/>
          <p:nvPr/>
        </p:nvSpPr>
        <p:spPr>
          <a:xfrm flipH="false" flipV="false" rot="0">
            <a:off x="1055673" y="5021078"/>
            <a:ext cx="1821278" cy="3001129"/>
          </a:xfrm>
          <a:custGeom>
            <a:avLst/>
            <a:gdLst/>
            <a:ahLst/>
            <a:cxnLst/>
            <a:rect r="r" b="b" t="t" l="l"/>
            <a:pathLst>
              <a:path h="3001129" w="1821278">
                <a:moveTo>
                  <a:pt x="0" y="0"/>
                </a:moveTo>
                <a:lnTo>
                  <a:pt x="1821278" y="0"/>
                </a:lnTo>
                <a:lnTo>
                  <a:pt x="1821278" y="3001130"/>
                </a:lnTo>
                <a:lnTo>
                  <a:pt x="0" y="3001130"/>
                </a:lnTo>
                <a:lnTo>
                  <a:pt x="0" y="0"/>
                </a:lnTo>
                <a:close/>
              </a:path>
            </a:pathLst>
          </a:custGeom>
          <a:blipFill>
            <a:blip r:embed="rId6"/>
            <a:stretch>
              <a:fillRect l="0" t="0" r="0" b="0"/>
            </a:stretch>
          </a:blipFill>
        </p:spPr>
      </p:sp>
      <p:sp>
        <p:nvSpPr>
          <p:cNvPr name="Freeform 9" id="9"/>
          <p:cNvSpPr/>
          <p:nvPr/>
        </p:nvSpPr>
        <p:spPr>
          <a:xfrm flipH="false" flipV="false" rot="0">
            <a:off x="3004527" y="5021078"/>
            <a:ext cx="1385060" cy="3001129"/>
          </a:xfrm>
          <a:custGeom>
            <a:avLst/>
            <a:gdLst/>
            <a:ahLst/>
            <a:cxnLst/>
            <a:rect r="r" b="b" t="t" l="l"/>
            <a:pathLst>
              <a:path h="3001129" w="1385060">
                <a:moveTo>
                  <a:pt x="0" y="0"/>
                </a:moveTo>
                <a:lnTo>
                  <a:pt x="1385060" y="0"/>
                </a:lnTo>
                <a:lnTo>
                  <a:pt x="1385060" y="3001130"/>
                </a:lnTo>
                <a:lnTo>
                  <a:pt x="0" y="3001130"/>
                </a:lnTo>
                <a:lnTo>
                  <a:pt x="0" y="0"/>
                </a:lnTo>
                <a:close/>
              </a:path>
            </a:pathLst>
          </a:custGeom>
          <a:blipFill>
            <a:blip r:embed="rId7"/>
            <a:stretch>
              <a:fillRect l="0" t="0" r="0" b="-24487"/>
            </a:stretch>
          </a:blipFill>
        </p:spPr>
      </p:sp>
      <p:sp>
        <p:nvSpPr>
          <p:cNvPr name="Freeform 10" id="10"/>
          <p:cNvSpPr/>
          <p:nvPr/>
        </p:nvSpPr>
        <p:spPr>
          <a:xfrm flipH="false" flipV="false" rot="0">
            <a:off x="4511590" y="5021078"/>
            <a:ext cx="2641427" cy="3444869"/>
          </a:xfrm>
          <a:custGeom>
            <a:avLst/>
            <a:gdLst/>
            <a:ahLst/>
            <a:cxnLst/>
            <a:rect r="r" b="b" t="t" l="l"/>
            <a:pathLst>
              <a:path h="3444869" w="2641427">
                <a:moveTo>
                  <a:pt x="0" y="0"/>
                </a:moveTo>
                <a:lnTo>
                  <a:pt x="2641427" y="0"/>
                </a:lnTo>
                <a:lnTo>
                  <a:pt x="2641427" y="3444870"/>
                </a:lnTo>
                <a:lnTo>
                  <a:pt x="0" y="3444870"/>
                </a:lnTo>
                <a:lnTo>
                  <a:pt x="0" y="0"/>
                </a:lnTo>
                <a:close/>
              </a:path>
            </a:pathLst>
          </a:custGeom>
          <a:blipFill>
            <a:blip r:embed="rId8"/>
            <a:stretch>
              <a:fillRect l="0" t="-17774" r="0" b="0"/>
            </a:stretch>
          </a:blipFill>
        </p:spPr>
      </p:sp>
      <p:sp>
        <p:nvSpPr>
          <p:cNvPr name="TextBox 11" id="11"/>
          <p:cNvSpPr txBox="true"/>
          <p:nvPr/>
        </p:nvSpPr>
        <p:spPr>
          <a:xfrm rot="0">
            <a:off x="762401" y="1026066"/>
            <a:ext cx="2114550" cy="210107"/>
          </a:xfrm>
          <a:prstGeom prst="rect">
            <a:avLst/>
          </a:prstGeom>
        </p:spPr>
        <p:txBody>
          <a:bodyPr anchor="t" rtlCol="false" tIns="0" lIns="0" bIns="0" rIns="0">
            <a:spAutoFit/>
          </a:bodyPr>
          <a:lstStyle/>
          <a:p>
            <a:pPr algn="l">
              <a:lnSpc>
                <a:spcPts val="1544"/>
              </a:lnSpc>
            </a:pPr>
            <a:r>
              <a:rPr lang="en-US" sz="1103">
                <a:solidFill>
                  <a:srgbClr val="000001"/>
                </a:solidFill>
                <a:latin typeface="Overpass"/>
                <a:ea typeface="Overpass"/>
                <a:cs typeface="Overpass"/>
                <a:sym typeface="Overpass"/>
              </a:rPr>
              <a:t>ANNUAL REPORT</a:t>
            </a:r>
          </a:p>
        </p:txBody>
      </p:sp>
      <p:sp>
        <p:nvSpPr>
          <p:cNvPr name="TextBox 12" id="12"/>
          <p:cNvSpPr txBox="true"/>
          <p:nvPr/>
        </p:nvSpPr>
        <p:spPr>
          <a:xfrm rot="0">
            <a:off x="4671131" y="1026066"/>
            <a:ext cx="2114550" cy="210107"/>
          </a:xfrm>
          <a:prstGeom prst="rect">
            <a:avLst/>
          </a:prstGeom>
        </p:spPr>
        <p:txBody>
          <a:bodyPr anchor="t" rtlCol="false" tIns="0" lIns="0" bIns="0" rIns="0">
            <a:spAutoFit/>
          </a:bodyPr>
          <a:lstStyle/>
          <a:p>
            <a:pPr algn="r">
              <a:lnSpc>
                <a:spcPts val="1544"/>
              </a:lnSpc>
            </a:pPr>
            <a:r>
              <a:rPr lang="en-US" sz="1103">
                <a:solidFill>
                  <a:srgbClr val="000001"/>
                </a:solidFill>
                <a:latin typeface="Overpass"/>
                <a:ea typeface="Overpass"/>
                <a:cs typeface="Overpass"/>
                <a:sym typeface="Overpass"/>
              </a:rPr>
              <a:t>YEAR 2024-25</a:t>
            </a:r>
          </a:p>
        </p:txBody>
      </p:sp>
      <p:sp>
        <p:nvSpPr>
          <p:cNvPr name="TextBox 13" id="13"/>
          <p:cNvSpPr txBox="true"/>
          <p:nvPr/>
        </p:nvSpPr>
        <p:spPr>
          <a:xfrm rot="0">
            <a:off x="775628" y="471373"/>
            <a:ext cx="5564305" cy="210107"/>
          </a:xfrm>
          <a:prstGeom prst="rect">
            <a:avLst/>
          </a:prstGeom>
        </p:spPr>
        <p:txBody>
          <a:bodyPr anchor="t" rtlCol="false" tIns="0" lIns="0" bIns="0" rIns="0">
            <a:spAutoFit/>
          </a:bodyPr>
          <a:lstStyle/>
          <a:p>
            <a:pPr algn="l">
              <a:lnSpc>
                <a:spcPts val="1544"/>
              </a:lnSpc>
            </a:pPr>
            <a:r>
              <a:rPr lang="en-US" sz="1103">
                <a:solidFill>
                  <a:srgbClr val="000001"/>
                </a:solidFill>
                <a:latin typeface="Overpass"/>
                <a:ea typeface="Overpass"/>
                <a:cs typeface="Overpass"/>
                <a:sym typeface="Overpass"/>
              </a:rPr>
              <a:t>MUNAWWAR FOUNDATION-"ILLUMINATING HEARTS, TRANSFORMING FUTURES"</a:t>
            </a:r>
          </a:p>
        </p:txBody>
      </p:sp>
      <p:sp>
        <p:nvSpPr>
          <p:cNvPr name="TextBox 14" id="14"/>
          <p:cNvSpPr txBox="true"/>
          <p:nvPr/>
        </p:nvSpPr>
        <p:spPr>
          <a:xfrm rot="0">
            <a:off x="1241824" y="8193658"/>
            <a:ext cx="2934000" cy="1507412"/>
          </a:xfrm>
          <a:prstGeom prst="rect">
            <a:avLst/>
          </a:prstGeom>
        </p:spPr>
        <p:txBody>
          <a:bodyPr anchor="t" rtlCol="false" tIns="0" lIns="0" bIns="0" rIns="0">
            <a:spAutoFit/>
          </a:bodyPr>
          <a:lstStyle/>
          <a:p>
            <a:pPr algn="just">
              <a:lnSpc>
                <a:spcPts val="1964"/>
              </a:lnSpc>
            </a:pPr>
            <a:r>
              <a:rPr lang="en-US" sz="1403">
                <a:solidFill>
                  <a:srgbClr val="000001"/>
                </a:solidFill>
                <a:latin typeface="Overpass"/>
                <a:ea typeface="Overpass"/>
                <a:cs typeface="Overpass"/>
                <a:sym typeface="Overpass"/>
              </a:rPr>
              <a:t>Our aim is to bridge learning gaps, encourage curiosity, and build confidence among children through group-based activities, storytelling, digital learning tools, and practical knowledge sessions.</a:t>
            </a:r>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flipV="true">
            <a:off x="736600" y="756000"/>
            <a:ext cx="6067400" cy="14288"/>
          </a:xfrm>
          <a:prstGeom prst="line">
            <a:avLst/>
          </a:prstGeom>
          <a:ln cap="flat" w="28575">
            <a:solidFill>
              <a:srgbClr val="000001"/>
            </a:solidFill>
            <a:prstDash val="solid"/>
            <a:headEnd type="none" len="sm" w="sm"/>
            <a:tailEnd type="none" len="sm" w="sm"/>
          </a:ln>
        </p:spPr>
      </p:sp>
      <p:sp>
        <p:nvSpPr>
          <p:cNvPr name="Freeform 3" id="3"/>
          <p:cNvSpPr/>
          <p:nvPr/>
        </p:nvSpPr>
        <p:spPr>
          <a:xfrm flipH="false" flipV="false" rot="0">
            <a:off x="6688312" y="9847696"/>
            <a:ext cx="584339" cy="490452"/>
          </a:xfrm>
          <a:custGeom>
            <a:avLst/>
            <a:gdLst/>
            <a:ahLst/>
            <a:cxnLst/>
            <a:rect r="r" b="b" t="t" l="l"/>
            <a:pathLst>
              <a:path h="490452" w="584339">
                <a:moveTo>
                  <a:pt x="0" y="0"/>
                </a:moveTo>
                <a:lnTo>
                  <a:pt x="584340" y="0"/>
                </a:lnTo>
                <a:lnTo>
                  <a:pt x="584340" y="490452"/>
                </a:lnTo>
                <a:lnTo>
                  <a:pt x="0" y="490452"/>
                </a:lnTo>
                <a:lnTo>
                  <a:pt x="0" y="0"/>
                </a:lnTo>
                <a:close/>
              </a:path>
            </a:pathLst>
          </a:custGeom>
          <a:blipFill>
            <a:blip r:embed="rId2"/>
            <a:stretch>
              <a:fillRect l="-6287" t="-6658" r="-8382" b="-29963"/>
            </a:stretch>
          </a:blipFill>
        </p:spPr>
      </p:sp>
      <p:grpSp>
        <p:nvGrpSpPr>
          <p:cNvPr name="Group 4" id="4"/>
          <p:cNvGrpSpPr/>
          <p:nvPr/>
        </p:nvGrpSpPr>
        <p:grpSpPr>
          <a:xfrm rot="0">
            <a:off x="931098" y="1593923"/>
            <a:ext cx="6628902" cy="8115976"/>
            <a:chOff x="0" y="0"/>
            <a:chExt cx="8838535" cy="10821302"/>
          </a:xfrm>
        </p:grpSpPr>
        <p:sp>
          <p:nvSpPr>
            <p:cNvPr name="Freeform 5" id="5"/>
            <p:cNvSpPr/>
            <p:nvPr/>
          </p:nvSpPr>
          <p:spPr>
            <a:xfrm flipH="false" flipV="false" rot="0">
              <a:off x="0" y="0"/>
              <a:ext cx="3108601" cy="5098769"/>
            </a:xfrm>
            <a:custGeom>
              <a:avLst/>
              <a:gdLst/>
              <a:ahLst/>
              <a:cxnLst/>
              <a:rect r="r" b="b" t="t" l="l"/>
              <a:pathLst>
                <a:path h="5098769" w="3108601">
                  <a:moveTo>
                    <a:pt x="0" y="0"/>
                  </a:moveTo>
                  <a:lnTo>
                    <a:pt x="3108601" y="0"/>
                  </a:lnTo>
                  <a:lnTo>
                    <a:pt x="3108601" y="5098769"/>
                  </a:lnTo>
                  <a:lnTo>
                    <a:pt x="0" y="5098769"/>
                  </a:lnTo>
                  <a:lnTo>
                    <a:pt x="0" y="0"/>
                  </a:lnTo>
                  <a:close/>
                </a:path>
              </a:pathLst>
            </a:custGeom>
            <a:blipFill>
              <a:blip r:embed="rId3"/>
              <a:stretch>
                <a:fillRect l="0" t="0" r="0" b="-620"/>
              </a:stretch>
            </a:blipFill>
          </p:spPr>
        </p:sp>
        <p:sp>
          <p:nvSpPr>
            <p:cNvPr name="Freeform 6" id="6"/>
            <p:cNvSpPr/>
            <p:nvPr/>
          </p:nvSpPr>
          <p:spPr>
            <a:xfrm flipH="false" flipV="false" rot="0">
              <a:off x="3152769" y="0"/>
              <a:ext cx="3243642" cy="5098769"/>
            </a:xfrm>
            <a:custGeom>
              <a:avLst/>
              <a:gdLst/>
              <a:ahLst/>
              <a:cxnLst/>
              <a:rect r="r" b="b" t="t" l="l"/>
              <a:pathLst>
                <a:path h="5098769" w="3243642">
                  <a:moveTo>
                    <a:pt x="0" y="0"/>
                  </a:moveTo>
                  <a:lnTo>
                    <a:pt x="3243642" y="0"/>
                  </a:lnTo>
                  <a:lnTo>
                    <a:pt x="3243642" y="5098769"/>
                  </a:lnTo>
                  <a:lnTo>
                    <a:pt x="0" y="5098769"/>
                  </a:lnTo>
                  <a:lnTo>
                    <a:pt x="0" y="0"/>
                  </a:lnTo>
                  <a:close/>
                </a:path>
              </a:pathLst>
            </a:custGeom>
            <a:blipFill>
              <a:blip r:embed="rId4"/>
              <a:stretch>
                <a:fillRect l="0" t="0" r="0" b="-17205"/>
              </a:stretch>
            </a:blipFill>
          </p:spPr>
        </p:sp>
        <p:sp>
          <p:nvSpPr>
            <p:cNvPr name="Freeform 7" id="7"/>
            <p:cNvSpPr/>
            <p:nvPr/>
          </p:nvSpPr>
          <p:spPr>
            <a:xfrm flipH="false" flipV="false" rot="0">
              <a:off x="6434511" y="0"/>
              <a:ext cx="2404025" cy="5098769"/>
            </a:xfrm>
            <a:custGeom>
              <a:avLst/>
              <a:gdLst/>
              <a:ahLst/>
              <a:cxnLst/>
              <a:rect r="r" b="b" t="t" l="l"/>
              <a:pathLst>
                <a:path h="5098769" w="2404025">
                  <a:moveTo>
                    <a:pt x="0" y="0"/>
                  </a:moveTo>
                  <a:lnTo>
                    <a:pt x="2404024" y="0"/>
                  </a:lnTo>
                  <a:lnTo>
                    <a:pt x="2404024" y="5098769"/>
                  </a:lnTo>
                  <a:lnTo>
                    <a:pt x="0" y="5098769"/>
                  </a:lnTo>
                  <a:lnTo>
                    <a:pt x="0" y="0"/>
                  </a:lnTo>
                  <a:close/>
                </a:path>
              </a:pathLst>
            </a:custGeom>
            <a:blipFill>
              <a:blip r:embed="rId5"/>
              <a:stretch>
                <a:fillRect l="-9674" t="0" r="-29423" b="0"/>
              </a:stretch>
            </a:blipFill>
          </p:spPr>
        </p:sp>
        <p:sp>
          <p:nvSpPr>
            <p:cNvPr name="Freeform 8" id="8"/>
            <p:cNvSpPr/>
            <p:nvPr/>
          </p:nvSpPr>
          <p:spPr>
            <a:xfrm flipH="false" flipV="false" rot="0">
              <a:off x="24954" y="5377012"/>
              <a:ext cx="4128891" cy="5444290"/>
            </a:xfrm>
            <a:custGeom>
              <a:avLst/>
              <a:gdLst/>
              <a:ahLst/>
              <a:cxnLst/>
              <a:rect r="r" b="b" t="t" l="l"/>
              <a:pathLst>
                <a:path h="5444290" w="4128891">
                  <a:moveTo>
                    <a:pt x="0" y="0"/>
                  </a:moveTo>
                  <a:lnTo>
                    <a:pt x="4128891" y="0"/>
                  </a:lnTo>
                  <a:lnTo>
                    <a:pt x="4128891" y="5444290"/>
                  </a:lnTo>
                  <a:lnTo>
                    <a:pt x="0" y="5444290"/>
                  </a:lnTo>
                  <a:lnTo>
                    <a:pt x="0" y="0"/>
                  </a:lnTo>
                  <a:close/>
                </a:path>
              </a:pathLst>
            </a:custGeom>
            <a:blipFill>
              <a:blip r:embed="rId6"/>
              <a:stretch>
                <a:fillRect l="0" t="0" r="0" b="0"/>
              </a:stretch>
            </a:blipFill>
          </p:spPr>
        </p:sp>
      </p:grpSp>
      <p:sp>
        <p:nvSpPr>
          <p:cNvPr name="TextBox 9" id="9"/>
          <p:cNvSpPr txBox="true"/>
          <p:nvPr/>
        </p:nvSpPr>
        <p:spPr>
          <a:xfrm rot="0">
            <a:off x="762401" y="1026066"/>
            <a:ext cx="2114550" cy="210107"/>
          </a:xfrm>
          <a:prstGeom prst="rect">
            <a:avLst/>
          </a:prstGeom>
        </p:spPr>
        <p:txBody>
          <a:bodyPr anchor="t" rtlCol="false" tIns="0" lIns="0" bIns="0" rIns="0">
            <a:spAutoFit/>
          </a:bodyPr>
          <a:lstStyle/>
          <a:p>
            <a:pPr algn="l">
              <a:lnSpc>
                <a:spcPts val="1544"/>
              </a:lnSpc>
            </a:pPr>
            <a:r>
              <a:rPr lang="en-US" sz="1103">
                <a:solidFill>
                  <a:srgbClr val="000001"/>
                </a:solidFill>
                <a:latin typeface="Overpass"/>
                <a:ea typeface="Overpass"/>
                <a:cs typeface="Overpass"/>
                <a:sym typeface="Overpass"/>
              </a:rPr>
              <a:t>ANNUAL REPORT</a:t>
            </a:r>
          </a:p>
        </p:txBody>
      </p:sp>
      <p:sp>
        <p:nvSpPr>
          <p:cNvPr name="TextBox 10" id="10"/>
          <p:cNvSpPr txBox="true"/>
          <p:nvPr/>
        </p:nvSpPr>
        <p:spPr>
          <a:xfrm rot="0">
            <a:off x="4671131" y="1026066"/>
            <a:ext cx="2114550" cy="210107"/>
          </a:xfrm>
          <a:prstGeom prst="rect">
            <a:avLst/>
          </a:prstGeom>
        </p:spPr>
        <p:txBody>
          <a:bodyPr anchor="t" rtlCol="false" tIns="0" lIns="0" bIns="0" rIns="0">
            <a:spAutoFit/>
          </a:bodyPr>
          <a:lstStyle/>
          <a:p>
            <a:pPr algn="r">
              <a:lnSpc>
                <a:spcPts val="1544"/>
              </a:lnSpc>
            </a:pPr>
            <a:r>
              <a:rPr lang="en-US" sz="1103">
                <a:solidFill>
                  <a:srgbClr val="000001"/>
                </a:solidFill>
                <a:latin typeface="Overpass"/>
                <a:ea typeface="Overpass"/>
                <a:cs typeface="Overpass"/>
                <a:sym typeface="Overpass"/>
              </a:rPr>
              <a:t>YEAR 2024-25</a:t>
            </a:r>
          </a:p>
        </p:txBody>
      </p:sp>
      <p:sp>
        <p:nvSpPr>
          <p:cNvPr name="TextBox 11" id="11"/>
          <p:cNvSpPr txBox="true"/>
          <p:nvPr/>
        </p:nvSpPr>
        <p:spPr>
          <a:xfrm rot="0">
            <a:off x="775628" y="471373"/>
            <a:ext cx="5564305" cy="210107"/>
          </a:xfrm>
          <a:prstGeom prst="rect">
            <a:avLst/>
          </a:prstGeom>
        </p:spPr>
        <p:txBody>
          <a:bodyPr anchor="t" rtlCol="false" tIns="0" lIns="0" bIns="0" rIns="0">
            <a:spAutoFit/>
          </a:bodyPr>
          <a:lstStyle/>
          <a:p>
            <a:pPr algn="l">
              <a:lnSpc>
                <a:spcPts val="1544"/>
              </a:lnSpc>
            </a:pPr>
            <a:r>
              <a:rPr lang="en-US" sz="1103">
                <a:solidFill>
                  <a:srgbClr val="000001"/>
                </a:solidFill>
                <a:latin typeface="Overpass"/>
                <a:ea typeface="Overpass"/>
                <a:cs typeface="Overpass"/>
                <a:sym typeface="Overpass"/>
              </a:rPr>
              <a:t>MUNAWWAR FOUNDATION-"ILLUMINATING HEARTS, TRANSFORMING FUTURES"</a:t>
            </a:r>
          </a:p>
        </p:txBody>
      </p:sp>
      <p:sp>
        <p:nvSpPr>
          <p:cNvPr name="TextBox 12" id="12"/>
          <p:cNvSpPr txBox="true"/>
          <p:nvPr/>
        </p:nvSpPr>
        <p:spPr>
          <a:xfrm rot="0">
            <a:off x="4261406" y="6249390"/>
            <a:ext cx="2934000" cy="2250362"/>
          </a:xfrm>
          <a:prstGeom prst="rect">
            <a:avLst/>
          </a:prstGeom>
        </p:spPr>
        <p:txBody>
          <a:bodyPr anchor="t" rtlCol="false" tIns="0" lIns="0" bIns="0" rIns="0">
            <a:spAutoFit/>
          </a:bodyPr>
          <a:lstStyle/>
          <a:p>
            <a:pPr algn="just">
              <a:lnSpc>
                <a:spcPts val="1964"/>
              </a:lnSpc>
            </a:pPr>
            <a:r>
              <a:rPr lang="en-US" sz="1403">
                <a:solidFill>
                  <a:srgbClr val="000001"/>
                </a:solidFill>
                <a:latin typeface="Overpass"/>
                <a:ea typeface="Overpass"/>
                <a:cs typeface="Overpass"/>
                <a:sym typeface="Overpass"/>
              </a:rPr>
              <a:t>The programme empowers every child to learn at their own pace while fostering teamwork, empathy, and lifelong love for learning.</a:t>
            </a:r>
          </a:p>
          <a:p>
            <a:pPr algn="just">
              <a:lnSpc>
                <a:spcPts val="1964"/>
              </a:lnSpc>
            </a:pPr>
            <a:r>
              <a:rPr lang="en-US" sz="1403">
                <a:solidFill>
                  <a:srgbClr val="000001"/>
                </a:solidFill>
                <a:latin typeface="Overpass"/>
                <a:ea typeface="Overpass"/>
                <a:cs typeface="Overpass"/>
                <a:sym typeface="Overpass"/>
              </a:rPr>
              <a:t>Munawar Foundation believes that “Education is not preparation for life — it is life itself.” Through Learn Together, we are shaping brighter futures, one child at a time.</a:t>
            </a:r>
          </a:p>
        </p:txBody>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flipV="true">
            <a:off x="736600" y="756000"/>
            <a:ext cx="6067400" cy="14288"/>
          </a:xfrm>
          <a:prstGeom prst="line">
            <a:avLst/>
          </a:prstGeom>
          <a:ln cap="flat" w="28575">
            <a:solidFill>
              <a:srgbClr val="000001"/>
            </a:solidFill>
            <a:prstDash val="solid"/>
            <a:headEnd type="none" len="sm" w="sm"/>
            <a:tailEnd type="none" len="sm" w="sm"/>
          </a:ln>
        </p:spPr>
      </p:sp>
      <p:sp>
        <p:nvSpPr>
          <p:cNvPr name="Freeform 3" id="3"/>
          <p:cNvSpPr/>
          <p:nvPr/>
        </p:nvSpPr>
        <p:spPr>
          <a:xfrm flipH="false" flipV="false" rot="0">
            <a:off x="6688312" y="9847696"/>
            <a:ext cx="584339" cy="490452"/>
          </a:xfrm>
          <a:custGeom>
            <a:avLst/>
            <a:gdLst/>
            <a:ahLst/>
            <a:cxnLst/>
            <a:rect r="r" b="b" t="t" l="l"/>
            <a:pathLst>
              <a:path h="490452" w="584339">
                <a:moveTo>
                  <a:pt x="0" y="0"/>
                </a:moveTo>
                <a:lnTo>
                  <a:pt x="584340" y="0"/>
                </a:lnTo>
                <a:lnTo>
                  <a:pt x="584340" y="490452"/>
                </a:lnTo>
                <a:lnTo>
                  <a:pt x="0" y="490452"/>
                </a:lnTo>
                <a:lnTo>
                  <a:pt x="0" y="0"/>
                </a:lnTo>
                <a:close/>
              </a:path>
            </a:pathLst>
          </a:custGeom>
          <a:blipFill>
            <a:blip r:embed="rId2"/>
            <a:stretch>
              <a:fillRect l="-6287" t="-6658" r="-8382" b="-29963"/>
            </a:stretch>
          </a:blipFill>
        </p:spPr>
      </p:sp>
      <p:sp>
        <p:nvSpPr>
          <p:cNvPr name="Freeform 4" id="4"/>
          <p:cNvSpPr/>
          <p:nvPr/>
        </p:nvSpPr>
        <p:spPr>
          <a:xfrm flipH="false" flipV="false" rot="0">
            <a:off x="946574" y="1580473"/>
            <a:ext cx="4273615" cy="4088014"/>
          </a:xfrm>
          <a:custGeom>
            <a:avLst/>
            <a:gdLst/>
            <a:ahLst/>
            <a:cxnLst/>
            <a:rect r="r" b="b" t="t" l="l"/>
            <a:pathLst>
              <a:path h="4088014" w="4273615">
                <a:moveTo>
                  <a:pt x="0" y="0"/>
                </a:moveTo>
                <a:lnTo>
                  <a:pt x="4273615" y="0"/>
                </a:lnTo>
                <a:lnTo>
                  <a:pt x="4273615" y="4088014"/>
                </a:lnTo>
                <a:lnTo>
                  <a:pt x="0" y="4088014"/>
                </a:lnTo>
                <a:lnTo>
                  <a:pt x="0" y="0"/>
                </a:lnTo>
                <a:close/>
              </a:path>
            </a:pathLst>
          </a:custGeom>
          <a:blipFill>
            <a:blip r:embed="rId3"/>
            <a:stretch>
              <a:fillRect l="0" t="-2989" r="0" b="-1550"/>
            </a:stretch>
          </a:blipFill>
        </p:spPr>
      </p:sp>
      <p:sp>
        <p:nvSpPr>
          <p:cNvPr name="TextBox 5" id="5"/>
          <p:cNvSpPr txBox="true"/>
          <p:nvPr/>
        </p:nvSpPr>
        <p:spPr>
          <a:xfrm rot="0">
            <a:off x="762401" y="1026066"/>
            <a:ext cx="2114550" cy="210107"/>
          </a:xfrm>
          <a:prstGeom prst="rect">
            <a:avLst/>
          </a:prstGeom>
        </p:spPr>
        <p:txBody>
          <a:bodyPr anchor="t" rtlCol="false" tIns="0" lIns="0" bIns="0" rIns="0">
            <a:spAutoFit/>
          </a:bodyPr>
          <a:lstStyle/>
          <a:p>
            <a:pPr algn="l">
              <a:lnSpc>
                <a:spcPts val="1544"/>
              </a:lnSpc>
            </a:pPr>
            <a:r>
              <a:rPr lang="en-US" sz="1103">
                <a:solidFill>
                  <a:srgbClr val="000001"/>
                </a:solidFill>
                <a:latin typeface="Overpass"/>
                <a:ea typeface="Overpass"/>
                <a:cs typeface="Overpass"/>
                <a:sym typeface="Overpass"/>
              </a:rPr>
              <a:t>ANNUAL REPORT</a:t>
            </a:r>
          </a:p>
        </p:txBody>
      </p:sp>
      <p:sp>
        <p:nvSpPr>
          <p:cNvPr name="TextBox 6" id="6"/>
          <p:cNvSpPr txBox="true"/>
          <p:nvPr/>
        </p:nvSpPr>
        <p:spPr>
          <a:xfrm rot="0">
            <a:off x="4671131" y="1026066"/>
            <a:ext cx="2114550" cy="210107"/>
          </a:xfrm>
          <a:prstGeom prst="rect">
            <a:avLst/>
          </a:prstGeom>
        </p:spPr>
        <p:txBody>
          <a:bodyPr anchor="t" rtlCol="false" tIns="0" lIns="0" bIns="0" rIns="0">
            <a:spAutoFit/>
          </a:bodyPr>
          <a:lstStyle/>
          <a:p>
            <a:pPr algn="r">
              <a:lnSpc>
                <a:spcPts val="1544"/>
              </a:lnSpc>
            </a:pPr>
            <a:r>
              <a:rPr lang="en-US" sz="1103">
                <a:solidFill>
                  <a:srgbClr val="000001"/>
                </a:solidFill>
                <a:latin typeface="Overpass"/>
                <a:ea typeface="Overpass"/>
                <a:cs typeface="Overpass"/>
                <a:sym typeface="Overpass"/>
              </a:rPr>
              <a:t>YEAR 2024-25</a:t>
            </a:r>
          </a:p>
        </p:txBody>
      </p:sp>
      <p:sp>
        <p:nvSpPr>
          <p:cNvPr name="TextBox 7" id="7"/>
          <p:cNvSpPr txBox="true"/>
          <p:nvPr/>
        </p:nvSpPr>
        <p:spPr>
          <a:xfrm rot="0">
            <a:off x="775628" y="471373"/>
            <a:ext cx="5564305" cy="210107"/>
          </a:xfrm>
          <a:prstGeom prst="rect">
            <a:avLst/>
          </a:prstGeom>
        </p:spPr>
        <p:txBody>
          <a:bodyPr anchor="t" rtlCol="false" tIns="0" lIns="0" bIns="0" rIns="0">
            <a:spAutoFit/>
          </a:bodyPr>
          <a:lstStyle/>
          <a:p>
            <a:pPr algn="l">
              <a:lnSpc>
                <a:spcPts val="1544"/>
              </a:lnSpc>
            </a:pPr>
            <a:r>
              <a:rPr lang="en-US" sz="1103">
                <a:solidFill>
                  <a:srgbClr val="000001"/>
                </a:solidFill>
                <a:latin typeface="Overpass"/>
                <a:ea typeface="Overpass"/>
                <a:cs typeface="Overpass"/>
                <a:sym typeface="Overpass"/>
              </a:rPr>
              <a:t>MUNAWWAR FOUNDATION-"ILLUMINATING HEARTS, TRANSFORMING FUTURES"</a:t>
            </a:r>
          </a:p>
        </p:txBody>
      </p:sp>
      <p:sp>
        <p:nvSpPr>
          <p:cNvPr name="TextBox 8" id="8"/>
          <p:cNvSpPr txBox="true"/>
          <p:nvPr/>
        </p:nvSpPr>
        <p:spPr>
          <a:xfrm rot="0">
            <a:off x="1055033" y="7410007"/>
            <a:ext cx="2934000" cy="2250362"/>
          </a:xfrm>
          <a:prstGeom prst="rect">
            <a:avLst/>
          </a:prstGeom>
        </p:spPr>
        <p:txBody>
          <a:bodyPr anchor="t" rtlCol="false" tIns="0" lIns="0" bIns="0" rIns="0">
            <a:spAutoFit/>
          </a:bodyPr>
          <a:lstStyle/>
          <a:p>
            <a:pPr algn="just">
              <a:lnSpc>
                <a:spcPts val="1964"/>
              </a:lnSpc>
            </a:pPr>
            <a:r>
              <a:rPr lang="en-US" sz="1403">
                <a:solidFill>
                  <a:srgbClr val="000001"/>
                </a:solidFill>
                <a:latin typeface="Overpass"/>
                <a:ea typeface="Overpass"/>
                <a:cs typeface="Overpass"/>
                <a:sym typeface="Overpass"/>
              </a:rPr>
              <a:t>The founder of the Munawwar Foundation took a significant step toward promoting awareness of bone marrow donation by personally registering as a donor. This selfless act highlights their commitment to inspiring others to join the cause and emphasizes the critical role of bone marrow donations in saving lives. </a:t>
            </a:r>
          </a:p>
        </p:txBody>
      </p:sp>
      <p:sp>
        <p:nvSpPr>
          <p:cNvPr name="TextBox 9" id="9"/>
          <p:cNvSpPr txBox="true"/>
          <p:nvPr/>
        </p:nvSpPr>
        <p:spPr>
          <a:xfrm rot="0">
            <a:off x="4176451" y="7190338"/>
            <a:ext cx="2934000" cy="2745662"/>
          </a:xfrm>
          <a:prstGeom prst="rect">
            <a:avLst/>
          </a:prstGeom>
        </p:spPr>
        <p:txBody>
          <a:bodyPr anchor="t" rtlCol="false" tIns="0" lIns="0" bIns="0" rIns="0">
            <a:spAutoFit/>
          </a:bodyPr>
          <a:lstStyle/>
          <a:p>
            <a:pPr algn="just">
              <a:lnSpc>
                <a:spcPts val="1964"/>
              </a:lnSpc>
            </a:pPr>
            <a:r>
              <a:rPr lang="en-US" sz="1403">
                <a:solidFill>
                  <a:srgbClr val="000001"/>
                </a:solidFill>
                <a:latin typeface="Overpass"/>
                <a:ea typeface="Overpass"/>
                <a:cs typeface="Overpass"/>
                <a:sym typeface="Overpass"/>
              </a:rPr>
              <a:t>By leading through example, the founder aims to raise awareness about the simplicity and importance of the donation process, encouraging more individuals to take part in this life-saving initiative. Their dedication serves as a powerful message to the community about the impact of collective action in combating serious health challenges.</a:t>
            </a:r>
          </a:p>
        </p:txBody>
      </p:sp>
      <p:sp>
        <p:nvSpPr>
          <p:cNvPr name="TextBox 10" id="10"/>
          <p:cNvSpPr txBox="true"/>
          <p:nvPr/>
        </p:nvSpPr>
        <p:spPr>
          <a:xfrm rot="0">
            <a:off x="946574" y="6003262"/>
            <a:ext cx="3801843" cy="846455"/>
          </a:xfrm>
          <a:prstGeom prst="rect">
            <a:avLst/>
          </a:prstGeom>
        </p:spPr>
        <p:txBody>
          <a:bodyPr anchor="t" rtlCol="false" tIns="0" lIns="0" bIns="0" rIns="0">
            <a:spAutoFit/>
          </a:bodyPr>
          <a:lstStyle/>
          <a:p>
            <a:pPr algn="l" marL="0" indent="0" lvl="0">
              <a:lnSpc>
                <a:spcPts val="3190"/>
              </a:lnSpc>
              <a:spcBef>
                <a:spcPct val="0"/>
              </a:spcBef>
            </a:pPr>
            <a:r>
              <a:rPr lang="en-US" b="true" sz="2900">
                <a:solidFill>
                  <a:srgbClr val="399FAD"/>
                </a:solidFill>
                <a:latin typeface="Cloud Condensed Bold"/>
                <a:ea typeface="Cloud Condensed Bold"/>
                <a:cs typeface="Cloud Condensed Bold"/>
                <a:sym typeface="Cloud Condensed Bold"/>
              </a:rPr>
              <a:t>RAISING AWARENESS FOR BON</a:t>
            </a:r>
            <a:r>
              <a:rPr lang="en-US" b="true" sz="2900">
                <a:solidFill>
                  <a:srgbClr val="399FAD"/>
                </a:solidFill>
                <a:latin typeface="Cloud Condensed Bold"/>
                <a:ea typeface="Cloud Condensed Bold"/>
                <a:cs typeface="Cloud Condensed Bold"/>
                <a:sym typeface="Cloud Condensed Bold"/>
              </a:rPr>
              <a:t>E MARROW DONATION</a:t>
            </a:r>
          </a:p>
        </p:txBody>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bg>
      <p:bgPr>
        <a:solidFill>
          <a:srgbClr val="399FAD"/>
        </a:solidFill>
      </p:bgPr>
    </p:bg>
    <p:spTree>
      <p:nvGrpSpPr>
        <p:cNvPr id="1" name=""/>
        <p:cNvGrpSpPr/>
        <p:nvPr/>
      </p:nvGrpSpPr>
      <p:grpSpPr>
        <a:xfrm>
          <a:off x="0" y="0"/>
          <a:ext cx="0" cy="0"/>
          <a:chOff x="0" y="0"/>
          <a:chExt cx="0" cy="0"/>
        </a:xfrm>
      </p:grpSpPr>
      <p:grpSp>
        <p:nvGrpSpPr>
          <p:cNvPr name="Group 2" id="2"/>
          <p:cNvGrpSpPr/>
          <p:nvPr/>
        </p:nvGrpSpPr>
        <p:grpSpPr>
          <a:xfrm rot="0">
            <a:off x="0" y="5496951"/>
            <a:ext cx="7560000" cy="5195049"/>
            <a:chOff x="0" y="0"/>
            <a:chExt cx="2709333" cy="1861788"/>
          </a:xfrm>
        </p:grpSpPr>
        <p:sp>
          <p:nvSpPr>
            <p:cNvPr name="Freeform 3" id="3"/>
            <p:cNvSpPr/>
            <p:nvPr/>
          </p:nvSpPr>
          <p:spPr>
            <a:xfrm flipH="false" flipV="false" rot="0">
              <a:off x="0" y="0"/>
              <a:ext cx="2709333" cy="1861788"/>
            </a:xfrm>
            <a:custGeom>
              <a:avLst/>
              <a:gdLst/>
              <a:ahLst/>
              <a:cxnLst/>
              <a:rect r="r" b="b" t="t" l="l"/>
              <a:pathLst>
                <a:path h="1861788" w="2709333">
                  <a:moveTo>
                    <a:pt x="0" y="0"/>
                  </a:moveTo>
                  <a:lnTo>
                    <a:pt x="2709333" y="0"/>
                  </a:lnTo>
                  <a:lnTo>
                    <a:pt x="2709333" y="1861788"/>
                  </a:lnTo>
                  <a:lnTo>
                    <a:pt x="0" y="1861788"/>
                  </a:lnTo>
                  <a:close/>
                </a:path>
              </a:pathLst>
            </a:custGeom>
            <a:solidFill>
              <a:srgbClr val="FFFFFF"/>
            </a:solidFill>
          </p:spPr>
        </p:sp>
        <p:sp>
          <p:nvSpPr>
            <p:cNvPr name="TextBox 4" id="4"/>
            <p:cNvSpPr txBox="true"/>
            <p:nvPr/>
          </p:nvSpPr>
          <p:spPr>
            <a:xfrm>
              <a:off x="0" y="-47625"/>
              <a:ext cx="2709333" cy="1909413"/>
            </a:xfrm>
            <a:prstGeom prst="rect">
              <a:avLst/>
            </a:prstGeom>
          </p:spPr>
          <p:txBody>
            <a:bodyPr anchor="ctr" rtlCol="false" tIns="50800" lIns="50800" bIns="50800" rIns="50800"/>
            <a:lstStyle/>
            <a:p>
              <a:pPr algn="ctr">
                <a:lnSpc>
                  <a:spcPts val="1544"/>
                </a:lnSpc>
              </a:pPr>
            </a:p>
          </p:txBody>
        </p:sp>
      </p:grpSp>
      <p:sp>
        <p:nvSpPr>
          <p:cNvPr name="AutoShape 5" id="5"/>
          <p:cNvSpPr/>
          <p:nvPr/>
        </p:nvSpPr>
        <p:spPr>
          <a:xfrm>
            <a:off x="762401" y="756000"/>
            <a:ext cx="6023281" cy="0"/>
          </a:xfrm>
          <a:prstGeom prst="line">
            <a:avLst/>
          </a:prstGeom>
          <a:ln cap="flat" w="28575">
            <a:solidFill>
              <a:srgbClr val="FFFFFF"/>
            </a:solidFill>
            <a:prstDash val="solid"/>
            <a:headEnd type="none" len="sm" w="sm"/>
            <a:tailEnd type="none" len="sm" w="sm"/>
          </a:ln>
        </p:spPr>
      </p:sp>
      <p:sp>
        <p:nvSpPr>
          <p:cNvPr name="Freeform 6" id="6"/>
          <p:cNvSpPr/>
          <p:nvPr/>
        </p:nvSpPr>
        <p:spPr>
          <a:xfrm flipH="false" flipV="false" rot="0">
            <a:off x="6688312" y="9847696"/>
            <a:ext cx="584339" cy="490452"/>
          </a:xfrm>
          <a:custGeom>
            <a:avLst/>
            <a:gdLst/>
            <a:ahLst/>
            <a:cxnLst/>
            <a:rect r="r" b="b" t="t" l="l"/>
            <a:pathLst>
              <a:path h="490452" w="584339">
                <a:moveTo>
                  <a:pt x="0" y="0"/>
                </a:moveTo>
                <a:lnTo>
                  <a:pt x="584340" y="0"/>
                </a:lnTo>
                <a:lnTo>
                  <a:pt x="584340" y="490452"/>
                </a:lnTo>
                <a:lnTo>
                  <a:pt x="0" y="490452"/>
                </a:lnTo>
                <a:lnTo>
                  <a:pt x="0" y="0"/>
                </a:lnTo>
                <a:close/>
              </a:path>
            </a:pathLst>
          </a:custGeom>
          <a:blipFill>
            <a:blip r:embed="rId2"/>
            <a:stretch>
              <a:fillRect l="-6287" t="-6658" r="-8382" b="-29963"/>
            </a:stretch>
          </a:blipFill>
        </p:spPr>
      </p:sp>
      <p:sp>
        <p:nvSpPr>
          <p:cNvPr name="Freeform 7" id="7"/>
          <p:cNvSpPr/>
          <p:nvPr/>
        </p:nvSpPr>
        <p:spPr>
          <a:xfrm flipH="false" flipV="false" rot="0">
            <a:off x="1092725" y="1590698"/>
            <a:ext cx="6467275" cy="4316906"/>
          </a:xfrm>
          <a:custGeom>
            <a:avLst/>
            <a:gdLst/>
            <a:ahLst/>
            <a:cxnLst/>
            <a:rect r="r" b="b" t="t" l="l"/>
            <a:pathLst>
              <a:path h="4316906" w="6467275">
                <a:moveTo>
                  <a:pt x="0" y="0"/>
                </a:moveTo>
                <a:lnTo>
                  <a:pt x="6467275" y="0"/>
                </a:lnTo>
                <a:lnTo>
                  <a:pt x="6467275" y="4316906"/>
                </a:lnTo>
                <a:lnTo>
                  <a:pt x="0" y="4316906"/>
                </a:lnTo>
                <a:lnTo>
                  <a:pt x="0" y="0"/>
                </a:lnTo>
                <a:close/>
              </a:path>
            </a:pathLst>
          </a:custGeom>
          <a:blipFill>
            <a:blip r:embed="rId3"/>
            <a:stretch>
              <a:fillRect l="0" t="0" r="0" b="0"/>
            </a:stretch>
          </a:blipFill>
        </p:spPr>
      </p:sp>
      <p:sp>
        <p:nvSpPr>
          <p:cNvPr name="TextBox 8" id="8"/>
          <p:cNvSpPr txBox="true"/>
          <p:nvPr/>
        </p:nvSpPr>
        <p:spPr>
          <a:xfrm rot="0">
            <a:off x="762401" y="1026066"/>
            <a:ext cx="2114550" cy="210107"/>
          </a:xfrm>
          <a:prstGeom prst="rect">
            <a:avLst/>
          </a:prstGeom>
        </p:spPr>
        <p:txBody>
          <a:bodyPr anchor="t" rtlCol="false" tIns="0" lIns="0" bIns="0" rIns="0">
            <a:spAutoFit/>
          </a:bodyPr>
          <a:lstStyle/>
          <a:p>
            <a:pPr algn="l">
              <a:lnSpc>
                <a:spcPts val="1544"/>
              </a:lnSpc>
            </a:pPr>
            <a:r>
              <a:rPr lang="en-US" sz="1103">
                <a:solidFill>
                  <a:srgbClr val="FFFFFF"/>
                </a:solidFill>
                <a:latin typeface="Overpass"/>
                <a:ea typeface="Overpass"/>
                <a:cs typeface="Overpass"/>
                <a:sym typeface="Overpass"/>
              </a:rPr>
              <a:t>ANNUAL REPORT</a:t>
            </a:r>
          </a:p>
        </p:txBody>
      </p:sp>
      <p:sp>
        <p:nvSpPr>
          <p:cNvPr name="TextBox 9" id="9"/>
          <p:cNvSpPr txBox="true"/>
          <p:nvPr/>
        </p:nvSpPr>
        <p:spPr>
          <a:xfrm rot="0">
            <a:off x="4671131" y="1026066"/>
            <a:ext cx="2114550" cy="210107"/>
          </a:xfrm>
          <a:prstGeom prst="rect">
            <a:avLst/>
          </a:prstGeom>
        </p:spPr>
        <p:txBody>
          <a:bodyPr anchor="t" rtlCol="false" tIns="0" lIns="0" bIns="0" rIns="0">
            <a:spAutoFit/>
          </a:bodyPr>
          <a:lstStyle/>
          <a:p>
            <a:pPr algn="r">
              <a:lnSpc>
                <a:spcPts val="1544"/>
              </a:lnSpc>
            </a:pPr>
            <a:r>
              <a:rPr lang="en-US" sz="1103">
                <a:solidFill>
                  <a:srgbClr val="FFFFFF"/>
                </a:solidFill>
                <a:latin typeface="Overpass"/>
                <a:ea typeface="Overpass"/>
                <a:cs typeface="Overpass"/>
                <a:sym typeface="Overpass"/>
              </a:rPr>
              <a:t>YEAR 2024-25</a:t>
            </a:r>
          </a:p>
        </p:txBody>
      </p:sp>
      <p:sp>
        <p:nvSpPr>
          <p:cNvPr name="TextBox 10" id="10"/>
          <p:cNvSpPr txBox="true"/>
          <p:nvPr/>
        </p:nvSpPr>
        <p:spPr>
          <a:xfrm rot="0">
            <a:off x="775628" y="471373"/>
            <a:ext cx="5564305" cy="210107"/>
          </a:xfrm>
          <a:prstGeom prst="rect">
            <a:avLst/>
          </a:prstGeom>
        </p:spPr>
        <p:txBody>
          <a:bodyPr anchor="t" rtlCol="false" tIns="0" lIns="0" bIns="0" rIns="0">
            <a:spAutoFit/>
          </a:bodyPr>
          <a:lstStyle/>
          <a:p>
            <a:pPr algn="l">
              <a:lnSpc>
                <a:spcPts val="1544"/>
              </a:lnSpc>
            </a:pPr>
            <a:r>
              <a:rPr lang="en-US" sz="1103">
                <a:solidFill>
                  <a:srgbClr val="FFFFFF"/>
                </a:solidFill>
                <a:latin typeface="Overpass"/>
                <a:ea typeface="Overpass"/>
                <a:cs typeface="Overpass"/>
                <a:sym typeface="Overpass"/>
              </a:rPr>
              <a:t>MUNAWWAR FOUNDATION-"ILLUMINATING HEARTS, TRANSFORMING FUTURES"</a:t>
            </a:r>
          </a:p>
        </p:txBody>
      </p:sp>
      <p:sp>
        <p:nvSpPr>
          <p:cNvPr name="TextBox 11" id="11"/>
          <p:cNvSpPr txBox="true"/>
          <p:nvPr/>
        </p:nvSpPr>
        <p:spPr>
          <a:xfrm rot="0">
            <a:off x="931708" y="6063870"/>
            <a:ext cx="4208957" cy="936625"/>
          </a:xfrm>
          <a:prstGeom prst="rect">
            <a:avLst/>
          </a:prstGeom>
        </p:spPr>
        <p:txBody>
          <a:bodyPr anchor="t" rtlCol="false" tIns="0" lIns="0" bIns="0" rIns="0">
            <a:spAutoFit/>
          </a:bodyPr>
          <a:lstStyle/>
          <a:p>
            <a:pPr algn="l">
              <a:lnSpc>
                <a:spcPts val="3960"/>
              </a:lnSpc>
            </a:pPr>
            <a:r>
              <a:rPr lang="en-US" sz="3600" b="true">
                <a:solidFill>
                  <a:srgbClr val="399FAD"/>
                </a:solidFill>
                <a:latin typeface="Cloud Condensed Bold"/>
                <a:ea typeface="Cloud Condensed Bold"/>
                <a:cs typeface="Cloud Condensed Bold"/>
                <a:sym typeface="Cloud Condensed Bold"/>
              </a:rPr>
              <a:t>KUDOS AND PRAISE</a:t>
            </a:r>
          </a:p>
          <a:p>
            <a:pPr algn="l" marL="0" indent="0" lvl="0">
              <a:lnSpc>
                <a:spcPts val="3190"/>
              </a:lnSpc>
              <a:spcBef>
                <a:spcPct val="0"/>
              </a:spcBef>
            </a:pPr>
            <a:r>
              <a:rPr lang="en-US" b="true" sz="2900">
                <a:solidFill>
                  <a:srgbClr val="399FAD"/>
                </a:solidFill>
                <a:latin typeface="Cloud Condensed Bold"/>
                <a:ea typeface="Cloud Condensed Bold"/>
                <a:cs typeface="Cloud Condensed Bold"/>
                <a:sym typeface="Cloud Condensed Bold"/>
              </a:rPr>
              <a:t>-PUBLIC ACKNOWLEDGMENT</a:t>
            </a:r>
          </a:p>
        </p:txBody>
      </p:sp>
      <p:grpSp>
        <p:nvGrpSpPr>
          <p:cNvPr name="Group 12" id="12"/>
          <p:cNvGrpSpPr/>
          <p:nvPr/>
        </p:nvGrpSpPr>
        <p:grpSpPr>
          <a:xfrm rot="0">
            <a:off x="931708" y="7156760"/>
            <a:ext cx="6048774" cy="2936162"/>
            <a:chOff x="0" y="0"/>
            <a:chExt cx="8065032" cy="3914883"/>
          </a:xfrm>
        </p:grpSpPr>
        <p:sp>
          <p:nvSpPr>
            <p:cNvPr name="TextBox 13" id="13"/>
            <p:cNvSpPr txBox="true"/>
            <p:nvPr/>
          </p:nvSpPr>
          <p:spPr>
            <a:xfrm rot="0">
              <a:off x="4153032" y="205883"/>
              <a:ext cx="3912000" cy="3311633"/>
            </a:xfrm>
            <a:prstGeom prst="rect">
              <a:avLst/>
            </a:prstGeom>
          </p:spPr>
          <p:txBody>
            <a:bodyPr anchor="t" rtlCol="false" tIns="0" lIns="0" bIns="0" rIns="0">
              <a:spAutoFit/>
            </a:bodyPr>
            <a:lstStyle/>
            <a:p>
              <a:pPr algn="just">
                <a:lnSpc>
                  <a:spcPts val="1964"/>
                </a:lnSpc>
              </a:pPr>
              <a:r>
                <a:rPr lang="en-US" sz="1403">
                  <a:solidFill>
                    <a:srgbClr val="000001"/>
                  </a:solidFill>
                  <a:latin typeface="Overpass"/>
                  <a:ea typeface="Overpass"/>
                  <a:cs typeface="Overpass"/>
                  <a:sym typeface="Overpass"/>
                </a:rPr>
                <a:t>By celebrating these efforts, the Munawwar Foundation aims to inspire others to engage in meaningful social</a:t>
              </a:r>
              <a:r>
                <a:rPr lang="en-US" sz="1403">
                  <a:solidFill>
                    <a:srgbClr val="000001"/>
                  </a:solidFill>
                  <a:latin typeface="Overpass"/>
                  <a:ea typeface="Overpass"/>
                  <a:cs typeface="Overpass"/>
                  <a:sym typeface="Overpass"/>
                </a:rPr>
                <a:t> work, fostering a community committed to making a difference. Their recognition helps elevate the importance of social contributions and encourages continued dedication to humanitarian causes.</a:t>
              </a:r>
            </a:p>
          </p:txBody>
        </p:sp>
        <p:sp>
          <p:nvSpPr>
            <p:cNvPr name="TextBox 14" id="14"/>
            <p:cNvSpPr txBox="true"/>
            <p:nvPr/>
          </p:nvSpPr>
          <p:spPr>
            <a:xfrm rot="0">
              <a:off x="0" y="-57150"/>
              <a:ext cx="3912000" cy="3972033"/>
            </a:xfrm>
            <a:prstGeom prst="rect">
              <a:avLst/>
            </a:prstGeom>
          </p:spPr>
          <p:txBody>
            <a:bodyPr anchor="t" rtlCol="false" tIns="0" lIns="0" bIns="0" rIns="0">
              <a:spAutoFit/>
            </a:bodyPr>
            <a:lstStyle/>
            <a:p>
              <a:pPr algn="just">
                <a:lnSpc>
                  <a:spcPts val="1964"/>
                </a:lnSpc>
              </a:pPr>
              <a:r>
                <a:rPr lang="en-US" sz="1403">
                  <a:solidFill>
                    <a:srgbClr val="000001"/>
                  </a:solidFill>
                  <a:latin typeface="Overpass"/>
                  <a:ea typeface="Overpass"/>
                  <a:cs typeface="Overpass"/>
                  <a:sym typeface="Overpass"/>
                </a:rPr>
                <a:t>The Munawwar Foundation facilitates and recognizes outstanding contributions to social work by honoring individuals and organizations dedicated to making a positive impact on society. Through various initiatives and events, the foundation acknowledges the tireless efforts of social workers who address critical issues such as poverty, education, health, and human rights. </a:t>
              </a:r>
            </a:p>
          </p:txBody>
        </p:sp>
      </p:gr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flipV="true">
            <a:off x="736600" y="756000"/>
            <a:ext cx="6067400" cy="14288"/>
          </a:xfrm>
          <a:prstGeom prst="line">
            <a:avLst/>
          </a:prstGeom>
          <a:ln cap="flat" w="28575">
            <a:solidFill>
              <a:srgbClr val="000001"/>
            </a:solidFill>
            <a:prstDash val="solid"/>
            <a:headEnd type="none" len="sm" w="sm"/>
            <a:tailEnd type="none" len="sm" w="sm"/>
          </a:ln>
        </p:spPr>
      </p:sp>
      <p:sp>
        <p:nvSpPr>
          <p:cNvPr name="Freeform 3" id="3"/>
          <p:cNvSpPr/>
          <p:nvPr/>
        </p:nvSpPr>
        <p:spPr>
          <a:xfrm flipH="false" flipV="false" rot="0">
            <a:off x="6688312" y="9847696"/>
            <a:ext cx="584339" cy="490452"/>
          </a:xfrm>
          <a:custGeom>
            <a:avLst/>
            <a:gdLst/>
            <a:ahLst/>
            <a:cxnLst/>
            <a:rect r="r" b="b" t="t" l="l"/>
            <a:pathLst>
              <a:path h="490452" w="584339">
                <a:moveTo>
                  <a:pt x="0" y="0"/>
                </a:moveTo>
                <a:lnTo>
                  <a:pt x="584340" y="0"/>
                </a:lnTo>
                <a:lnTo>
                  <a:pt x="584340" y="490452"/>
                </a:lnTo>
                <a:lnTo>
                  <a:pt x="0" y="490452"/>
                </a:lnTo>
                <a:lnTo>
                  <a:pt x="0" y="0"/>
                </a:lnTo>
                <a:close/>
              </a:path>
            </a:pathLst>
          </a:custGeom>
          <a:blipFill>
            <a:blip r:embed="rId2"/>
            <a:stretch>
              <a:fillRect l="-6287" t="-6658" r="-8382" b="-29963"/>
            </a:stretch>
          </a:blipFill>
        </p:spPr>
      </p:sp>
      <p:sp>
        <p:nvSpPr>
          <p:cNvPr name="Freeform 4" id="4"/>
          <p:cNvSpPr/>
          <p:nvPr/>
        </p:nvSpPr>
        <p:spPr>
          <a:xfrm flipH="false" flipV="false" rot="0">
            <a:off x="736600" y="2868195"/>
            <a:ext cx="2724987" cy="4651471"/>
          </a:xfrm>
          <a:custGeom>
            <a:avLst/>
            <a:gdLst/>
            <a:ahLst/>
            <a:cxnLst/>
            <a:rect r="r" b="b" t="t" l="l"/>
            <a:pathLst>
              <a:path h="4651471" w="2724987">
                <a:moveTo>
                  <a:pt x="0" y="0"/>
                </a:moveTo>
                <a:lnTo>
                  <a:pt x="2724987" y="0"/>
                </a:lnTo>
                <a:lnTo>
                  <a:pt x="2724987" y="4651472"/>
                </a:lnTo>
                <a:lnTo>
                  <a:pt x="0" y="4651472"/>
                </a:lnTo>
                <a:lnTo>
                  <a:pt x="0" y="0"/>
                </a:lnTo>
                <a:close/>
              </a:path>
            </a:pathLst>
          </a:custGeom>
          <a:blipFill>
            <a:blip r:embed="rId3"/>
            <a:stretch>
              <a:fillRect l="0" t="0" r="0" b="0"/>
            </a:stretch>
          </a:blipFill>
        </p:spPr>
      </p:sp>
      <p:sp>
        <p:nvSpPr>
          <p:cNvPr name="TextBox 5" id="5"/>
          <p:cNvSpPr txBox="true"/>
          <p:nvPr/>
        </p:nvSpPr>
        <p:spPr>
          <a:xfrm rot="0">
            <a:off x="775628" y="471373"/>
            <a:ext cx="5564305" cy="210107"/>
          </a:xfrm>
          <a:prstGeom prst="rect">
            <a:avLst/>
          </a:prstGeom>
        </p:spPr>
        <p:txBody>
          <a:bodyPr anchor="t" rtlCol="false" tIns="0" lIns="0" bIns="0" rIns="0">
            <a:spAutoFit/>
          </a:bodyPr>
          <a:lstStyle/>
          <a:p>
            <a:pPr algn="l">
              <a:lnSpc>
                <a:spcPts val="1544"/>
              </a:lnSpc>
            </a:pPr>
            <a:r>
              <a:rPr lang="en-US" sz="1103">
                <a:solidFill>
                  <a:srgbClr val="000001"/>
                </a:solidFill>
                <a:latin typeface="Overpass"/>
                <a:ea typeface="Overpass"/>
                <a:cs typeface="Overpass"/>
                <a:sym typeface="Overpass"/>
              </a:rPr>
              <a:t>MUNAWWAR FOUNDATION-"ILLUMINATING HEARTS, TRANSFORMING FUTURES"</a:t>
            </a:r>
          </a:p>
        </p:txBody>
      </p:sp>
      <p:sp>
        <p:nvSpPr>
          <p:cNvPr name="TextBox 6" id="6"/>
          <p:cNvSpPr txBox="true"/>
          <p:nvPr/>
        </p:nvSpPr>
        <p:spPr>
          <a:xfrm rot="0">
            <a:off x="825144" y="1590015"/>
            <a:ext cx="6051636" cy="1172806"/>
          </a:xfrm>
          <a:prstGeom prst="rect">
            <a:avLst/>
          </a:prstGeom>
        </p:spPr>
        <p:txBody>
          <a:bodyPr anchor="t" rtlCol="false" tIns="0" lIns="0" bIns="0" rIns="0">
            <a:spAutoFit/>
          </a:bodyPr>
          <a:lstStyle/>
          <a:p>
            <a:pPr algn="just">
              <a:lnSpc>
                <a:spcPts val="1823"/>
              </a:lnSpc>
            </a:pPr>
            <a:r>
              <a:rPr lang="en-US" sz="1403" b="true">
                <a:solidFill>
                  <a:srgbClr val="000001"/>
                </a:solidFill>
                <a:latin typeface="Overpass Ultra-Bold"/>
                <a:ea typeface="Overpass Ultra-Bold"/>
                <a:cs typeface="Overpass Ultra-Bold"/>
                <a:sym typeface="Overpass Ultra-Bold"/>
              </a:rPr>
              <a:t>Founding the Munawwar Foundation in Memory of My Loving Mother-</a:t>
            </a:r>
            <a:r>
              <a:rPr lang="en-US" sz="1403">
                <a:solidFill>
                  <a:srgbClr val="000001"/>
                </a:solidFill>
                <a:latin typeface="Overpass"/>
                <a:ea typeface="Overpass"/>
                <a:cs typeface="Overpass"/>
                <a:sym typeface="Overpass"/>
              </a:rPr>
              <a:t>Life is a tapestry woven with threads of love, loss, and the indelible impact of those we hold dear. I want to share a deeply personal journey—one that has led to the creation of the Munawwar Foundation, a tribute to my mother’s remarkable legacy.</a:t>
            </a:r>
          </a:p>
        </p:txBody>
      </p:sp>
      <p:sp>
        <p:nvSpPr>
          <p:cNvPr name="TextBox 7" id="7"/>
          <p:cNvSpPr txBox="true"/>
          <p:nvPr/>
        </p:nvSpPr>
        <p:spPr>
          <a:xfrm rot="0">
            <a:off x="825144" y="7641098"/>
            <a:ext cx="6071036" cy="2250362"/>
          </a:xfrm>
          <a:prstGeom prst="rect">
            <a:avLst/>
          </a:prstGeom>
        </p:spPr>
        <p:txBody>
          <a:bodyPr anchor="t" rtlCol="false" tIns="0" lIns="0" bIns="0" rIns="0">
            <a:spAutoFit/>
          </a:bodyPr>
          <a:lstStyle/>
          <a:p>
            <a:pPr algn="just">
              <a:lnSpc>
                <a:spcPts val="1964"/>
              </a:lnSpc>
            </a:pPr>
            <a:r>
              <a:rPr lang="en-US" sz="1403">
                <a:solidFill>
                  <a:srgbClr val="000001"/>
                </a:solidFill>
                <a:latin typeface="Overpass"/>
                <a:ea typeface="Overpass"/>
                <a:cs typeface="Overpass"/>
                <a:sym typeface="Overpass"/>
              </a:rPr>
              <a:t>T</a:t>
            </a:r>
            <a:r>
              <a:rPr lang="en-US" sz="1403" b="true">
                <a:solidFill>
                  <a:srgbClr val="000001"/>
                </a:solidFill>
                <a:latin typeface="Overpass Ultra-Bold"/>
                <a:ea typeface="Overpass Ultra-Bold"/>
                <a:cs typeface="Overpass Ultra-Bold"/>
                <a:sym typeface="Overpass Ultra-Bold"/>
              </a:rPr>
              <a:t>he Birth of the Munawwar Foundation-</a:t>
            </a:r>
            <a:r>
              <a:rPr lang="en-US" sz="1403">
                <a:solidFill>
                  <a:srgbClr val="000001"/>
                </a:solidFill>
                <a:latin typeface="Overpass"/>
                <a:ea typeface="Overpass"/>
                <a:cs typeface="Overpass"/>
                <a:sym typeface="Overpass"/>
              </a:rPr>
              <a:t>The Munawwar Foundation was born from this realization. Its mission is to carry forward my mother’s legacy of kindness and service. The foundation aims to support and uplift communities through various programs and initiatives inspired by her values.</a:t>
            </a:r>
          </a:p>
          <a:p>
            <a:pPr algn="just">
              <a:lnSpc>
                <a:spcPts val="1964"/>
              </a:lnSpc>
            </a:pPr>
            <a:r>
              <a:rPr lang="en-US" sz="1403">
                <a:solidFill>
                  <a:srgbClr val="000001"/>
                </a:solidFill>
                <a:latin typeface="Overpass"/>
                <a:ea typeface="Overpass"/>
                <a:cs typeface="Overpass"/>
                <a:sym typeface="Overpass"/>
              </a:rPr>
              <a:t>We embark on a journey of compassion, empowerment, and transformation under the guiding light of our motto: Illuminating Hearts, Transforming Futures.</a:t>
            </a:r>
          </a:p>
          <a:p>
            <a:pPr algn="just">
              <a:lnSpc>
                <a:spcPts val="1964"/>
              </a:lnSpc>
            </a:pPr>
          </a:p>
        </p:txBody>
      </p:sp>
      <p:sp>
        <p:nvSpPr>
          <p:cNvPr name="TextBox 8" id="8"/>
          <p:cNvSpPr txBox="true"/>
          <p:nvPr/>
        </p:nvSpPr>
        <p:spPr>
          <a:xfrm rot="0">
            <a:off x="736600" y="991845"/>
            <a:ext cx="3855411" cy="541020"/>
          </a:xfrm>
          <a:prstGeom prst="rect">
            <a:avLst/>
          </a:prstGeom>
        </p:spPr>
        <p:txBody>
          <a:bodyPr anchor="t" rtlCol="false" tIns="0" lIns="0" bIns="0" rIns="0">
            <a:spAutoFit/>
          </a:bodyPr>
          <a:lstStyle/>
          <a:p>
            <a:pPr algn="l" marL="0" indent="0" lvl="0">
              <a:lnSpc>
                <a:spcPts val="3960"/>
              </a:lnSpc>
              <a:spcBef>
                <a:spcPct val="0"/>
              </a:spcBef>
            </a:pPr>
            <a:r>
              <a:rPr lang="en-US" b="true" sz="3600">
                <a:solidFill>
                  <a:srgbClr val="399FAD"/>
                </a:solidFill>
                <a:latin typeface="Cloud Condensed Bold"/>
                <a:ea typeface="Cloud Condensed Bold"/>
                <a:cs typeface="Cloud Condensed Bold"/>
                <a:sym typeface="Cloud Condensed Bold"/>
              </a:rPr>
              <a:t>HONORING A LEGACY</a:t>
            </a:r>
          </a:p>
        </p:txBody>
      </p:sp>
      <p:sp>
        <p:nvSpPr>
          <p:cNvPr name="TextBox 9" id="9"/>
          <p:cNvSpPr txBox="true"/>
          <p:nvPr/>
        </p:nvSpPr>
        <p:spPr>
          <a:xfrm rot="0">
            <a:off x="3685656" y="2669415"/>
            <a:ext cx="3191125" cy="2745662"/>
          </a:xfrm>
          <a:prstGeom prst="rect">
            <a:avLst/>
          </a:prstGeom>
        </p:spPr>
        <p:txBody>
          <a:bodyPr anchor="t" rtlCol="false" tIns="0" lIns="0" bIns="0" rIns="0">
            <a:spAutoFit/>
          </a:bodyPr>
          <a:lstStyle/>
          <a:p>
            <a:pPr algn="just">
              <a:lnSpc>
                <a:spcPts val="1964"/>
              </a:lnSpc>
            </a:pPr>
            <a:r>
              <a:rPr lang="en-US" sz="1403" b="true">
                <a:solidFill>
                  <a:srgbClr val="000001"/>
                </a:solidFill>
                <a:latin typeface="Overpass Ultra-Bold"/>
                <a:ea typeface="Overpass Ultra-Bold"/>
                <a:cs typeface="Overpass Ultra-Bold"/>
                <a:sym typeface="Overpass Ultra-Bold"/>
              </a:rPr>
              <a:t>A Tribute to an Unforgettable Soul-</a:t>
            </a:r>
          </a:p>
          <a:p>
            <a:pPr algn="just">
              <a:lnSpc>
                <a:spcPts val="1964"/>
              </a:lnSpc>
            </a:pPr>
            <a:r>
              <a:rPr lang="en-US" sz="1403">
                <a:solidFill>
                  <a:srgbClr val="000001"/>
                </a:solidFill>
                <a:latin typeface="Overpass"/>
                <a:ea typeface="Overpass"/>
                <a:cs typeface="Overpass"/>
                <a:sym typeface="Overpass"/>
              </a:rPr>
              <a:t>My mother, Munawwar, was more than just a parent to me. She was a guiding light, a source of unwavering strength, and a wellspring of compassion. Her life was a testament to kindness and selflessness, and her impact on those around her was profound. She had an incredible ability to lift spirits, offer comfort, and make every person she met feel valued and loved.</a:t>
            </a:r>
          </a:p>
        </p:txBody>
      </p:sp>
      <p:sp>
        <p:nvSpPr>
          <p:cNvPr name="TextBox 10" id="10"/>
          <p:cNvSpPr txBox="true"/>
          <p:nvPr/>
        </p:nvSpPr>
        <p:spPr>
          <a:xfrm rot="0">
            <a:off x="3685656" y="5415077"/>
            <a:ext cx="3191125" cy="2002712"/>
          </a:xfrm>
          <a:prstGeom prst="rect">
            <a:avLst/>
          </a:prstGeom>
        </p:spPr>
        <p:txBody>
          <a:bodyPr anchor="t" rtlCol="false" tIns="0" lIns="0" bIns="0" rIns="0">
            <a:spAutoFit/>
          </a:bodyPr>
          <a:lstStyle/>
          <a:p>
            <a:pPr algn="just">
              <a:lnSpc>
                <a:spcPts val="1964"/>
              </a:lnSpc>
            </a:pPr>
            <a:r>
              <a:rPr lang="en-US" sz="1403">
                <a:solidFill>
                  <a:srgbClr val="000001"/>
                </a:solidFill>
                <a:latin typeface="Overpass"/>
                <a:ea typeface="Overpass"/>
                <a:cs typeface="Overpass"/>
                <a:sym typeface="Overpass"/>
              </a:rPr>
              <a:t>When she passed, it felt as though a part of my world had dimmed. The void was immense, and the grief was overwhelming. But in the midst of the sorrow, I realized that the best way to honor her memory was not to dwell on the loss, but to celebrate her life and the values she held dear.</a:t>
            </a:r>
          </a:p>
        </p:txBody>
      </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bg>
      <p:bgPr>
        <a:solidFill>
          <a:srgbClr val="399FAD"/>
        </a:solidFill>
      </p:bgPr>
    </p:bg>
    <p:spTree>
      <p:nvGrpSpPr>
        <p:cNvPr id="1" name=""/>
        <p:cNvGrpSpPr/>
        <p:nvPr/>
      </p:nvGrpSpPr>
      <p:grpSpPr>
        <a:xfrm>
          <a:off x="0" y="0"/>
          <a:ext cx="0" cy="0"/>
          <a:chOff x="0" y="0"/>
          <a:chExt cx="0" cy="0"/>
        </a:xfrm>
      </p:grpSpPr>
      <p:grpSp>
        <p:nvGrpSpPr>
          <p:cNvPr name="Group 2" id="2"/>
          <p:cNvGrpSpPr/>
          <p:nvPr/>
        </p:nvGrpSpPr>
        <p:grpSpPr>
          <a:xfrm rot="0">
            <a:off x="-143596" y="0"/>
            <a:ext cx="7871594" cy="5020109"/>
            <a:chOff x="0" y="0"/>
            <a:chExt cx="10495458" cy="6693478"/>
          </a:xfrm>
        </p:grpSpPr>
        <p:pic>
          <p:nvPicPr>
            <p:cNvPr name="Picture 3" id="3"/>
            <p:cNvPicPr>
              <a:picLocks noChangeAspect="true"/>
            </p:cNvPicPr>
            <p:nvPr/>
          </p:nvPicPr>
          <p:blipFill>
            <a:blip r:embed="rId2"/>
            <a:srcRect l="0" t="3164" r="0" b="3164"/>
            <a:stretch>
              <a:fillRect/>
            </a:stretch>
          </p:blipFill>
          <p:spPr>
            <a:xfrm flipH="false" flipV="false">
              <a:off x="0" y="0"/>
              <a:ext cx="10495458" cy="6693478"/>
            </a:xfrm>
            <a:prstGeom prst="rect">
              <a:avLst/>
            </a:prstGeom>
          </p:spPr>
        </p:pic>
      </p:grpSp>
      <p:sp>
        <p:nvSpPr>
          <p:cNvPr name="Freeform 4" id="4"/>
          <p:cNvSpPr/>
          <p:nvPr/>
        </p:nvSpPr>
        <p:spPr>
          <a:xfrm flipH="false" flipV="false" rot="0">
            <a:off x="5227371" y="9095434"/>
            <a:ext cx="1344513" cy="1135884"/>
          </a:xfrm>
          <a:custGeom>
            <a:avLst/>
            <a:gdLst/>
            <a:ahLst/>
            <a:cxnLst/>
            <a:rect r="r" b="b" t="t" l="l"/>
            <a:pathLst>
              <a:path h="1135884" w="1344513">
                <a:moveTo>
                  <a:pt x="0" y="0"/>
                </a:moveTo>
                <a:lnTo>
                  <a:pt x="1344513" y="0"/>
                </a:lnTo>
                <a:lnTo>
                  <a:pt x="1344513" y="1135884"/>
                </a:lnTo>
                <a:lnTo>
                  <a:pt x="0" y="1135884"/>
                </a:lnTo>
                <a:lnTo>
                  <a:pt x="0" y="0"/>
                </a:lnTo>
                <a:close/>
              </a:path>
            </a:pathLst>
          </a:custGeom>
          <a:blipFill>
            <a:blip r:embed="rId3"/>
            <a:stretch>
              <a:fillRect l="-7758" t="-5357" r="-9051" b="-32907"/>
            </a:stretch>
          </a:blipFill>
        </p:spPr>
      </p:sp>
      <p:sp>
        <p:nvSpPr>
          <p:cNvPr name="TextBox 5" id="5"/>
          <p:cNvSpPr txBox="true"/>
          <p:nvPr/>
        </p:nvSpPr>
        <p:spPr>
          <a:xfrm rot="0">
            <a:off x="756000" y="6455024"/>
            <a:ext cx="2548313" cy="854633"/>
          </a:xfrm>
          <a:prstGeom prst="rect">
            <a:avLst/>
          </a:prstGeom>
        </p:spPr>
        <p:txBody>
          <a:bodyPr anchor="t" rtlCol="false" tIns="0" lIns="0" bIns="0" rIns="0">
            <a:spAutoFit/>
          </a:bodyPr>
          <a:lstStyle/>
          <a:p>
            <a:pPr algn="l">
              <a:lnSpc>
                <a:spcPts val="2244"/>
              </a:lnSpc>
            </a:pPr>
            <a:r>
              <a:rPr lang="en-US" sz="1603">
                <a:solidFill>
                  <a:srgbClr val="FFFFFF"/>
                </a:solidFill>
                <a:latin typeface="Overpass"/>
                <a:ea typeface="Overpass"/>
                <a:cs typeface="Overpass"/>
                <a:sym typeface="Overpass"/>
              </a:rPr>
              <a:t>145-Reliable Colony, Saint Joseph School, Idgah Hills, Bhopal-462001</a:t>
            </a:r>
          </a:p>
        </p:txBody>
      </p:sp>
      <p:sp>
        <p:nvSpPr>
          <p:cNvPr name="TextBox 6" id="6"/>
          <p:cNvSpPr txBox="true"/>
          <p:nvPr/>
        </p:nvSpPr>
        <p:spPr>
          <a:xfrm rot="0">
            <a:off x="756000" y="5412755"/>
            <a:ext cx="2934000" cy="937387"/>
          </a:xfrm>
          <a:prstGeom prst="rect">
            <a:avLst/>
          </a:prstGeom>
        </p:spPr>
        <p:txBody>
          <a:bodyPr anchor="t" rtlCol="false" tIns="0" lIns="0" bIns="0" rIns="0">
            <a:spAutoFit/>
          </a:bodyPr>
          <a:lstStyle/>
          <a:p>
            <a:pPr algn="l">
              <a:lnSpc>
                <a:spcPts val="3584"/>
              </a:lnSpc>
            </a:pPr>
            <a:r>
              <a:rPr lang="en-US" b="true" sz="3200" spc="-32">
                <a:solidFill>
                  <a:srgbClr val="FFFFFF"/>
                </a:solidFill>
                <a:latin typeface="Cloud Condensed Bold"/>
                <a:ea typeface="Cloud Condensed Bold"/>
                <a:cs typeface="Cloud Condensed Bold"/>
                <a:sym typeface="Cloud Condensed Bold"/>
              </a:rPr>
              <a:t>STAY </a:t>
            </a:r>
          </a:p>
          <a:p>
            <a:pPr algn="l">
              <a:lnSpc>
                <a:spcPts val="3584"/>
              </a:lnSpc>
            </a:pPr>
            <a:r>
              <a:rPr lang="en-US" b="true" sz="3200" spc="-32">
                <a:solidFill>
                  <a:srgbClr val="FFFFFF"/>
                </a:solidFill>
                <a:latin typeface="Cloud Condensed Bold"/>
                <a:ea typeface="Cloud Condensed Bold"/>
                <a:cs typeface="Cloud Condensed Bold"/>
                <a:sym typeface="Cloud Condensed Bold"/>
              </a:rPr>
              <a:t>CONNECTED</a:t>
            </a:r>
          </a:p>
        </p:txBody>
      </p:sp>
      <p:sp>
        <p:nvSpPr>
          <p:cNvPr name="TextBox 7" id="7"/>
          <p:cNvSpPr txBox="true"/>
          <p:nvPr/>
        </p:nvSpPr>
        <p:spPr>
          <a:xfrm rot="0">
            <a:off x="694504" y="7872771"/>
            <a:ext cx="6480177" cy="851189"/>
          </a:xfrm>
          <a:prstGeom prst="rect">
            <a:avLst/>
          </a:prstGeom>
        </p:spPr>
        <p:txBody>
          <a:bodyPr anchor="t" rtlCol="false" tIns="0" lIns="0" bIns="0" rIns="0">
            <a:spAutoFit/>
          </a:bodyPr>
          <a:lstStyle/>
          <a:p>
            <a:pPr algn="ctr" marL="0" indent="0" lvl="0">
              <a:lnSpc>
                <a:spcPts val="3111"/>
              </a:lnSpc>
            </a:pPr>
            <a:r>
              <a:rPr lang="en-US" sz="2803">
                <a:solidFill>
                  <a:srgbClr val="FFFFFF"/>
                </a:solidFill>
                <a:latin typeface="Overpass"/>
                <a:ea typeface="Overpass"/>
                <a:cs typeface="Overpass"/>
                <a:sym typeface="Overpass"/>
              </a:rPr>
              <a:t>we</a:t>
            </a:r>
            <a:r>
              <a:rPr lang="en-US" sz="2803" u="none">
                <a:solidFill>
                  <a:srgbClr val="FFFFFF"/>
                </a:solidFill>
                <a:latin typeface="Overpass"/>
                <a:ea typeface="Overpass"/>
                <a:cs typeface="Overpass"/>
                <a:sym typeface="Overpass"/>
              </a:rPr>
              <a:t> continue our journey of creating positive change...</a:t>
            </a:r>
          </a:p>
        </p:txBody>
      </p:sp>
      <p:grpSp>
        <p:nvGrpSpPr>
          <p:cNvPr name="Group 8" id="8"/>
          <p:cNvGrpSpPr/>
          <p:nvPr/>
        </p:nvGrpSpPr>
        <p:grpSpPr>
          <a:xfrm rot="0">
            <a:off x="694504" y="9124009"/>
            <a:ext cx="3791082" cy="991920"/>
            <a:chOff x="0" y="0"/>
            <a:chExt cx="5054776" cy="1322560"/>
          </a:xfrm>
        </p:grpSpPr>
        <p:sp>
          <p:nvSpPr>
            <p:cNvPr name="TextBox 9" id="9"/>
            <p:cNvSpPr txBox="true"/>
            <p:nvPr/>
          </p:nvSpPr>
          <p:spPr>
            <a:xfrm rot="0">
              <a:off x="110497" y="-9525"/>
              <a:ext cx="3663527" cy="649774"/>
            </a:xfrm>
            <a:prstGeom prst="rect">
              <a:avLst/>
            </a:prstGeom>
          </p:spPr>
          <p:txBody>
            <a:bodyPr anchor="t" rtlCol="false" tIns="0" lIns="0" bIns="0" rIns="0">
              <a:spAutoFit/>
            </a:bodyPr>
            <a:lstStyle/>
            <a:p>
              <a:pPr algn="l">
                <a:lnSpc>
                  <a:spcPts val="3584"/>
                </a:lnSpc>
              </a:pPr>
              <a:r>
                <a:rPr lang="en-US" b="true" sz="3200" spc="-32">
                  <a:solidFill>
                    <a:srgbClr val="FFFFFF"/>
                  </a:solidFill>
                  <a:latin typeface="Cloud Condensed Bold"/>
                  <a:ea typeface="Cloud Condensed Bold"/>
                  <a:cs typeface="Cloud Condensed Bold"/>
                  <a:sym typeface="Cloud Condensed Bold"/>
                </a:rPr>
                <a:t>FOLLOW US</a:t>
              </a:r>
            </a:p>
          </p:txBody>
        </p:sp>
        <p:sp>
          <p:nvSpPr>
            <p:cNvPr name="TextBox 10" id="10"/>
            <p:cNvSpPr txBox="true"/>
            <p:nvPr/>
          </p:nvSpPr>
          <p:spPr>
            <a:xfrm rot="0">
              <a:off x="0" y="573574"/>
              <a:ext cx="5054776" cy="748985"/>
            </a:xfrm>
            <a:prstGeom prst="rect">
              <a:avLst/>
            </a:prstGeom>
          </p:spPr>
          <p:txBody>
            <a:bodyPr anchor="t" rtlCol="false" tIns="0" lIns="0" bIns="0" rIns="0">
              <a:spAutoFit/>
            </a:bodyPr>
            <a:lstStyle/>
            <a:p>
              <a:pPr algn="l" marL="0" indent="0" lvl="0">
                <a:lnSpc>
                  <a:spcPts val="2244"/>
                </a:lnSpc>
                <a:spcBef>
                  <a:spcPct val="0"/>
                </a:spcBef>
              </a:pPr>
              <a:r>
                <a:rPr lang="en-US" sz="1603">
                  <a:solidFill>
                    <a:srgbClr val="FFFFFF"/>
                  </a:solidFill>
                  <a:latin typeface="Overpass"/>
                  <a:ea typeface="Overpass"/>
                  <a:cs typeface="Overpass"/>
                  <a:sym typeface="Overpass"/>
                </a:rPr>
                <a:t> Instagram- </a:t>
              </a:r>
              <a:r>
                <a:rPr lang="en-US" sz="1603" u="none">
                  <a:solidFill>
                    <a:srgbClr val="FFFFFF"/>
                  </a:solidFill>
                  <a:latin typeface="Overpass"/>
                  <a:ea typeface="Overpass"/>
                  <a:cs typeface="Overpass"/>
                  <a:sym typeface="Overpass"/>
                </a:rPr>
                <a:t>@munawwarfoundation</a:t>
              </a:r>
            </a:p>
            <a:p>
              <a:pPr algn="l" marL="0" indent="0" lvl="0">
                <a:lnSpc>
                  <a:spcPts val="2244"/>
                </a:lnSpc>
                <a:spcBef>
                  <a:spcPct val="0"/>
                </a:spcBef>
              </a:pPr>
              <a:r>
                <a:rPr lang="en-US" sz="1603" u="none">
                  <a:solidFill>
                    <a:srgbClr val="FFFFFF"/>
                  </a:solidFill>
                  <a:latin typeface="Overpass"/>
                  <a:ea typeface="Overpass"/>
                  <a:cs typeface="Overpass"/>
                  <a:sym typeface="Overpass"/>
                </a:rPr>
                <a:t> Facebook-  @</a:t>
              </a:r>
              <a:r>
                <a:rPr lang="en-US" sz="1603" u="sng">
                  <a:solidFill>
                    <a:srgbClr val="FFFFFF"/>
                  </a:solidFill>
                  <a:latin typeface="Overpass"/>
                  <a:ea typeface="Overpass"/>
                  <a:cs typeface="Overpass"/>
                  <a:sym typeface="Overpass"/>
                  <a:hlinkClick r:id="rId4" tooltip="https://www.facebook.com/profile.php?id=61577216670878"/>
                </a:rPr>
                <a:t>MunawwarFoundation</a:t>
              </a:r>
            </a:p>
          </p:txBody>
        </p:sp>
      </p:grpSp>
      <p:grpSp>
        <p:nvGrpSpPr>
          <p:cNvPr name="Group 11" id="11"/>
          <p:cNvGrpSpPr/>
          <p:nvPr/>
        </p:nvGrpSpPr>
        <p:grpSpPr>
          <a:xfrm rot="0">
            <a:off x="4047838" y="5390628"/>
            <a:ext cx="3126843" cy="1919029"/>
            <a:chOff x="0" y="0"/>
            <a:chExt cx="4169125" cy="2558705"/>
          </a:xfrm>
        </p:grpSpPr>
        <p:sp>
          <p:nvSpPr>
            <p:cNvPr name="TextBox 12" id="12"/>
            <p:cNvSpPr txBox="true"/>
            <p:nvPr/>
          </p:nvSpPr>
          <p:spPr>
            <a:xfrm rot="0">
              <a:off x="0" y="1441420"/>
              <a:ext cx="4169125" cy="1117285"/>
            </a:xfrm>
            <a:prstGeom prst="rect">
              <a:avLst/>
            </a:prstGeom>
          </p:spPr>
          <p:txBody>
            <a:bodyPr anchor="t" rtlCol="false" tIns="0" lIns="0" bIns="0" rIns="0">
              <a:spAutoFit/>
            </a:bodyPr>
            <a:lstStyle/>
            <a:p>
              <a:pPr algn="l">
                <a:lnSpc>
                  <a:spcPts val="2244"/>
                </a:lnSpc>
              </a:pPr>
              <a:r>
                <a:rPr lang="en-US" sz="1603">
                  <a:solidFill>
                    <a:srgbClr val="FFFFFF"/>
                  </a:solidFill>
                  <a:latin typeface="Overpass"/>
                  <a:ea typeface="Overpass"/>
                  <a:cs typeface="Overpass"/>
                  <a:sym typeface="Overpass"/>
                </a:rPr>
                <a:t>7999269697 - 6262226244</a:t>
              </a:r>
            </a:p>
            <a:p>
              <a:pPr algn="l">
                <a:lnSpc>
                  <a:spcPts val="2244"/>
                </a:lnSpc>
              </a:pPr>
              <a:r>
                <a:rPr lang="en-US" sz="1603">
                  <a:solidFill>
                    <a:srgbClr val="FFFFFF"/>
                  </a:solidFill>
                  <a:latin typeface="Overpass"/>
                  <a:ea typeface="Overpass"/>
                  <a:cs typeface="Overpass"/>
                  <a:sym typeface="Overpass"/>
                </a:rPr>
                <a:t>munawwarfoundation@gmail.com</a:t>
              </a:r>
            </a:p>
            <a:p>
              <a:pPr algn="l">
                <a:lnSpc>
                  <a:spcPts val="2244"/>
                </a:lnSpc>
              </a:pPr>
              <a:r>
                <a:rPr lang="en-US" sz="1603">
                  <a:solidFill>
                    <a:srgbClr val="FFFFFF"/>
                  </a:solidFill>
                  <a:latin typeface="Overpass"/>
                  <a:ea typeface="Overpass"/>
                  <a:cs typeface="Overpass"/>
                  <a:sym typeface="Overpass"/>
                </a:rPr>
                <a:t>www.munawwarfoundation.org</a:t>
              </a:r>
            </a:p>
          </p:txBody>
        </p:sp>
        <p:sp>
          <p:nvSpPr>
            <p:cNvPr name="TextBox 13" id="13"/>
            <p:cNvSpPr txBox="true"/>
            <p:nvPr/>
          </p:nvSpPr>
          <p:spPr>
            <a:xfrm rot="0">
              <a:off x="0" y="-9525"/>
              <a:ext cx="3912000" cy="1843574"/>
            </a:xfrm>
            <a:prstGeom prst="rect">
              <a:avLst/>
            </a:prstGeom>
          </p:spPr>
          <p:txBody>
            <a:bodyPr anchor="t" rtlCol="false" tIns="0" lIns="0" bIns="0" rIns="0">
              <a:spAutoFit/>
            </a:bodyPr>
            <a:lstStyle/>
            <a:p>
              <a:pPr algn="l">
                <a:lnSpc>
                  <a:spcPts val="3584"/>
                </a:lnSpc>
              </a:pPr>
              <a:r>
                <a:rPr lang="en-US" b="true" sz="3200" spc="-32">
                  <a:solidFill>
                    <a:srgbClr val="FFFFFF"/>
                  </a:solidFill>
                  <a:latin typeface="Cloud Condensed Bold"/>
                  <a:ea typeface="Cloud Condensed Bold"/>
                  <a:cs typeface="Cloud Condensed Bold"/>
                  <a:sym typeface="Cloud Condensed Bold"/>
                </a:rPr>
                <a:t>DROP US A </a:t>
              </a:r>
            </a:p>
            <a:p>
              <a:pPr algn="l">
                <a:lnSpc>
                  <a:spcPts val="3584"/>
                </a:lnSpc>
              </a:pPr>
              <a:r>
                <a:rPr lang="en-US" b="true" sz="3200" spc="-32">
                  <a:solidFill>
                    <a:srgbClr val="FFFFFF"/>
                  </a:solidFill>
                  <a:latin typeface="Cloud Condensed Bold"/>
                  <a:ea typeface="Cloud Condensed Bold"/>
                  <a:cs typeface="Cloud Condensed Bold"/>
                  <a:sym typeface="Cloud Condensed Bold"/>
                </a:rPr>
                <a:t>LINE</a:t>
              </a:r>
            </a:p>
            <a:p>
              <a:pPr algn="l">
                <a:lnSpc>
                  <a:spcPts val="3584"/>
                </a:lnSpc>
              </a:p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DAG1vkzU8Y8</dc:identifier>
  <dcterms:modified xsi:type="dcterms:W3CDTF">2011-08-01T06:04:30Z</dcterms:modified>
  <cp:revision>1</cp:revision>
  <dc:title>ANNUAL REPORT 2024-25</dc:title>
</cp:coreProperties>
</file>